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Verdict</c:v>
                </c:pt>
              </c:strCache>
            </c:strRef>
          </c:tx>
          <c:spPr>
            <a:solidFill>
              <a:schemeClr val="accent1"/>
            </a:solidFill>
            <a:ln w="9525" cap="flat">
              <a:solidFill>
                <a:srgbClr val="F9F9F9"/>
              </a:solidFill>
              <a:prstDash val="solid"/>
              <a:round/>
            </a:ln>
            <a:effectLst/>
          </c:spPr>
          <c:dPt>
            <c:idx val="0"/>
            <c:bubble3D val="0"/>
            <c:spPr>
              <a:solidFill>
                <a:srgbClr val="1B6B4F"/>
              </a:solidFill>
              <a:effectLst/>
            </c:spPr>
            <c:extLst>
              <c:ext xmlns:c16="http://schemas.microsoft.com/office/drawing/2014/chart" uri="{C3380CC4-5D6E-409C-BE32-E72D297353CC}">
                <c16:uniqueId val="{00000001-4B51-4C23-A578-390EEB2AEF28}"/>
              </c:ext>
            </c:extLst>
          </c:dPt>
          <c:dPt>
            <c:idx val="1"/>
            <c:bubble3D val="0"/>
            <c:spPr>
              <a:solidFill>
                <a:srgbClr val="B23A3A"/>
              </a:solidFill>
              <a:effectLst/>
            </c:spPr>
            <c:extLst>
              <c:ext xmlns:c16="http://schemas.microsoft.com/office/drawing/2014/chart" uri="{C3380CC4-5D6E-409C-BE32-E72D297353CC}">
                <c16:uniqueId val="{00000003-4B51-4C23-A578-390EEB2AEF28}"/>
              </c:ext>
            </c:extLst>
          </c:dPt>
          <c:dLbls>
            <c:dLbl>
              <c:idx val="0"/>
              <c:numFmt formatCode="General"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B51-4C23-A578-390EEB2AEF28}"/>
                </c:ext>
              </c:extLst>
            </c:dLbl>
            <c:dLbl>
              <c:idx val="1"/>
              <c:numFmt formatCode="General"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B51-4C23-A578-390EEB2AEF28}"/>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Accepted</c:v>
                </c:pt>
                <c:pt idx="1">
                  <c:v>Rejected</c:v>
                </c:pt>
              </c:strCache>
            </c:strRef>
          </c:cat>
          <c:val>
            <c:numRef>
              <c:f>Sheet1!$B$2:$B$3</c:f>
              <c:numCache>
                <c:formatCode>General</c:formatCode>
                <c:ptCount val="2"/>
                <c:pt idx="0">
                  <c:v>20</c:v>
                </c:pt>
                <c:pt idx="1">
                  <c:v>2</c:v>
                </c:pt>
              </c:numCache>
            </c:numRef>
          </c:val>
          <c:extLst>
            <c:ext xmlns:c16="http://schemas.microsoft.com/office/drawing/2014/chart" uri="{C3380CC4-5D6E-409C-BE32-E72D297353CC}">
              <c16:uniqueId val="{00000004-4B51-4C23-A578-390EEB2AEF28}"/>
            </c:ext>
          </c:extLst>
        </c:ser>
        <c:dLbls>
          <c:showLegendKey val="0"/>
          <c:showVal val="0"/>
          <c:showCatName val="0"/>
          <c:showSerName val="0"/>
          <c:showPercent val="0"/>
          <c:showBubbleSize val="0"/>
          <c:showLeaderLines val="0"/>
        </c:dLbls>
        <c:firstSliceAng val="0"/>
        <c:holeSize val="62"/>
      </c:doughnutChart>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1864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hand-written compiler front end (scanner, lexer, LL(1) parser) for Cameroonian Francanglais. Team: Kamdeu Yamdjeuson Neil Marshall, Eyong Seanna Tabe, Tuheu Tchoubi Pempeme Moussa Fahdil. Instructor: Engr. Tanwi Nkiamboh.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taxi ride you hear French grammar carrying English verbs, a Pidgin particle and a Duala or Ewondo noun, all inside a single sentence. Francanglais has no standard orthography and no authoritative dictionary, yet it is the working language of commuting, markets and campus life. Scope: a compiler front end only.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in the report is exported from the running analyzer by a build script; nothing is transcribed by hand.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compiler core has no knowledge of the web application. core/ depends only on the standard library and pydantic. The database stores corpus records only; every analysis is recomputed from the current grammar and lexicon, so a specification change can never leave stale verdicts.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was shared across the three members over six days in taxis, chop houses, roadside stalls, bendskin ranks and the university. A second member cross-checks every transcription. validate_import rejects any field record without manual_transcription_attested = true.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lexical layer is written from scratch, no lex. Pass 1 scans into typed runs with byte offsets; pass 2 resolves each word against the lexicon. The WORD regex is unicode-aware and accepts combining marks so decomposed accents scan like precomposed ones.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Folding is a fallback, not the primary key, because in French it destroys real contrasts. Exact matches always win, so the four attested homograph pairs survive.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 productions over 12 terminals and 14 nonterminals. It is authored in natural left-recursive form deliberately: pre-factoring by hand would give an empty ledger and hide exactly what this component is assessed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eliminates the direct left recursion on Seq. That immediately creates a common SEP prefix on Seq', which must be factored into Seq''. Two pre-existing conflicts (Unit on INTJ, NP on DET) are factored the same way. Order matters: factoring must come after recursion elimination.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and FOLLOW are computed by fixed-point iteration. The table is built by the standard rule. A second production landing in an occupied cell is a conflict. The constructed table has none, and tests/test_ll1.py asserts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Hand-written, non-recursive, no generated code. Steps 11 and 14 of the trace are epsilon reductions that are legal only because VERB and DET lie in the FOLLOW sets of NegOpt and VerbTail. That is where FOLLOW earns its place.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corpus is reported. Nothing was dropped for failing to parse: a recogniser shown only the inputs it handles has not been evaluated at all.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analyzer quantifies exactly the properties that make the problem hard: many source languages, mixing inside the sentence, unstable orthography, looser-than-French syntax, and frozen expressions.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what was achieved, the three lessons, and the limitations and next steps. Emphasise honesty in tooling: two documented rejections instead of a grammar that accepts everything.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Offer to demonstrate the live analyzer, e.g. Combi va au kwatt, and the rejected statements.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2E"/>
        </a:solidFill>
        <a:effectLst/>
      </p:bgPr>
    </p:bg>
    <p:spTree>
      <p:nvGrpSpPr>
        <p:cNvPr id="1" name=""/>
        <p:cNvGrpSpPr/>
        <p:nvPr/>
      </p:nvGrpSpPr>
      <p:grpSpPr>
        <a:xfrm>
          <a:off x="0" y="0"/>
          <a:ext cx="0" cy="0"/>
          <a:chOff x="0" y="0"/>
          <a:chExt cx="0" cy="0"/>
        </a:xfrm>
      </p:grpSpPr>
      <p:sp>
        <p:nvSpPr>
          <p:cNvPr id="3" name="Text 0"/>
          <p:cNvSpPr txBox="1"/>
          <p:nvPr/>
        </p:nvSpPr>
        <p:spPr>
          <a:xfrm>
            <a:off x="548640" y="502920"/>
            <a:ext cx="4754880" cy="274320"/>
          </a:xfrm>
          <a:prstGeom prst="rect">
            <a:avLst/>
          </a:prstGeom>
          <a:noFill/>
          <a:ln/>
        </p:spPr>
        <p:txBody>
          <a:bodyPr wrap="square" lIns="0" tIns="0" rIns="0" bIns="0" rtlCol="0" anchor="t"/>
          <a:lstStyle/>
          <a:p>
            <a:pPr marL="0" indent="0">
              <a:buNone/>
            </a:pPr>
            <a:r>
              <a:rPr lang="en-US" sz="1100" b="1" kern="0" spc="200" dirty="0">
                <a:solidFill>
                  <a:srgbClr val="D9B44A"/>
                </a:solidFill>
                <a:latin typeface="Calibri" pitchFamily="34" charset="0"/>
                <a:ea typeface="Calibri" pitchFamily="34" charset="-122"/>
                <a:cs typeface="Calibri" pitchFamily="34" charset="-120"/>
              </a:rPr>
              <a:t>THE ICT UNIVERSITY  ·  YAOUNDÉ, CAMEROON</a:t>
            </a:r>
            <a:endParaRPr lang="en-US" sz="1100" dirty="0"/>
          </a:p>
        </p:txBody>
      </p:sp>
      <p:sp>
        <p:nvSpPr>
          <p:cNvPr id="4" name="Text 1"/>
          <p:cNvSpPr txBox="1"/>
          <p:nvPr/>
        </p:nvSpPr>
        <p:spPr>
          <a:xfrm>
            <a:off x="548640" y="914400"/>
            <a:ext cx="4754880" cy="137160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Francanglais</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Studio</a:t>
            </a:r>
            <a:endParaRPr lang="en-US" sz="4400" dirty="0"/>
          </a:p>
        </p:txBody>
      </p:sp>
      <p:sp>
        <p:nvSpPr>
          <p:cNvPr id="5" name="Text 2"/>
          <p:cNvSpPr txBox="1"/>
          <p:nvPr/>
        </p:nvSpPr>
        <p:spPr>
          <a:xfrm>
            <a:off x="548640" y="2377440"/>
            <a:ext cx="4572000" cy="685800"/>
          </a:xfrm>
          <a:prstGeom prst="rect">
            <a:avLst/>
          </a:prstGeom>
          <a:noFill/>
          <a:ln/>
        </p:spPr>
        <p:txBody>
          <a:bodyPr wrap="square" lIns="0" tIns="0" rIns="0" bIns="0" rtlCol="0" anchor="t"/>
          <a:lstStyle/>
          <a:p>
            <a:pPr marL="0" indent="0">
              <a:buNone/>
            </a:pPr>
            <a:r>
              <a:rPr lang="en-US" sz="1700" dirty="0">
                <a:solidFill>
                  <a:srgbClr val="D9B44A"/>
                </a:solidFill>
                <a:latin typeface="Calibri" pitchFamily="34" charset="0"/>
                <a:ea typeface="Calibri" pitchFamily="34" charset="-122"/>
                <a:cs typeface="Calibri" pitchFamily="34" charset="-120"/>
              </a:rPr>
              <a:t>A Lexical and Syntactic Analyzer for Informal Urban Communication in Yaoundé</a:t>
            </a:r>
            <a:endParaRPr lang="en-US" sz="1700" dirty="0"/>
          </a:p>
        </p:txBody>
      </p:sp>
      <p:sp>
        <p:nvSpPr>
          <p:cNvPr id="6" name="Text 3"/>
          <p:cNvSpPr txBox="1"/>
          <p:nvPr/>
        </p:nvSpPr>
        <p:spPr>
          <a:xfrm>
            <a:off x="548640" y="3246120"/>
            <a:ext cx="475488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CS4110 – Compiler Construction  ·  Final Examination</a:t>
            </a:r>
            <a:endParaRPr lang="en-US" sz="1300" dirty="0"/>
          </a:p>
        </p:txBody>
      </p:sp>
      <p:sp>
        <p:nvSpPr>
          <p:cNvPr id="7" name="Text 4"/>
          <p:cNvSpPr txBox="1"/>
          <p:nvPr/>
        </p:nvSpPr>
        <p:spPr>
          <a:xfrm>
            <a:off x="548640" y="3611880"/>
            <a:ext cx="4754880" cy="685800"/>
          </a:xfrm>
          <a:prstGeom prst="rect">
            <a:avLst/>
          </a:prstGeom>
          <a:noFill/>
          <a:ln/>
        </p:spPr>
        <p:txBody>
          <a:bodyPr wrap="square" lIns="0" tIns="0" rIns="0" bIns="0" rtlCol="0" anchor="t"/>
          <a:lstStyle/>
          <a:p>
            <a:pPr marL="0" indent="0">
              <a:buNone/>
            </a:pPr>
            <a:r>
              <a:rPr lang="en-US" sz="1200" dirty="0">
                <a:solidFill>
                  <a:srgbClr val="CFE3D9"/>
                </a:solidFill>
                <a:latin typeface="Calibri" pitchFamily="34" charset="0"/>
                <a:ea typeface="Calibri" pitchFamily="34" charset="-122"/>
                <a:cs typeface="Calibri" pitchFamily="34" charset="-120"/>
              </a:rPr>
              <a:t>Kamdeu Yamdjeuson Neil Marshall</a:t>
            </a:r>
            <a:endParaRPr lang="en-US" sz="1200" dirty="0"/>
          </a:p>
          <a:p>
            <a:pPr marL="0" indent="0">
              <a:buNone/>
            </a:pPr>
            <a:r>
              <a:rPr lang="en-US" sz="1200" dirty="0">
                <a:solidFill>
                  <a:srgbClr val="CFE3D9"/>
                </a:solidFill>
                <a:latin typeface="Calibri" pitchFamily="34" charset="0"/>
                <a:ea typeface="Calibri" pitchFamily="34" charset="-122"/>
                <a:cs typeface="Calibri" pitchFamily="34" charset="-120"/>
              </a:rPr>
              <a:t>Eyong Seanna Tabe</a:t>
            </a:r>
            <a:endParaRPr lang="en-US" sz="1200" dirty="0"/>
          </a:p>
          <a:p>
            <a:pPr marL="0" indent="0">
              <a:buNone/>
            </a:pPr>
            <a:r>
              <a:rPr lang="en-US" sz="1200" dirty="0">
                <a:solidFill>
                  <a:srgbClr val="CFE3D9"/>
                </a:solidFill>
                <a:latin typeface="Calibri" pitchFamily="34" charset="0"/>
                <a:ea typeface="Calibri" pitchFamily="34" charset="-122"/>
                <a:cs typeface="Calibri" pitchFamily="34" charset="-120"/>
              </a:rPr>
              <a:t>Tuheu Tchoubi Pempeme Moussa Fahdil</a:t>
            </a:r>
            <a:endParaRPr lang="en-US" sz="1200" dirty="0"/>
          </a:p>
        </p:txBody>
      </p:sp>
      <p:sp>
        <p:nvSpPr>
          <p:cNvPr id="8" name="Text 5"/>
          <p:cNvSpPr txBox="1"/>
          <p:nvPr/>
        </p:nvSpPr>
        <p:spPr>
          <a:xfrm>
            <a:off x="548640" y="4434840"/>
            <a:ext cx="4754880" cy="274320"/>
          </a:xfrm>
          <a:prstGeom prst="rect">
            <a:avLst/>
          </a:prstGeom>
          <a:noFill/>
          <a:ln/>
        </p:spPr>
        <p:txBody>
          <a:bodyPr wrap="square" lIns="0" tIns="0" rIns="0" bIns="0" rtlCol="0" anchor="t"/>
          <a:lstStyle/>
          <a:p>
            <a:pPr marL="0" indent="0">
              <a:buNone/>
            </a:pPr>
            <a:r>
              <a:rPr lang="en-US" sz="1100" dirty="0">
                <a:solidFill>
                  <a:srgbClr val="9DB8AB"/>
                </a:solidFill>
                <a:latin typeface="Calibri" pitchFamily="34" charset="0"/>
                <a:ea typeface="Calibri" pitchFamily="34" charset="-122"/>
                <a:cs typeface="Calibri" pitchFamily="34" charset="-120"/>
              </a:rPr>
              <a:t>Instructor: Engr. Tanwi Nkiamboh  ·  29 September 2026</a:t>
            </a:r>
            <a:endParaRPr lang="en-US" sz="1100" dirty="0"/>
          </a:p>
        </p:txBody>
      </p:sp>
      <p:sp>
        <p:nvSpPr>
          <p:cNvPr id="9" name="Shape 6"/>
          <p:cNvSpPr/>
          <p:nvPr/>
        </p:nvSpPr>
        <p:spPr>
          <a:xfrm>
            <a:off x="5486400" y="914400"/>
            <a:ext cx="3200400" cy="3291840"/>
          </a:xfrm>
          <a:prstGeom prst="roundRect">
            <a:avLst>
              <a:gd name="adj" fmla="val 2286"/>
            </a:avLst>
          </a:prstGeom>
          <a:solidFill>
            <a:srgbClr val="17503C"/>
          </a:solidFill>
          <a:ln w="12700">
            <a:solidFill>
              <a:srgbClr val="17503C"/>
            </a:solidFill>
            <a:prstDash val="solid"/>
          </a:ln>
        </p:spPr>
      </p:sp>
      <p:sp>
        <p:nvSpPr>
          <p:cNvPr id="10" name="Text 7"/>
          <p:cNvSpPr txBox="1"/>
          <p:nvPr/>
        </p:nvSpPr>
        <p:spPr>
          <a:xfrm>
            <a:off x="5715000" y="1097280"/>
            <a:ext cx="2743200" cy="228600"/>
          </a:xfrm>
          <a:prstGeom prst="rect">
            <a:avLst/>
          </a:prstGeom>
          <a:noFill/>
          <a:ln/>
        </p:spPr>
        <p:txBody>
          <a:bodyPr wrap="square" lIns="0" tIns="0" rIns="0" bIns="0" rtlCol="0" anchor="t"/>
          <a:lstStyle/>
          <a:p>
            <a:pPr marL="0" indent="0">
              <a:buNone/>
            </a:pPr>
            <a:r>
              <a:rPr lang="en-US" sz="1000" b="1" kern="0" spc="200" dirty="0">
                <a:solidFill>
                  <a:srgbClr val="D9B44A"/>
                </a:solidFill>
                <a:latin typeface="Calibri" pitchFamily="34" charset="0"/>
                <a:ea typeface="Calibri" pitchFamily="34" charset="-122"/>
                <a:cs typeface="Calibri" pitchFamily="34" charset="-120"/>
              </a:rPr>
              <a:t>LIVE ANALYZER OUTPUT</a:t>
            </a:r>
            <a:endParaRPr lang="en-US" sz="1000" dirty="0"/>
          </a:p>
        </p:txBody>
      </p:sp>
      <p:sp>
        <p:nvSpPr>
          <p:cNvPr id="11" name="Text 8"/>
          <p:cNvSpPr txBox="1"/>
          <p:nvPr/>
        </p:nvSpPr>
        <p:spPr>
          <a:xfrm>
            <a:off x="5715000" y="1417320"/>
            <a:ext cx="2743200" cy="365760"/>
          </a:xfrm>
          <a:prstGeom prst="rect">
            <a:avLst/>
          </a:prstGeom>
          <a:noFill/>
          <a:ln/>
        </p:spPr>
        <p:txBody>
          <a:bodyPr wrap="square" lIns="0" tIns="0" rIns="0" bIns="0" rtlCol="0" anchor="t"/>
          <a:lstStyle/>
          <a:p>
            <a:pPr marL="0" indent="0">
              <a:buNone/>
            </a:pPr>
            <a:r>
              <a:rPr lang="en-US" sz="1700" b="1" dirty="0">
                <a:solidFill>
                  <a:srgbClr val="FFFFFF"/>
                </a:solidFill>
                <a:latin typeface="Courier New" pitchFamily="34" charset="0"/>
                <a:ea typeface="Courier New" pitchFamily="34" charset="-122"/>
                <a:cs typeface="Courier New" pitchFamily="34" charset="-120"/>
              </a:rPr>
              <a:t>Combi va au kwatt.</a:t>
            </a:r>
            <a:endParaRPr lang="en-US" sz="1700" dirty="0"/>
          </a:p>
        </p:txBody>
      </p:sp>
      <p:sp>
        <p:nvSpPr>
          <p:cNvPr id="12" name="Shape 9"/>
          <p:cNvSpPr/>
          <p:nvPr/>
        </p:nvSpPr>
        <p:spPr>
          <a:xfrm>
            <a:off x="5715000" y="2011680"/>
            <a:ext cx="1280160" cy="548640"/>
          </a:xfrm>
          <a:prstGeom prst="roundRect">
            <a:avLst>
              <a:gd name="adj" fmla="val 13333"/>
            </a:avLst>
          </a:prstGeom>
          <a:solidFill>
            <a:srgbClr val="0F3D2E"/>
          </a:solidFill>
          <a:ln w="12700">
            <a:solidFill>
              <a:srgbClr val="D9B44A"/>
            </a:solidFill>
            <a:prstDash val="solid"/>
          </a:ln>
        </p:spPr>
      </p:sp>
      <p:sp>
        <p:nvSpPr>
          <p:cNvPr id="13" name="Text 10"/>
          <p:cNvSpPr txBox="1"/>
          <p:nvPr/>
        </p:nvSpPr>
        <p:spPr>
          <a:xfrm>
            <a:off x="5715000" y="2066544"/>
            <a:ext cx="1280160" cy="256032"/>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Combi</a:t>
            </a:r>
            <a:endParaRPr lang="en-US" sz="1300" dirty="0"/>
          </a:p>
        </p:txBody>
      </p:sp>
      <p:sp>
        <p:nvSpPr>
          <p:cNvPr id="14" name="Text 11"/>
          <p:cNvSpPr txBox="1"/>
          <p:nvPr/>
        </p:nvSpPr>
        <p:spPr>
          <a:xfrm>
            <a:off x="5715000" y="2322576"/>
            <a:ext cx="1280160" cy="182880"/>
          </a:xfrm>
          <a:prstGeom prst="rect">
            <a:avLst/>
          </a:prstGeom>
          <a:noFill/>
          <a:ln/>
        </p:spPr>
        <p:txBody>
          <a:bodyPr wrap="square" lIns="0" tIns="0" rIns="0" bIns="0" rtlCol="0" anchor="t"/>
          <a:lstStyle/>
          <a:p>
            <a:pPr marL="0" indent="0" algn="ctr">
              <a:buNone/>
            </a:pPr>
            <a:r>
              <a:rPr lang="en-US" sz="1000" dirty="0">
                <a:solidFill>
                  <a:srgbClr val="D9B44A"/>
                </a:solidFill>
                <a:latin typeface="Courier New" pitchFamily="34" charset="0"/>
                <a:ea typeface="Courier New" pitchFamily="34" charset="-122"/>
                <a:cs typeface="Courier New" pitchFamily="34" charset="-120"/>
              </a:rPr>
              <a:t>NOUN</a:t>
            </a:r>
            <a:endParaRPr lang="en-US" sz="1000" dirty="0"/>
          </a:p>
        </p:txBody>
      </p:sp>
      <p:sp>
        <p:nvSpPr>
          <p:cNvPr id="15" name="Shape 12"/>
          <p:cNvSpPr/>
          <p:nvPr/>
        </p:nvSpPr>
        <p:spPr>
          <a:xfrm>
            <a:off x="7132320" y="2011680"/>
            <a:ext cx="1280160" cy="548640"/>
          </a:xfrm>
          <a:prstGeom prst="roundRect">
            <a:avLst>
              <a:gd name="adj" fmla="val 13333"/>
            </a:avLst>
          </a:prstGeom>
          <a:solidFill>
            <a:srgbClr val="0F3D2E"/>
          </a:solidFill>
          <a:ln w="12700">
            <a:solidFill>
              <a:srgbClr val="7FC8A9"/>
            </a:solidFill>
            <a:prstDash val="solid"/>
          </a:ln>
        </p:spPr>
      </p:sp>
      <p:sp>
        <p:nvSpPr>
          <p:cNvPr id="16" name="Text 13"/>
          <p:cNvSpPr txBox="1"/>
          <p:nvPr/>
        </p:nvSpPr>
        <p:spPr>
          <a:xfrm>
            <a:off x="7132320" y="2066544"/>
            <a:ext cx="1280160" cy="256032"/>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va</a:t>
            </a:r>
            <a:endParaRPr lang="en-US" sz="1300" dirty="0"/>
          </a:p>
        </p:txBody>
      </p:sp>
      <p:sp>
        <p:nvSpPr>
          <p:cNvPr id="17" name="Text 14"/>
          <p:cNvSpPr txBox="1"/>
          <p:nvPr/>
        </p:nvSpPr>
        <p:spPr>
          <a:xfrm>
            <a:off x="7132320" y="2322576"/>
            <a:ext cx="1280160" cy="182880"/>
          </a:xfrm>
          <a:prstGeom prst="rect">
            <a:avLst/>
          </a:prstGeom>
          <a:noFill/>
          <a:ln/>
        </p:spPr>
        <p:txBody>
          <a:bodyPr wrap="square" lIns="0" tIns="0" rIns="0" bIns="0" rtlCol="0" anchor="t"/>
          <a:lstStyle/>
          <a:p>
            <a:pPr marL="0" indent="0" algn="ctr">
              <a:buNone/>
            </a:pPr>
            <a:r>
              <a:rPr lang="en-US" sz="1000" dirty="0">
                <a:solidFill>
                  <a:srgbClr val="7FC8A9"/>
                </a:solidFill>
                <a:latin typeface="Courier New" pitchFamily="34" charset="0"/>
                <a:ea typeface="Courier New" pitchFamily="34" charset="-122"/>
                <a:cs typeface="Courier New" pitchFamily="34" charset="-120"/>
              </a:rPr>
              <a:t>VERB</a:t>
            </a:r>
            <a:endParaRPr lang="en-US" sz="1000" dirty="0"/>
          </a:p>
        </p:txBody>
      </p:sp>
      <p:sp>
        <p:nvSpPr>
          <p:cNvPr id="18" name="Shape 15"/>
          <p:cNvSpPr/>
          <p:nvPr/>
        </p:nvSpPr>
        <p:spPr>
          <a:xfrm>
            <a:off x="5715000" y="2697480"/>
            <a:ext cx="1280160" cy="548640"/>
          </a:xfrm>
          <a:prstGeom prst="roundRect">
            <a:avLst>
              <a:gd name="adj" fmla="val 13333"/>
            </a:avLst>
          </a:prstGeom>
          <a:solidFill>
            <a:srgbClr val="0F3D2E"/>
          </a:solidFill>
          <a:ln w="12700">
            <a:solidFill>
              <a:srgbClr val="9DB8E8"/>
            </a:solidFill>
            <a:prstDash val="solid"/>
          </a:ln>
        </p:spPr>
      </p:sp>
      <p:sp>
        <p:nvSpPr>
          <p:cNvPr id="19" name="Text 16"/>
          <p:cNvSpPr txBox="1"/>
          <p:nvPr/>
        </p:nvSpPr>
        <p:spPr>
          <a:xfrm>
            <a:off x="5715000" y="2752344"/>
            <a:ext cx="1280160" cy="256032"/>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au</a:t>
            </a:r>
            <a:endParaRPr lang="en-US" sz="1300" dirty="0"/>
          </a:p>
        </p:txBody>
      </p:sp>
      <p:sp>
        <p:nvSpPr>
          <p:cNvPr id="20" name="Text 17"/>
          <p:cNvSpPr txBox="1"/>
          <p:nvPr/>
        </p:nvSpPr>
        <p:spPr>
          <a:xfrm>
            <a:off x="5715000" y="3008376"/>
            <a:ext cx="1280160" cy="182880"/>
          </a:xfrm>
          <a:prstGeom prst="rect">
            <a:avLst/>
          </a:prstGeom>
          <a:noFill/>
          <a:ln/>
        </p:spPr>
        <p:txBody>
          <a:bodyPr wrap="square" lIns="0" tIns="0" rIns="0" bIns="0" rtlCol="0" anchor="t"/>
          <a:lstStyle/>
          <a:p>
            <a:pPr marL="0" indent="0" algn="ctr">
              <a:buNone/>
            </a:pPr>
            <a:r>
              <a:rPr lang="en-US" sz="1000" dirty="0">
                <a:solidFill>
                  <a:srgbClr val="9DB8E8"/>
                </a:solidFill>
                <a:latin typeface="Courier New" pitchFamily="34" charset="0"/>
                <a:ea typeface="Courier New" pitchFamily="34" charset="-122"/>
                <a:cs typeface="Courier New" pitchFamily="34" charset="-120"/>
              </a:rPr>
              <a:t>PREP</a:t>
            </a:r>
            <a:endParaRPr lang="en-US" sz="1000" dirty="0"/>
          </a:p>
        </p:txBody>
      </p:sp>
      <p:sp>
        <p:nvSpPr>
          <p:cNvPr id="21" name="Shape 18"/>
          <p:cNvSpPr/>
          <p:nvPr/>
        </p:nvSpPr>
        <p:spPr>
          <a:xfrm>
            <a:off x="7132320" y="2697480"/>
            <a:ext cx="1280160" cy="548640"/>
          </a:xfrm>
          <a:prstGeom prst="roundRect">
            <a:avLst>
              <a:gd name="adj" fmla="val 13333"/>
            </a:avLst>
          </a:prstGeom>
          <a:solidFill>
            <a:srgbClr val="0F3D2E"/>
          </a:solidFill>
          <a:ln w="12700">
            <a:solidFill>
              <a:srgbClr val="D9B44A"/>
            </a:solidFill>
            <a:prstDash val="solid"/>
          </a:ln>
        </p:spPr>
      </p:sp>
      <p:sp>
        <p:nvSpPr>
          <p:cNvPr id="22" name="Text 19"/>
          <p:cNvSpPr txBox="1"/>
          <p:nvPr/>
        </p:nvSpPr>
        <p:spPr>
          <a:xfrm>
            <a:off x="7132320" y="2752344"/>
            <a:ext cx="1280160" cy="256032"/>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kwatt</a:t>
            </a:r>
            <a:endParaRPr lang="en-US" sz="1300" dirty="0"/>
          </a:p>
        </p:txBody>
      </p:sp>
      <p:sp>
        <p:nvSpPr>
          <p:cNvPr id="23" name="Text 20"/>
          <p:cNvSpPr txBox="1"/>
          <p:nvPr/>
        </p:nvSpPr>
        <p:spPr>
          <a:xfrm>
            <a:off x="7132320" y="3008376"/>
            <a:ext cx="1280160" cy="182880"/>
          </a:xfrm>
          <a:prstGeom prst="rect">
            <a:avLst/>
          </a:prstGeom>
          <a:noFill/>
          <a:ln/>
        </p:spPr>
        <p:txBody>
          <a:bodyPr wrap="square" lIns="0" tIns="0" rIns="0" bIns="0" rtlCol="0" anchor="t"/>
          <a:lstStyle/>
          <a:p>
            <a:pPr marL="0" indent="0" algn="ctr">
              <a:buNone/>
            </a:pPr>
            <a:r>
              <a:rPr lang="en-US" sz="1000" dirty="0">
                <a:solidFill>
                  <a:srgbClr val="D9B44A"/>
                </a:solidFill>
                <a:latin typeface="Courier New" pitchFamily="34" charset="0"/>
                <a:ea typeface="Courier New" pitchFamily="34" charset="-122"/>
                <a:cs typeface="Courier New" pitchFamily="34" charset="-120"/>
              </a:rPr>
              <a:t>NOUN</a:t>
            </a:r>
            <a:endParaRPr lang="en-US" sz="1000" dirty="0"/>
          </a:p>
        </p:txBody>
      </p:sp>
      <p:sp>
        <p:nvSpPr>
          <p:cNvPr id="24" name="Text 21"/>
          <p:cNvSpPr txBox="1"/>
          <p:nvPr/>
        </p:nvSpPr>
        <p:spPr>
          <a:xfrm>
            <a:off x="5715000" y="3474720"/>
            <a:ext cx="2743200" cy="256032"/>
          </a:xfrm>
          <a:prstGeom prst="rect">
            <a:avLst/>
          </a:prstGeom>
          <a:noFill/>
          <a:ln/>
        </p:spPr>
        <p:txBody>
          <a:bodyPr wrap="square" lIns="0" tIns="0" rIns="0" bIns="0" rtlCol="0" anchor="t"/>
          <a:lstStyle/>
          <a:p>
            <a:pPr marL="0" indent="0">
              <a:buNone/>
            </a:pPr>
            <a:r>
              <a:rPr lang="en-US" sz="1200" b="1" dirty="0">
                <a:solidFill>
                  <a:srgbClr val="7FE0B0"/>
                </a:solidFill>
                <a:latin typeface="Calibri" pitchFamily="34" charset="0"/>
                <a:ea typeface="Calibri" pitchFamily="34" charset="-122"/>
                <a:cs typeface="Calibri" pitchFamily="34" charset="-120"/>
              </a:rPr>
              <a:t>✓ Grammatically accepted</a:t>
            </a:r>
            <a:endParaRPr lang="en-US" sz="1200" dirty="0"/>
          </a:p>
        </p:txBody>
      </p:sp>
      <p:sp>
        <p:nvSpPr>
          <p:cNvPr id="25" name="Text 22"/>
          <p:cNvSpPr txBox="1"/>
          <p:nvPr/>
        </p:nvSpPr>
        <p:spPr>
          <a:xfrm>
            <a:off x="5715000" y="3749040"/>
            <a:ext cx="2743200" cy="228600"/>
          </a:xfrm>
          <a:prstGeom prst="rect">
            <a:avLst/>
          </a:prstGeom>
          <a:noFill/>
          <a:ln/>
        </p:spPr>
        <p:txBody>
          <a:bodyPr wrap="square" lIns="0" tIns="0" rIns="0" bIns="0" rtlCol="0" anchor="t"/>
          <a:lstStyle/>
          <a:p>
            <a:pPr marL="0" indent="0">
              <a:buNone/>
            </a:pPr>
            <a:r>
              <a:rPr lang="en-US" sz="1100" dirty="0">
                <a:solidFill>
                  <a:srgbClr val="CFE3D9"/>
                </a:solidFill>
                <a:latin typeface="Calibri" pitchFamily="34" charset="0"/>
                <a:ea typeface="Calibri" pitchFamily="34" charset="-122"/>
                <a:cs typeface="Calibri" pitchFamily="34" charset="-120"/>
              </a:rPr>
              <a:t>Topic: commuting (triggered by “va”)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Why Yaoundé speech is a compiler problem</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2</a:t>
            </a:r>
            <a:endParaRPr lang="en-US" sz="900" dirty="0"/>
          </a:p>
        </p:txBody>
      </p:sp>
      <p:sp>
        <p:nvSpPr>
          <p:cNvPr id="6" name="Text 3"/>
          <p:cNvSpPr txBox="1"/>
          <p:nvPr/>
        </p:nvSpPr>
        <p:spPr>
          <a:xfrm>
            <a:off x="457200" y="1143000"/>
            <a:ext cx="4023360" cy="274320"/>
          </a:xfrm>
          <a:prstGeom prst="rect">
            <a:avLst/>
          </a:prstGeom>
          <a:noFill/>
          <a:ln/>
        </p:spPr>
        <p:txBody>
          <a:bodyPr wrap="square" lIns="0" tIns="0" rIns="0" bIns="0" rtlCol="0" anchor="t"/>
          <a:lstStyle/>
          <a:p>
            <a:pPr marL="0" indent="0">
              <a:buNone/>
            </a:pPr>
            <a:r>
              <a:rPr lang="en-US" sz="1800" b="1" dirty="0">
                <a:solidFill>
                  <a:srgbClr val="1B6B4F"/>
                </a:solidFill>
                <a:latin typeface="Cambria" pitchFamily="34" charset="0"/>
                <a:ea typeface="Cambria" pitchFamily="34" charset="-122"/>
                <a:cs typeface="Cambria" pitchFamily="34" charset="-120"/>
              </a:rPr>
              <a:t>Objective</a:t>
            </a:r>
            <a:endParaRPr lang="en-US" sz="1800" dirty="0"/>
          </a:p>
        </p:txBody>
      </p:sp>
      <p:sp>
        <p:nvSpPr>
          <p:cNvPr id="7" name="Text 4"/>
          <p:cNvSpPr txBox="1"/>
          <p:nvPr/>
        </p:nvSpPr>
        <p:spPr>
          <a:xfrm>
            <a:off x="457200" y="1463040"/>
            <a:ext cx="4023360" cy="1188720"/>
          </a:xfrm>
          <a:prstGeom prst="rect">
            <a:avLst/>
          </a:prstGeom>
          <a:noFill/>
          <a:ln/>
        </p:spPr>
        <p:txBody>
          <a:bodyPr wrap="square" lIns="0" tIns="0" rIns="0" bIns="0" rtlCol="0" anchor="t"/>
          <a:lstStyle/>
          <a:p>
            <a:pPr marL="0" indent="0">
              <a:buNone/>
            </a:pPr>
            <a:r>
              <a:rPr lang="en-US" sz="1300" dirty="0">
                <a:solidFill>
                  <a:srgbClr val="1F2A26"/>
                </a:solidFill>
                <a:latin typeface="Calibri" pitchFamily="34" charset="0"/>
                <a:ea typeface="Calibri" pitchFamily="34" charset="-122"/>
                <a:cs typeface="Calibri" pitchFamily="34" charset="-120"/>
              </a:rPr>
              <a:t>Design and implement a mini-language analyzer that performs lexical and syntactic analysis on real spoken expressions collected in Yaoundé, and detect patterns in commuting, markets, security, weather, transport and electricity.</a:t>
            </a:r>
            <a:endParaRPr lang="en-US" sz="1300" dirty="0"/>
          </a:p>
        </p:txBody>
      </p:sp>
      <p:sp>
        <p:nvSpPr>
          <p:cNvPr id="8" name="Text 5"/>
          <p:cNvSpPr txBox="1"/>
          <p:nvPr/>
        </p:nvSpPr>
        <p:spPr>
          <a:xfrm>
            <a:off x="457200" y="2743200"/>
            <a:ext cx="4023360" cy="274320"/>
          </a:xfrm>
          <a:prstGeom prst="rect">
            <a:avLst/>
          </a:prstGeom>
          <a:noFill/>
          <a:ln/>
        </p:spPr>
        <p:txBody>
          <a:bodyPr wrap="square" lIns="0" tIns="0" rIns="0" bIns="0" rtlCol="0" anchor="t"/>
          <a:lstStyle/>
          <a:p>
            <a:pPr marL="0" indent="0">
              <a:buNone/>
            </a:pPr>
            <a:r>
              <a:rPr lang="en-US" sz="1800" b="1" dirty="0">
                <a:solidFill>
                  <a:srgbClr val="1B6B4F"/>
                </a:solidFill>
                <a:latin typeface="Cambria" pitchFamily="34" charset="0"/>
                <a:ea typeface="Cambria" pitchFamily="34" charset="-122"/>
                <a:cs typeface="Cambria" pitchFamily="34" charset="-120"/>
              </a:rPr>
              <a:t>Scope</a:t>
            </a:r>
            <a:endParaRPr lang="en-US" sz="1800" dirty="0"/>
          </a:p>
        </p:txBody>
      </p:sp>
      <p:sp>
        <p:nvSpPr>
          <p:cNvPr id="9" name="Text 6"/>
          <p:cNvSpPr txBox="1"/>
          <p:nvPr/>
        </p:nvSpPr>
        <p:spPr>
          <a:xfrm>
            <a:off x="457200" y="3063240"/>
            <a:ext cx="402336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A26"/>
                </a:solidFill>
                <a:latin typeface="Calibri" pitchFamily="34" charset="0"/>
                <a:ea typeface="Calibri" pitchFamily="34" charset="-122"/>
                <a:cs typeface="Calibri" pitchFamily="34" charset="-120"/>
              </a:rPr>
              <a:t>In: scanner, lexer, grammar prep, LL(1) table, predictive parser, web app</a:t>
            </a:r>
            <a:endParaRPr lang="en-US" sz="1300" dirty="0"/>
          </a:p>
          <a:p>
            <a:pPr marL="342900" indent="-342900">
              <a:spcAft>
                <a:spcPts val="600"/>
              </a:spcAft>
              <a:buSzPct val="100000"/>
              <a:buChar char="•"/>
            </a:pPr>
            <a:r>
              <a:rPr lang="en-US" sz="1300" dirty="0">
                <a:solidFill>
                  <a:srgbClr val="1F2A26"/>
                </a:solidFill>
                <a:latin typeface="Calibri" pitchFamily="34" charset="0"/>
                <a:ea typeface="Calibri" pitchFamily="34" charset="-122"/>
                <a:cs typeface="Calibri" pitchFamily="34" charset="-120"/>
              </a:rPr>
              <a:t>Out: semantics, code generation, machine translation, statistical models</a:t>
            </a:r>
            <a:endParaRPr lang="en-US" sz="1300" dirty="0"/>
          </a:p>
        </p:txBody>
      </p:sp>
      <p:sp>
        <p:nvSpPr>
          <p:cNvPr id="10" name="Shape 7"/>
          <p:cNvSpPr/>
          <p:nvPr/>
        </p:nvSpPr>
        <p:spPr>
          <a:xfrm>
            <a:off x="4846320" y="1188720"/>
            <a:ext cx="2011680" cy="621792"/>
          </a:xfrm>
          <a:prstGeom prst="roundRect">
            <a:avLst>
              <a:gd name="adj" fmla="val 11765"/>
            </a:avLst>
          </a:prstGeom>
          <a:solidFill>
            <a:srgbClr val="EEF3F0"/>
          </a:solidFill>
          <a:ln w="12700">
            <a:solidFill>
              <a:srgbClr val="EEF3F0"/>
            </a:solidFill>
            <a:prstDash val="solid"/>
          </a:ln>
        </p:spPr>
      </p:sp>
      <p:sp>
        <p:nvSpPr>
          <p:cNvPr id="11" name="Text 8"/>
          <p:cNvSpPr txBox="1"/>
          <p:nvPr/>
        </p:nvSpPr>
        <p:spPr>
          <a:xfrm>
            <a:off x="4956048" y="1271016"/>
            <a:ext cx="1828800" cy="237744"/>
          </a:xfrm>
          <a:prstGeom prst="rect">
            <a:avLst/>
          </a:prstGeom>
          <a:noFill/>
          <a:ln/>
        </p:spPr>
        <p:txBody>
          <a:bodyPr wrap="square" lIns="0" tIns="0" rIns="0" bIns="0" rtlCol="0" anchor="t"/>
          <a:lstStyle/>
          <a:p>
            <a:pPr marL="0" indent="0">
              <a:buNone/>
            </a:pPr>
            <a:r>
              <a:rPr lang="en-US" sz="1200" b="1" dirty="0">
                <a:solidFill>
                  <a:srgbClr val="0F3D2E"/>
                </a:solidFill>
                <a:latin typeface="Calibri" pitchFamily="34" charset="0"/>
                <a:ea typeface="Calibri" pitchFamily="34" charset="-122"/>
                <a:cs typeface="Calibri" pitchFamily="34" charset="-120"/>
              </a:rPr>
              <a:t>French grammar</a:t>
            </a:r>
            <a:endParaRPr lang="en-US" sz="1200" dirty="0"/>
          </a:p>
        </p:txBody>
      </p:sp>
      <p:sp>
        <p:nvSpPr>
          <p:cNvPr id="12" name="Text 9"/>
          <p:cNvSpPr txBox="1"/>
          <p:nvPr/>
        </p:nvSpPr>
        <p:spPr>
          <a:xfrm>
            <a:off x="4956048" y="1527048"/>
            <a:ext cx="1828800" cy="219456"/>
          </a:xfrm>
          <a:prstGeom prst="rect">
            <a:avLst/>
          </a:prstGeom>
          <a:noFill/>
          <a:ln/>
        </p:spPr>
        <p:txBody>
          <a:bodyPr wrap="square" lIns="0" tIns="0" rIns="0" bIns="0" rtlCol="0" anchor="t"/>
          <a:lstStyle/>
          <a:p>
            <a:pPr marL="0" indent="0">
              <a:buNone/>
            </a:pPr>
            <a:r>
              <a:rPr lang="en-US" sz="1050" dirty="0">
                <a:solidFill>
                  <a:srgbClr val="5F6F68"/>
                </a:solidFill>
                <a:latin typeface="Courier New" pitchFamily="34" charset="0"/>
                <a:ea typeface="Courier New" pitchFamily="34" charset="-122"/>
                <a:cs typeface="Courier New" pitchFamily="34" charset="-120"/>
              </a:rPr>
              <a:t>le taximan, au, les…</a:t>
            </a:r>
            <a:endParaRPr lang="en-US" sz="1050" dirty="0"/>
          </a:p>
        </p:txBody>
      </p:sp>
      <p:sp>
        <p:nvSpPr>
          <p:cNvPr id="13" name="Shape 10"/>
          <p:cNvSpPr/>
          <p:nvPr/>
        </p:nvSpPr>
        <p:spPr>
          <a:xfrm>
            <a:off x="6903720" y="1499616"/>
            <a:ext cx="320040" cy="0"/>
          </a:xfrm>
          <a:prstGeom prst="line">
            <a:avLst/>
          </a:prstGeom>
          <a:noFill/>
          <a:ln w="19050">
            <a:solidFill>
              <a:srgbClr val="5F6F68"/>
            </a:solidFill>
            <a:prstDash val="solid"/>
            <a:tailEnd type="triangle"/>
          </a:ln>
        </p:spPr>
      </p:sp>
      <p:sp>
        <p:nvSpPr>
          <p:cNvPr id="14" name="Shape 11"/>
          <p:cNvSpPr/>
          <p:nvPr/>
        </p:nvSpPr>
        <p:spPr>
          <a:xfrm>
            <a:off x="4846320" y="1965960"/>
            <a:ext cx="2011680" cy="621792"/>
          </a:xfrm>
          <a:prstGeom prst="roundRect">
            <a:avLst>
              <a:gd name="adj" fmla="val 11765"/>
            </a:avLst>
          </a:prstGeom>
          <a:solidFill>
            <a:srgbClr val="EEF3F0"/>
          </a:solidFill>
          <a:ln w="12700">
            <a:solidFill>
              <a:srgbClr val="EEF3F0"/>
            </a:solidFill>
            <a:prstDash val="solid"/>
          </a:ln>
        </p:spPr>
      </p:sp>
      <p:sp>
        <p:nvSpPr>
          <p:cNvPr id="15" name="Text 12"/>
          <p:cNvSpPr txBox="1"/>
          <p:nvPr/>
        </p:nvSpPr>
        <p:spPr>
          <a:xfrm>
            <a:off x="4956048" y="2048256"/>
            <a:ext cx="1828800" cy="237744"/>
          </a:xfrm>
          <a:prstGeom prst="rect">
            <a:avLst/>
          </a:prstGeom>
          <a:noFill/>
          <a:ln/>
        </p:spPr>
        <p:txBody>
          <a:bodyPr wrap="square" lIns="0" tIns="0" rIns="0" bIns="0" rtlCol="0" anchor="t"/>
          <a:lstStyle/>
          <a:p>
            <a:pPr marL="0" indent="0">
              <a:buNone/>
            </a:pPr>
            <a:r>
              <a:rPr lang="en-US" sz="1200" b="1" dirty="0">
                <a:solidFill>
                  <a:srgbClr val="0F3D2E"/>
                </a:solidFill>
                <a:latin typeface="Calibri" pitchFamily="34" charset="0"/>
                <a:ea typeface="Calibri" pitchFamily="34" charset="-122"/>
                <a:cs typeface="Calibri" pitchFamily="34" charset="-120"/>
              </a:rPr>
              <a:t>English verbs</a:t>
            </a:r>
            <a:endParaRPr lang="en-US" sz="1200" dirty="0"/>
          </a:p>
        </p:txBody>
      </p:sp>
      <p:sp>
        <p:nvSpPr>
          <p:cNvPr id="16" name="Text 13"/>
          <p:cNvSpPr txBox="1"/>
          <p:nvPr/>
        </p:nvSpPr>
        <p:spPr>
          <a:xfrm>
            <a:off x="4956048" y="2304288"/>
            <a:ext cx="1828800" cy="219456"/>
          </a:xfrm>
          <a:prstGeom prst="rect">
            <a:avLst/>
          </a:prstGeom>
          <a:noFill/>
          <a:ln/>
        </p:spPr>
        <p:txBody>
          <a:bodyPr wrap="square" lIns="0" tIns="0" rIns="0" bIns="0" rtlCol="0" anchor="t"/>
          <a:lstStyle/>
          <a:p>
            <a:pPr marL="0" indent="0">
              <a:buNone/>
            </a:pPr>
            <a:r>
              <a:rPr lang="en-US" sz="1050" dirty="0">
                <a:solidFill>
                  <a:srgbClr val="5F6F68"/>
                </a:solidFill>
                <a:latin typeface="Courier New" pitchFamily="34" charset="0"/>
                <a:ea typeface="Courier New" pitchFamily="34" charset="-122"/>
                <a:cs typeface="Courier New" pitchFamily="34" charset="-120"/>
              </a:rPr>
              <a:t>bring, send, wait…</a:t>
            </a:r>
            <a:endParaRPr lang="en-US" sz="1050" dirty="0"/>
          </a:p>
        </p:txBody>
      </p:sp>
      <p:sp>
        <p:nvSpPr>
          <p:cNvPr id="17" name="Shape 14"/>
          <p:cNvSpPr/>
          <p:nvPr/>
        </p:nvSpPr>
        <p:spPr>
          <a:xfrm>
            <a:off x="6903720" y="2276856"/>
            <a:ext cx="320040" cy="0"/>
          </a:xfrm>
          <a:prstGeom prst="line">
            <a:avLst/>
          </a:prstGeom>
          <a:noFill/>
          <a:ln w="19050">
            <a:solidFill>
              <a:srgbClr val="5F6F68"/>
            </a:solidFill>
            <a:prstDash val="solid"/>
            <a:tailEnd type="triangle"/>
          </a:ln>
        </p:spPr>
      </p:sp>
      <p:sp>
        <p:nvSpPr>
          <p:cNvPr id="18" name="Shape 15"/>
          <p:cNvSpPr/>
          <p:nvPr/>
        </p:nvSpPr>
        <p:spPr>
          <a:xfrm>
            <a:off x="4846320" y="2743200"/>
            <a:ext cx="2011680" cy="621792"/>
          </a:xfrm>
          <a:prstGeom prst="roundRect">
            <a:avLst>
              <a:gd name="adj" fmla="val 11765"/>
            </a:avLst>
          </a:prstGeom>
          <a:solidFill>
            <a:srgbClr val="EEF3F0"/>
          </a:solidFill>
          <a:ln w="12700">
            <a:solidFill>
              <a:srgbClr val="EEF3F0"/>
            </a:solidFill>
            <a:prstDash val="solid"/>
          </a:ln>
        </p:spPr>
      </p:sp>
      <p:sp>
        <p:nvSpPr>
          <p:cNvPr id="19" name="Text 16"/>
          <p:cNvSpPr txBox="1"/>
          <p:nvPr/>
        </p:nvSpPr>
        <p:spPr>
          <a:xfrm>
            <a:off x="4956048" y="2825496"/>
            <a:ext cx="1828800" cy="237744"/>
          </a:xfrm>
          <a:prstGeom prst="rect">
            <a:avLst/>
          </a:prstGeom>
          <a:noFill/>
          <a:ln/>
        </p:spPr>
        <p:txBody>
          <a:bodyPr wrap="square" lIns="0" tIns="0" rIns="0" bIns="0" rtlCol="0" anchor="t"/>
          <a:lstStyle/>
          <a:p>
            <a:pPr marL="0" indent="0">
              <a:buNone/>
            </a:pPr>
            <a:r>
              <a:rPr lang="en-US" sz="1200" b="1" dirty="0">
                <a:solidFill>
                  <a:srgbClr val="0F3D2E"/>
                </a:solidFill>
                <a:latin typeface="Calibri" pitchFamily="34" charset="0"/>
                <a:ea typeface="Calibri" pitchFamily="34" charset="-122"/>
                <a:cs typeface="Calibri" pitchFamily="34" charset="-120"/>
              </a:rPr>
              <a:t>Pidgin particles</a:t>
            </a:r>
            <a:endParaRPr lang="en-US" sz="1200" dirty="0"/>
          </a:p>
        </p:txBody>
      </p:sp>
      <p:sp>
        <p:nvSpPr>
          <p:cNvPr id="20" name="Text 17"/>
          <p:cNvSpPr txBox="1"/>
          <p:nvPr/>
        </p:nvSpPr>
        <p:spPr>
          <a:xfrm>
            <a:off x="4956048" y="3081528"/>
            <a:ext cx="1828800" cy="219456"/>
          </a:xfrm>
          <a:prstGeom prst="rect">
            <a:avLst/>
          </a:prstGeom>
          <a:noFill/>
          <a:ln/>
        </p:spPr>
        <p:txBody>
          <a:bodyPr wrap="square" lIns="0" tIns="0" rIns="0" bIns="0" rtlCol="0" anchor="t"/>
          <a:lstStyle/>
          <a:p>
            <a:pPr marL="0" indent="0">
              <a:buNone/>
            </a:pPr>
            <a:r>
              <a:rPr lang="en-US" sz="1050" dirty="0">
                <a:solidFill>
                  <a:srgbClr val="5F6F68"/>
                </a:solidFill>
                <a:latin typeface="Courier New" pitchFamily="34" charset="0"/>
                <a:ea typeface="Courier New" pitchFamily="34" charset="-122"/>
                <a:cs typeface="Courier New" pitchFamily="34" charset="-120"/>
              </a:rPr>
              <a:t>ashia, wah, waka…</a:t>
            </a:r>
            <a:endParaRPr lang="en-US" sz="1050" dirty="0"/>
          </a:p>
        </p:txBody>
      </p:sp>
      <p:sp>
        <p:nvSpPr>
          <p:cNvPr id="21" name="Shape 18"/>
          <p:cNvSpPr/>
          <p:nvPr/>
        </p:nvSpPr>
        <p:spPr>
          <a:xfrm>
            <a:off x="6903720" y="3054096"/>
            <a:ext cx="320040" cy="0"/>
          </a:xfrm>
          <a:prstGeom prst="line">
            <a:avLst/>
          </a:prstGeom>
          <a:noFill/>
          <a:ln w="19050">
            <a:solidFill>
              <a:srgbClr val="5F6F68"/>
            </a:solidFill>
            <a:prstDash val="solid"/>
            <a:tailEnd type="triangle"/>
          </a:ln>
        </p:spPr>
      </p:sp>
      <p:sp>
        <p:nvSpPr>
          <p:cNvPr id="22" name="Shape 19"/>
          <p:cNvSpPr/>
          <p:nvPr/>
        </p:nvSpPr>
        <p:spPr>
          <a:xfrm>
            <a:off x="4846320" y="3520440"/>
            <a:ext cx="2011680" cy="621792"/>
          </a:xfrm>
          <a:prstGeom prst="roundRect">
            <a:avLst>
              <a:gd name="adj" fmla="val 11765"/>
            </a:avLst>
          </a:prstGeom>
          <a:solidFill>
            <a:srgbClr val="EEF3F0"/>
          </a:solidFill>
          <a:ln w="12700">
            <a:solidFill>
              <a:srgbClr val="EEF3F0"/>
            </a:solidFill>
            <a:prstDash val="solid"/>
          </a:ln>
        </p:spPr>
      </p:sp>
      <p:sp>
        <p:nvSpPr>
          <p:cNvPr id="23" name="Text 20"/>
          <p:cNvSpPr txBox="1"/>
          <p:nvPr/>
        </p:nvSpPr>
        <p:spPr>
          <a:xfrm>
            <a:off x="4956048" y="3602736"/>
            <a:ext cx="1828800" cy="237744"/>
          </a:xfrm>
          <a:prstGeom prst="rect">
            <a:avLst/>
          </a:prstGeom>
          <a:noFill/>
          <a:ln/>
        </p:spPr>
        <p:txBody>
          <a:bodyPr wrap="square" lIns="0" tIns="0" rIns="0" bIns="0" rtlCol="0" anchor="t"/>
          <a:lstStyle/>
          <a:p>
            <a:pPr marL="0" indent="0">
              <a:buNone/>
            </a:pPr>
            <a:r>
              <a:rPr lang="en-US" sz="1200" b="1" dirty="0">
                <a:solidFill>
                  <a:srgbClr val="0F3D2E"/>
                </a:solidFill>
                <a:latin typeface="Calibri" pitchFamily="34" charset="0"/>
                <a:ea typeface="Calibri" pitchFamily="34" charset="-122"/>
                <a:cs typeface="Calibri" pitchFamily="34" charset="-120"/>
              </a:rPr>
              <a:t>Duala / Ewondo nouns</a:t>
            </a:r>
            <a:endParaRPr lang="en-US" sz="1200" dirty="0"/>
          </a:p>
        </p:txBody>
      </p:sp>
      <p:sp>
        <p:nvSpPr>
          <p:cNvPr id="24" name="Text 21"/>
          <p:cNvSpPr txBox="1"/>
          <p:nvPr/>
        </p:nvSpPr>
        <p:spPr>
          <a:xfrm>
            <a:off x="4956048" y="3858768"/>
            <a:ext cx="1828800" cy="219456"/>
          </a:xfrm>
          <a:prstGeom prst="rect">
            <a:avLst/>
          </a:prstGeom>
          <a:noFill/>
          <a:ln/>
        </p:spPr>
        <p:txBody>
          <a:bodyPr wrap="square" lIns="0" tIns="0" rIns="0" bIns="0" rtlCol="0" anchor="t"/>
          <a:lstStyle/>
          <a:p>
            <a:pPr marL="0" indent="0">
              <a:buNone/>
            </a:pPr>
            <a:r>
              <a:rPr lang="en-US" sz="1050" dirty="0">
                <a:solidFill>
                  <a:srgbClr val="5F6F68"/>
                </a:solidFill>
                <a:latin typeface="Courier New" pitchFamily="34" charset="0"/>
                <a:ea typeface="Courier New" pitchFamily="34" charset="-122"/>
                <a:cs typeface="Courier New" pitchFamily="34" charset="-120"/>
              </a:rPr>
              <a:t>kwatt, mbom, ngola…</a:t>
            </a:r>
            <a:endParaRPr lang="en-US" sz="1050" dirty="0"/>
          </a:p>
        </p:txBody>
      </p:sp>
      <p:sp>
        <p:nvSpPr>
          <p:cNvPr id="25" name="Shape 22"/>
          <p:cNvSpPr/>
          <p:nvPr/>
        </p:nvSpPr>
        <p:spPr>
          <a:xfrm>
            <a:off x="6903720" y="3831336"/>
            <a:ext cx="320040" cy="0"/>
          </a:xfrm>
          <a:prstGeom prst="line">
            <a:avLst/>
          </a:prstGeom>
          <a:noFill/>
          <a:ln w="19050">
            <a:solidFill>
              <a:srgbClr val="5F6F68"/>
            </a:solidFill>
            <a:prstDash val="solid"/>
            <a:tailEnd type="triangle"/>
          </a:ln>
        </p:spPr>
      </p:sp>
      <p:sp>
        <p:nvSpPr>
          <p:cNvPr id="26" name="Shape 23"/>
          <p:cNvSpPr/>
          <p:nvPr/>
        </p:nvSpPr>
        <p:spPr>
          <a:xfrm>
            <a:off x="7269480" y="1188720"/>
            <a:ext cx="1417320" cy="2953512"/>
          </a:xfrm>
          <a:prstGeom prst="roundRect">
            <a:avLst>
              <a:gd name="adj" fmla="val 6452"/>
            </a:avLst>
          </a:prstGeom>
          <a:solidFill>
            <a:srgbClr val="0F3D2E"/>
          </a:solidFill>
          <a:ln w="12700">
            <a:solidFill>
              <a:srgbClr val="0F3D2E"/>
            </a:solidFill>
            <a:prstDash val="solid"/>
          </a:ln>
        </p:spPr>
      </p:sp>
      <p:sp>
        <p:nvSpPr>
          <p:cNvPr id="27" name="Text 24"/>
          <p:cNvSpPr txBox="1"/>
          <p:nvPr/>
        </p:nvSpPr>
        <p:spPr>
          <a:xfrm>
            <a:off x="7315200" y="2103120"/>
            <a:ext cx="1325880" cy="274320"/>
          </a:xfrm>
          <a:prstGeom prst="rect">
            <a:avLst/>
          </a:prstGeom>
          <a:noFill/>
          <a:ln/>
        </p:spPr>
        <p:txBody>
          <a:bodyPr wrap="square" lIns="0" tIns="0" rIns="0" bIns="0" rtlCol="0" anchor="t"/>
          <a:lstStyle/>
          <a:p>
            <a:pPr marL="0" indent="0" algn="ctr">
              <a:buNone/>
            </a:pPr>
            <a:r>
              <a:rPr lang="en-US" sz="1200" b="1" dirty="0">
                <a:solidFill>
                  <a:srgbClr val="D9B44A"/>
                </a:solidFill>
                <a:latin typeface="Calibri" pitchFamily="34" charset="0"/>
                <a:ea typeface="Calibri" pitchFamily="34" charset="-122"/>
                <a:cs typeface="Calibri" pitchFamily="34" charset="-120"/>
              </a:rPr>
              <a:t>One sentence</a:t>
            </a:r>
            <a:endParaRPr lang="en-US" sz="1200" dirty="0"/>
          </a:p>
        </p:txBody>
      </p:sp>
      <p:sp>
        <p:nvSpPr>
          <p:cNvPr id="28" name="Text 25"/>
          <p:cNvSpPr txBox="1"/>
          <p:nvPr/>
        </p:nvSpPr>
        <p:spPr>
          <a:xfrm>
            <a:off x="7315200" y="2423160"/>
            <a:ext cx="1325880" cy="365760"/>
          </a:xfrm>
          <a:prstGeom prst="rect">
            <a:avLst/>
          </a:prstGeom>
          <a:noFill/>
          <a:ln/>
        </p:spPr>
        <p:txBody>
          <a:bodyPr wrap="square" lIns="0" tIns="0" rIns="0" bIns="0" rtlCol="0" anchor="t"/>
          <a:lstStyle/>
          <a:p>
            <a:pPr marL="0" indent="0" algn="ctr">
              <a:buNone/>
            </a:pPr>
            <a:r>
              <a:rPr lang="en-US" sz="1400" b="1" dirty="0">
                <a:solidFill>
                  <a:srgbClr val="FFFFFF"/>
                </a:solidFill>
                <a:latin typeface="Cambria" pitchFamily="34" charset="0"/>
                <a:ea typeface="Cambria" pitchFamily="34" charset="-122"/>
                <a:cs typeface="Cambria" pitchFamily="34" charset="-120"/>
              </a:rPr>
              <a:t>Francanglais</a:t>
            </a:r>
            <a:endParaRPr lang="en-US" sz="1400" dirty="0"/>
          </a:p>
        </p:txBody>
      </p:sp>
      <p:sp>
        <p:nvSpPr>
          <p:cNvPr id="29" name="Text 26"/>
          <p:cNvSpPr txBox="1"/>
          <p:nvPr/>
        </p:nvSpPr>
        <p:spPr>
          <a:xfrm>
            <a:off x="7315200" y="2788920"/>
            <a:ext cx="1325880" cy="274320"/>
          </a:xfrm>
          <a:prstGeom prst="rect">
            <a:avLst/>
          </a:prstGeom>
          <a:noFill/>
          <a:ln/>
        </p:spPr>
        <p:txBody>
          <a:bodyPr wrap="square" lIns="0" tIns="0" rIns="0" bIns="0" rtlCol="0" anchor="t"/>
          <a:lstStyle/>
          <a:p>
            <a:pPr marL="0" indent="0" algn="ctr">
              <a:buNone/>
            </a:pPr>
            <a:r>
              <a:rPr lang="en-US" sz="1050" dirty="0">
                <a:solidFill>
                  <a:srgbClr val="CFE3D9"/>
                </a:solidFill>
                <a:latin typeface="Calibri" pitchFamily="34" charset="0"/>
                <a:ea typeface="Calibri" pitchFamily="34" charset="-122"/>
                <a:cs typeface="Calibri" pitchFamily="34" charset="-120"/>
              </a:rPr>
              <a:t>no standard form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The delivered system at a glance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3</a:t>
            </a:r>
            <a:endParaRPr lang="en-US" sz="900" dirty="0"/>
          </a:p>
        </p:txBody>
      </p:sp>
      <p:sp>
        <p:nvSpPr>
          <p:cNvPr id="6" name="Shape 3"/>
          <p:cNvSpPr/>
          <p:nvPr/>
        </p:nvSpPr>
        <p:spPr>
          <a:xfrm>
            <a:off x="365760" y="2125980"/>
            <a:ext cx="1920240" cy="1508760"/>
          </a:xfrm>
          <a:prstGeom prst="roundRect">
            <a:avLst>
              <a:gd name="adj" fmla="val 4848"/>
            </a:avLst>
          </a:prstGeom>
          <a:solidFill>
            <a:srgbClr val="EEF3F0"/>
          </a:solidFill>
          <a:ln w="12700">
            <a:solidFill>
              <a:srgbClr val="EEF3F0"/>
            </a:solidFill>
            <a:prstDash val="solid"/>
          </a:ln>
        </p:spPr>
      </p:sp>
      <p:sp>
        <p:nvSpPr>
          <p:cNvPr id="7" name="Text 4"/>
          <p:cNvSpPr txBox="1"/>
          <p:nvPr/>
        </p:nvSpPr>
        <p:spPr>
          <a:xfrm>
            <a:off x="274320" y="2263140"/>
            <a:ext cx="1920240" cy="685800"/>
          </a:xfrm>
          <a:prstGeom prst="rect">
            <a:avLst/>
          </a:prstGeom>
          <a:noFill/>
          <a:ln/>
        </p:spPr>
        <p:txBody>
          <a:bodyPr wrap="square" lIns="0" tIns="0" rIns="0" bIns="0" rtlCol="0" anchor="t"/>
          <a:lstStyle/>
          <a:p>
            <a:pPr marL="0" indent="0" algn="ctr">
              <a:buNone/>
            </a:pPr>
            <a:r>
              <a:rPr lang="en-US" sz="4000" b="1" dirty="0">
                <a:solidFill>
                  <a:srgbClr val="1B6B4F"/>
                </a:solidFill>
                <a:latin typeface="Cambria" pitchFamily="34" charset="0"/>
                <a:ea typeface="Cambria" pitchFamily="34" charset="-122"/>
                <a:cs typeface="Cambria" pitchFamily="34" charset="-120"/>
              </a:rPr>
              <a:t>22</a:t>
            </a:r>
            <a:endParaRPr lang="en-US" sz="4000" dirty="0"/>
          </a:p>
        </p:txBody>
      </p:sp>
      <p:sp>
        <p:nvSpPr>
          <p:cNvPr id="8" name="Text 5"/>
          <p:cNvSpPr txBox="1"/>
          <p:nvPr/>
        </p:nvSpPr>
        <p:spPr>
          <a:xfrm>
            <a:off x="365760" y="2994660"/>
            <a:ext cx="1737360" cy="594360"/>
          </a:xfrm>
          <a:prstGeom prst="rect">
            <a:avLst/>
          </a:prstGeom>
          <a:noFill/>
          <a:ln/>
        </p:spPr>
        <p:txBody>
          <a:bodyPr wrap="square" lIns="0" tIns="0" rIns="0" bIns="0" rtlCol="0" anchor="t"/>
          <a:lstStyle/>
          <a:p>
            <a:pPr marL="0" indent="0" algn="ctr">
              <a:buNone/>
            </a:pPr>
            <a:r>
              <a:rPr lang="en-US" sz="1100" dirty="0">
                <a:solidFill>
                  <a:srgbClr val="5F6F68"/>
                </a:solidFill>
                <a:latin typeface="Calibri" pitchFamily="34" charset="0"/>
                <a:ea typeface="Calibri" pitchFamily="34" charset="-122"/>
                <a:cs typeface="Calibri" pitchFamily="34" charset="-120"/>
              </a:rPr>
              <a:t>statements collected</a:t>
            </a:r>
            <a:endParaRPr lang="en-US" sz="1100" dirty="0"/>
          </a:p>
          <a:p>
            <a:pPr marL="0" indent="0" algn="ctr">
              <a:buNone/>
            </a:pPr>
            <a:r>
              <a:rPr lang="en-US" sz="1100" dirty="0">
                <a:solidFill>
                  <a:srgbClr val="5F6F68"/>
                </a:solidFill>
                <a:latin typeface="Calibri" pitchFamily="34" charset="0"/>
                <a:ea typeface="Calibri" pitchFamily="34" charset="-122"/>
                <a:cs typeface="Calibri" pitchFamily="34" charset="-120"/>
              </a:rPr>
              <a:t>20 accepted · 2 rejected</a:t>
            </a:r>
            <a:endParaRPr lang="en-US" sz="1100" dirty="0"/>
          </a:p>
        </p:txBody>
      </p:sp>
      <p:sp>
        <p:nvSpPr>
          <p:cNvPr id="9" name="Shape 6"/>
          <p:cNvSpPr/>
          <p:nvPr/>
        </p:nvSpPr>
        <p:spPr>
          <a:xfrm>
            <a:off x="2468880" y="2125980"/>
            <a:ext cx="1920240" cy="1508760"/>
          </a:xfrm>
          <a:prstGeom prst="roundRect">
            <a:avLst>
              <a:gd name="adj" fmla="val 4848"/>
            </a:avLst>
          </a:prstGeom>
          <a:solidFill>
            <a:srgbClr val="EEF3F0"/>
          </a:solidFill>
          <a:ln w="12700">
            <a:solidFill>
              <a:srgbClr val="EEF3F0"/>
            </a:solidFill>
            <a:prstDash val="solid"/>
          </a:ln>
        </p:spPr>
      </p:sp>
      <p:sp>
        <p:nvSpPr>
          <p:cNvPr id="10" name="Text 7"/>
          <p:cNvSpPr txBox="1"/>
          <p:nvPr/>
        </p:nvSpPr>
        <p:spPr>
          <a:xfrm>
            <a:off x="2377440" y="2263140"/>
            <a:ext cx="1920240" cy="685800"/>
          </a:xfrm>
          <a:prstGeom prst="rect">
            <a:avLst/>
          </a:prstGeom>
          <a:noFill/>
          <a:ln/>
        </p:spPr>
        <p:txBody>
          <a:bodyPr wrap="square" lIns="0" tIns="0" rIns="0" bIns="0" rtlCol="0" anchor="t"/>
          <a:lstStyle/>
          <a:p>
            <a:pPr marL="0" indent="0" algn="ctr">
              <a:buNone/>
            </a:pPr>
            <a:r>
              <a:rPr lang="en-US" sz="4000" b="1" dirty="0">
                <a:solidFill>
                  <a:srgbClr val="1B6B4F"/>
                </a:solidFill>
                <a:latin typeface="Cambria" pitchFamily="34" charset="0"/>
                <a:ea typeface="Cambria" pitchFamily="34" charset="-122"/>
                <a:cs typeface="Cambria" pitchFamily="34" charset="-120"/>
              </a:rPr>
              <a:t>688</a:t>
            </a:r>
            <a:endParaRPr lang="en-US" sz="4000" dirty="0"/>
          </a:p>
        </p:txBody>
      </p:sp>
      <p:sp>
        <p:nvSpPr>
          <p:cNvPr id="11" name="Text 8"/>
          <p:cNvSpPr txBox="1"/>
          <p:nvPr/>
        </p:nvSpPr>
        <p:spPr>
          <a:xfrm>
            <a:off x="2468880" y="2994660"/>
            <a:ext cx="1737360" cy="594360"/>
          </a:xfrm>
          <a:prstGeom prst="rect">
            <a:avLst/>
          </a:prstGeom>
          <a:noFill/>
          <a:ln/>
        </p:spPr>
        <p:txBody>
          <a:bodyPr wrap="square" lIns="0" tIns="0" rIns="0" bIns="0" rtlCol="0" anchor="t"/>
          <a:lstStyle/>
          <a:p>
            <a:pPr marL="0" indent="0" algn="ctr">
              <a:buNone/>
            </a:pPr>
            <a:r>
              <a:rPr lang="en-US" sz="1100" dirty="0">
                <a:solidFill>
                  <a:srgbClr val="5F6F68"/>
                </a:solidFill>
                <a:latin typeface="Calibri" pitchFamily="34" charset="0"/>
                <a:ea typeface="Calibri" pitchFamily="34" charset="-122"/>
                <a:cs typeface="Calibri" pitchFamily="34" charset="-120"/>
              </a:rPr>
              <a:t>lexicon entries</a:t>
            </a:r>
            <a:endParaRPr lang="en-US" sz="1100" dirty="0"/>
          </a:p>
          <a:p>
            <a:pPr marL="0" indent="0" algn="ctr">
              <a:buNone/>
            </a:pPr>
            <a:r>
              <a:rPr lang="en-US" sz="1100" dirty="0">
                <a:solidFill>
                  <a:srgbClr val="5F6F68"/>
                </a:solidFill>
                <a:latin typeface="Calibri" pitchFamily="34" charset="0"/>
                <a:ea typeface="Calibri" pitchFamily="34" charset="-122"/>
                <a:cs typeface="Calibri" pitchFamily="34" charset="-120"/>
              </a:rPr>
              <a:t>106 attested · 582 dictionary</a:t>
            </a:r>
            <a:endParaRPr lang="en-US" sz="1100" dirty="0"/>
          </a:p>
        </p:txBody>
      </p:sp>
      <p:sp>
        <p:nvSpPr>
          <p:cNvPr id="12" name="Shape 9"/>
          <p:cNvSpPr/>
          <p:nvPr/>
        </p:nvSpPr>
        <p:spPr>
          <a:xfrm>
            <a:off x="4572000" y="2125980"/>
            <a:ext cx="1920240" cy="1508760"/>
          </a:xfrm>
          <a:prstGeom prst="roundRect">
            <a:avLst>
              <a:gd name="adj" fmla="val 4848"/>
            </a:avLst>
          </a:prstGeom>
          <a:solidFill>
            <a:srgbClr val="EEF3F0"/>
          </a:solidFill>
          <a:ln w="12700">
            <a:solidFill>
              <a:srgbClr val="EEF3F0"/>
            </a:solidFill>
            <a:prstDash val="solid"/>
          </a:ln>
        </p:spPr>
      </p:sp>
      <p:sp>
        <p:nvSpPr>
          <p:cNvPr id="13" name="Text 10"/>
          <p:cNvSpPr txBox="1"/>
          <p:nvPr/>
        </p:nvSpPr>
        <p:spPr>
          <a:xfrm>
            <a:off x="4480560" y="2263140"/>
            <a:ext cx="1920240" cy="685800"/>
          </a:xfrm>
          <a:prstGeom prst="rect">
            <a:avLst/>
          </a:prstGeom>
          <a:noFill/>
          <a:ln/>
        </p:spPr>
        <p:txBody>
          <a:bodyPr wrap="square" lIns="0" tIns="0" rIns="0" bIns="0" rtlCol="0" anchor="t"/>
          <a:lstStyle/>
          <a:p>
            <a:pPr marL="0" indent="0" algn="ctr">
              <a:buNone/>
            </a:pPr>
            <a:r>
              <a:rPr lang="en-US" sz="4000" b="1" dirty="0">
                <a:solidFill>
                  <a:srgbClr val="1B6B4F"/>
                </a:solidFill>
                <a:latin typeface="Cambria" pitchFamily="34" charset="0"/>
                <a:ea typeface="Cambria" pitchFamily="34" charset="-122"/>
                <a:cs typeface="Cambria" pitchFamily="34" charset="-120"/>
              </a:rPr>
              <a:t>41</a:t>
            </a:r>
            <a:endParaRPr lang="en-US" sz="4000" dirty="0"/>
          </a:p>
        </p:txBody>
      </p:sp>
      <p:sp>
        <p:nvSpPr>
          <p:cNvPr id="14" name="Text 11"/>
          <p:cNvSpPr txBox="1"/>
          <p:nvPr/>
        </p:nvSpPr>
        <p:spPr>
          <a:xfrm>
            <a:off x="4572000" y="2994660"/>
            <a:ext cx="1737360" cy="594360"/>
          </a:xfrm>
          <a:prstGeom prst="rect">
            <a:avLst/>
          </a:prstGeom>
          <a:noFill/>
          <a:ln/>
        </p:spPr>
        <p:txBody>
          <a:bodyPr wrap="square" lIns="0" tIns="0" rIns="0" bIns="0" rtlCol="0" anchor="t"/>
          <a:lstStyle/>
          <a:p>
            <a:pPr marL="0" indent="0" algn="ctr">
              <a:buNone/>
            </a:pPr>
            <a:r>
              <a:rPr lang="en-US" sz="1100" dirty="0">
                <a:solidFill>
                  <a:srgbClr val="5F6F68"/>
                </a:solidFill>
                <a:latin typeface="Calibri" pitchFamily="34" charset="0"/>
                <a:ea typeface="Calibri" pitchFamily="34" charset="-122"/>
                <a:cs typeface="Calibri" pitchFamily="34" charset="-120"/>
              </a:rPr>
              <a:t>LL(1) productions</a:t>
            </a:r>
            <a:endParaRPr lang="en-US" sz="1100" dirty="0"/>
          </a:p>
          <a:p>
            <a:pPr marL="0" indent="0" algn="ctr">
              <a:buNone/>
            </a:pPr>
            <a:r>
              <a:rPr lang="en-US" sz="1100" dirty="0">
                <a:solidFill>
                  <a:srgbClr val="5F6F68"/>
                </a:solidFill>
                <a:latin typeface="Calibri" pitchFamily="34" charset="0"/>
                <a:ea typeface="Calibri" pitchFamily="34" charset="-122"/>
                <a:cs typeface="Calibri" pitchFamily="34" charset="-120"/>
              </a:rPr>
              <a:t>from 37 authored</a:t>
            </a:r>
            <a:endParaRPr lang="en-US" sz="1100" dirty="0"/>
          </a:p>
        </p:txBody>
      </p:sp>
      <p:sp>
        <p:nvSpPr>
          <p:cNvPr id="15" name="Shape 12"/>
          <p:cNvSpPr/>
          <p:nvPr/>
        </p:nvSpPr>
        <p:spPr>
          <a:xfrm>
            <a:off x="6675120" y="2125980"/>
            <a:ext cx="1920240" cy="1508760"/>
          </a:xfrm>
          <a:prstGeom prst="roundRect">
            <a:avLst>
              <a:gd name="adj" fmla="val 4848"/>
            </a:avLst>
          </a:prstGeom>
          <a:solidFill>
            <a:srgbClr val="EEF3F0"/>
          </a:solidFill>
          <a:ln w="12700">
            <a:solidFill>
              <a:srgbClr val="EEF3F0"/>
            </a:solidFill>
            <a:prstDash val="solid"/>
          </a:ln>
        </p:spPr>
      </p:sp>
      <p:sp>
        <p:nvSpPr>
          <p:cNvPr id="16" name="Text 13"/>
          <p:cNvSpPr txBox="1"/>
          <p:nvPr/>
        </p:nvSpPr>
        <p:spPr>
          <a:xfrm>
            <a:off x="6583680" y="2263140"/>
            <a:ext cx="1920240" cy="685800"/>
          </a:xfrm>
          <a:prstGeom prst="rect">
            <a:avLst/>
          </a:prstGeom>
          <a:noFill/>
          <a:ln/>
        </p:spPr>
        <p:txBody>
          <a:bodyPr wrap="square" lIns="0" tIns="0" rIns="0" bIns="0" rtlCol="0" anchor="t"/>
          <a:lstStyle/>
          <a:p>
            <a:pPr marL="0" indent="0" algn="ctr">
              <a:buNone/>
            </a:pPr>
            <a:r>
              <a:rPr lang="en-US" sz="4000" b="1" dirty="0">
                <a:solidFill>
                  <a:srgbClr val="1B6B4F"/>
                </a:solidFill>
                <a:latin typeface="Cambria" pitchFamily="34" charset="0"/>
                <a:ea typeface="Cambria" pitchFamily="34" charset="-122"/>
                <a:cs typeface="Cambria" pitchFamily="34" charset="-120"/>
              </a:rPr>
              <a:t>158</a:t>
            </a:r>
            <a:endParaRPr lang="en-US" sz="4000" dirty="0"/>
          </a:p>
        </p:txBody>
      </p:sp>
      <p:sp>
        <p:nvSpPr>
          <p:cNvPr id="17" name="Text 14"/>
          <p:cNvSpPr txBox="1"/>
          <p:nvPr/>
        </p:nvSpPr>
        <p:spPr>
          <a:xfrm>
            <a:off x="6675120" y="2994660"/>
            <a:ext cx="1737360" cy="594360"/>
          </a:xfrm>
          <a:prstGeom prst="rect">
            <a:avLst/>
          </a:prstGeom>
          <a:noFill/>
          <a:ln/>
        </p:spPr>
        <p:txBody>
          <a:bodyPr wrap="square" lIns="0" tIns="0" rIns="0" bIns="0" rtlCol="0" anchor="t"/>
          <a:lstStyle/>
          <a:p>
            <a:pPr marL="0" indent="0" algn="ctr">
              <a:buNone/>
            </a:pPr>
            <a:r>
              <a:rPr lang="en-US" sz="1100" dirty="0">
                <a:solidFill>
                  <a:srgbClr val="5F6F68"/>
                </a:solidFill>
                <a:latin typeface="Calibri" pitchFamily="34" charset="0"/>
                <a:ea typeface="Calibri" pitchFamily="34" charset="-122"/>
                <a:cs typeface="Calibri" pitchFamily="34" charset="-120"/>
              </a:rPr>
              <a:t>backend tests</a:t>
            </a:r>
            <a:endParaRPr lang="en-US" sz="1100" dirty="0"/>
          </a:p>
          <a:p>
            <a:pPr marL="0" indent="0" algn="ctr">
              <a:buNone/>
            </a:pPr>
            <a:r>
              <a:rPr lang="en-US" sz="1100" dirty="0">
                <a:solidFill>
                  <a:srgbClr val="5F6F68"/>
                </a:solidFill>
                <a:latin typeface="Calibri" pitchFamily="34" charset="0"/>
                <a:ea typeface="Calibri" pitchFamily="34" charset="-122"/>
                <a:cs typeface="Calibri" pitchFamily="34" charset="-120"/>
              </a:rPr>
              <a:t>84 end-to-end scenarios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Architecture and processing pipeline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4</a:t>
            </a:r>
            <a:endParaRPr lang="en-US" sz="900" dirty="0"/>
          </a:p>
        </p:txBody>
      </p:sp>
      <p:sp>
        <p:nvSpPr>
          <p:cNvPr id="6" name="Shape 3"/>
          <p:cNvSpPr/>
          <p:nvPr/>
        </p:nvSpPr>
        <p:spPr>
          <a:xfrm>
            <a:off x="457200" y="1188720"/>
            <a:ext cx="1828800" cy="868680"/>
          </a:xfrm>
          <a:prstGeom prst="roundRect">
            <a:avLst>
              <a:gd name="adj" fmla="val 8421"/>
            </a:avLst>
          </a:prstGeom>
          <a:solidFill>
            <a:srgbClr val="EEF3F0"/>
          </a:solidFill>
          <a:ln w="12700">
            <a:solidFill>
              <a:srgbClr val="EEF3F0"/>
            </a:solidFill>
            <a:prstDash val="solid"/>
          </a:ln>
        </p:spPr>
      </p:sp>
      <p:sp>
        <p:nvSpPr>
          <p:cNvPr id="7" name="Text 4"/>
          <p:cNvSpPr txBox="1"/>
          <p:nvPr/>
        </p:nvSpPr>
        <p:spPr>
          <a:xfrm>
            <a:off x="457200" y="1280160"/>
            <a:ext cx="1828800" cy="274320"/>
          </a:xfrm>
          <a:prstGeom prst="rect">
            <a:avLst/>
          </a:prstGeom>
          <a:noFill/>
          <a:ln/>
        </p:spPr>
        <p:txBody>
          <a:bodyPr wrap="square" lIns="0" tIns="0" rIns="0" bIns="0" rtlCol="0" anchor="t"/>
          <a:lstStyle/>
          <a:p>
            <a:pPr marL="0" indent="0" algn="ctr">
              <a:buNone/>
            </a:pPr>
            <a:r>
              <a:rPr lang="en-US" sz="1400" b="1" dirty="0">
                <a:solidFill>
                  <a:srgbClr val="0F3D2E"/>
                </a:solidFill>
                <a:latin typeface="Calibri" pitchFamily="34" charset="0"/>
                <a:ea typeface="Calibri" pitchFamily="34" charset="-122"/>
                <a:cs typeface="Calibri" pitchFamily="34" charset="-120"/>
              </a:rPr>
              <a:t>Browser</a:t>
            </a:r>
            <a:endParaRPr lang="en-US" sz="1400" dirty="0"/>
          </a:p>
        </p:txBody>
      </p:sp>
      <p:sp>
        <p:nvSpPr>
          <p:cNvPr id="8" name="Text 5"/>
          <p:cNvSpPr txBox="1"/>
          <p:nvPr/>
        </p:nvSpPr>
        <p:spPr>
          <a:xfrm>
            <a:off x="548640" y="1600200"/>
            <a:ext cx="1645920" cy="365760"/>
          </a:xfrm>
          <a:prstGeom prst="rect">
            <a:avLst/>
          </a:prstGeom>
          <a:noFill/>
          <a:ln/>
        </p:spPr>
        <p:txBody>
          <a:bodyPr wrap="square" lIns="0" tIns="0" rIns="0" bIns="0" rtlCol="0" anchor="t"/>
          <a:lstStyle/>
          <a:p>
            <a:pPr marL="0" indent="0" algn="ctr">
              <a:buNone/>
            </a:pPr>
            <a:r>
              <a:rPr lang="en-US" sz="1050" dirty="0">
                <a:solidFill>
                  <a:srgbClr val="5F6F68"/>
                </a:solidFill>
                <a:latin typeface="Calibri" pitchFamily="34" charset="0"/>
                <a:ea typeface="Calibri" pitchFamily="34" charset="-122"/>
                <a:cs typeface="Calibri" pitchFamily="34" charset="-120"/>
              </a:rPr>
              <a:t>React SPA</a:t>
            </a:r>
            <a:endParaRPr lang="en-US" sz="1050" dirty="0"/>
          </a:p>
        </p:txBody>
      </p:sp>
      <p:sp>
        <p:nvSpPr>
          <p:cNvPr id="9" name="Shape 6"/>
          <p:cNvSpPr/>
          <p:nvPr/>
        </p:nvSpPr>
        <p:spPr>
          <a:xfrm>
            <a:off x="2313432" y="1623060"/>
            <a:ext cx="246888" cy="0"/>
          </a:xfrm>
          <a:prstGeom prst="line">
            <a:avLst/>
          </a:prstGeom>
          <a:noFill/>
          <a:ln w="19050">
            <a:solidFill>
              <a:srgbClr val="5F6F68"/>
            </a:solidFill>
            <a:prstDash val="solid"/>
            <a:tailEnd type="triangle"/>
          </a:ln>
        </p:spPr>
      </p:sp>
      <p:sp>
        <p:nvSpPr>
          <p:cNvPr id="10" name="Shape 7"/>
          <p:cNvSpPr/>
          <p:nvPr/>
        </p:nvSpPr>
        <p:spPr>
          <a:xfrm>
            <a:off x="2587752" y="1188720"/>
            <a:ext cx="1828800" cy="868680"/>
          </a:xfrm>
          <a:prstGeom prst="roundRect">
            <a:avLst>
              <a:gd name="adj" fmla="val 8421"/>
            </a:avLst>
          </a:prstGeom>
          <a:solidFill>
            <a:srgbClr val="EEF3F0"/>
          </a:solidFill>
          <a:ln w="12700">
            <a:solidFill>
              <a:srgbClr val="EEF3F0"/>
            </a:solidFill>
            <a:prstDash val="solid"/>
          </a:ln>
        </p:spPr>
      </p:sp>
      <p:sp>
        <p:nvSpPr>
          <p:cNvPr id="11" name="Text 8"/>
          <p:cNvSpPr txBox="1"/>
          <p:nvPr/>
        </p:nvSpPr>
        <p:spPr>
          <a:xfrm>
            <a:off x="2587752" y="1280160"/>
            <a:ext cx="1828800" cy="274320"/>
          </a:xfrm>
          <a:prstGeom prst="rect">
            <a:avLst/>
          </a:prstGeom>
          <a:noFill/>
          <a:ln/>
        </p:spPr>
        <p:txBody>
          <a:bodyPr wrap="square" lIns="0" tIns="0" rIns="0" bIns="0" rtlCol="0" anchor="t"/>
          <a:lstStyle/>
          <a:p>
            <a:pPr marL="0" indent="0" algn="ctr">
              <a:buNone/>
            </a:pPr>
            <a:r>
              <a:rPr lang="en-US" sz="1400" b="1" dirty="0">
                <a:solidFill>
                  <a:srgbClr val="0F3D2E"/>
                </a:solidFill>
                <a:latin typeface="Calibri" pitchFamily="34" charset="0"/>
                <a:ea typeface="Calibri" pitchFamily="34" charset="-122"/>
                <a:cs typeface="Calibri" pitchFamily="34" charset="-120"/>
              </a:rPr>
              <a:t>Nginx</a:t>
            </a:r>
            <a:endParaRPr lang="en-US" sz="1400" dirty="0"/>
          </a:p>
        </p:txBody>
      </p:sp>
      <p:sp>
        <p:nvSpPr>
          <p:cNvPr id="12" name="Text 9"/>
          <p:cNvSpPr txBox="1"/>
          <p:nvPr/>
        </p:nvSpPr>
        <p:spPr>
          <a:xfrm>
            <a:off x="2679192" y="1600200"/>
            <a:ext cx="1645920" cy="365760"/>
          </a:xfrm>
          <a:prstGeom prst="rect">
            <a:avLst/>
          </a:prstGeom>
          <a:noFill/>
          <a:ln/>
        </p:spPr>
        <p:txBody>
          <a:bodyPr wrap="square" lIns="0" tIns="0" rIns="0" bIns="0" rtlCol="0" anchor="t"/>
          <a:lstStyle/>
          <a:p>
            <a:pPr marL="0" indent="0" algn="ctr">
              <a:buNone/>
            </a:pPr>
            <a:r>
              <a:rPr lang="en-US" sz="1050" dirty="0">
                <a:solidFill>
                  <a:srgbClr val="5F6F68"/>
                </a:solidFill>
                <a:latin typeface="Calibri" pitchFamily="34" charset="0"/>
                <a:ea typeface="Calibri" pitchFamily="34" charset="-122"/>
                <a:cs typeface="Calibri" pitchFamily="34" charset="-120"/>
              </a:rPr>
              <a:t>TLS · reverse proxy</a:t>
            </a:r>
            <a:endParaRPr lang="en-US" sz="1050" dirty="0"/>
          </a:p>
        </p:txBody>
      </p:sp>
      <p:sp>
        <p:nvSpPr>
          <p:cNvPr id="13" name="Shape 10"/>
          <p:cNvSpPr/>
          <p:nvPr/>
        </p:nvSpPr>
        <p:spPr>
          <a:xfrm>
            <a:off x="4443984" y="1623060"/>
            <a:ext cx="246888" cy="0"/>
          </a:xfrm>
          <a:prstGeom prst="line">
            <a:avLst/>
          </a:prstGeom>
          <a:noFill/>
          <a:ln w="19050">
            <a:solidFill>
              <a:srgbClr val="5F6F68"/>
            </a:solidFill>
            <a:prstDash val="solid"/>
            <a:tailEnd type="triangle"/>
          </a:ln>
        </p:spPr>
      </p:sp>
      <p:sp>
        <p:nvSpPr>
          <p:cNvPr id="14" name="Shape 11"/>
          <p:cNvSpPr/>
          <p:nvPr/>
        </p:nvSpPr>
        <p:spPr>
          <a:xfrm>
            <a:off x="4718304" y="1188720"/>
            <a:ext cx="1828800" cy="868680"/>
          </a:xfrm>
          <a:prstGeom prst="roundRect">
            <a:avLst>
              <a:gd name="adj" fmla="val 8421"/>
            </a:avLst>
          </a:prstGeom>
          <a:solidFill>
            <a:srgbClr val="EEF3F0"/>
          </a:solidFill>
          <a:ln w="12700">
            <a:solidFill>
              <a:srgbClr val="EEF3F0"/>
            </a:solidFill>
            <a:prstDash val="solid"/>
          </a:ln>
        </p:spPr>
      </p:sp>
      <p:sp>
        <p:nvSpPr>
          <p:cNvPr id="15" name="Text 12"/>
          <p:cNvSpPr txBox="1"/>
          <p:nvPr/>
        </p:nvSpPr>
        <p:spPr>
          <a:xfrm>
            <a:off x="4718304" y="1280160"/>
            <a:ext cx="1828800" cy="274320"/>
          </a:xfrm>
          <a:prstGeom prst="rect">
            <a:avLst/>
          </a:prstGeom>
          <a:noFill/>
          <a:ln/>
        </p:spPr>
        <p:txBody>
          <a:bodyPr wrap="square" lIns="0" tIns="0" rIns="0" bIns="0" rtlCol="0" anchor="t"/>
          <a:lstStyle/>
          <a:p>
            <a:pPr marL="0" indent="0" algn="ctr">
              <a:buNone/>
            </a:pPr>
            <a:r>
              <a:rPr lang="en-US" sz="1400" b="1" dirty="0">
                <a:solidFill>
                  <a:srgbClr val="0F3D2E"/>
                </a:solidFill>
                <a:latin typeface="Calibri" pitchFamily="34" charset="0"/>
                <a:ea typeface="Calibri" pitchFamily="34" charset="-122"/>
                <a:cs typeface="Calibri" pitchFamily="34" charset="-120"/>
              </a:rPr>
              <a:t>FastAPI</a:t>
            </a:r>
            <a:endParaRPr lang="en-US" sz="1400" dirty="0"/>
          </a:p>
        </p:txBody>
      </p:sp>
      <p:sp>
        <p:nvSpPr>
          <p:cNvPr id="16" name="Text 13"/>
          <p:cNvSpPr txBox="1"/>
          <p:nvPr/>
        </p:nvSpPr>
        <p:spPr>
          <a:xfrm>
            <a:off x="4809744" y="1600200"/>
            <a:ext cx="1645920" cy="365760"/>
          </a:xfrm>
          <a:prstGeom prst="rect">
            <a:avLst/>
          </a:prstGeom>
          <a:noFill/>
          <a:ln/>
        </p:spPr>
        <p:txBody>
          <a:bodyPr wrap="square" lIns="0" tIns="0" rIns="0" bIns="0" rtlCol="0" anchor="t"/>
          <a:lstStyle/>
          <a:p>
            <a:pPr marL="0" indent="0" algn="ctr">
              <a:buNone/>
            </a:pPr>
            <a:r>
              <a:rPr lang="en-US" sz="1050" dirty="0">
                <a:solidFill>
                  <a:srgbClr val="5F6F68"/>
                </a:solidFill>
                <a:latin typeface="Calibri" pitchFamily="34" charset="0"/>
                <a:ea typeface="Calibri" pitchFamily="34" charset="-122"/>
                <a:cs typeface="Calibri" pitchFamily="34" charset="-120"/>
              </a:rPr>
              <a:t>routes · auth · CSRF</a:t>
            </a:r>
            <a:endParaRPr lang="en-US" sz="1050" dirty="0"/>
          </a:p>
        </p:txBody>
      </p:sp>
      <p:sp>
        <p:nvSpPr>
          <p:cNvPr id="17" name="Shape 14"/>
          <p:cNvSpPr/>
          <p:nvPr/>
        </p:nvSpPr>
        <p:spPr>
          <a:xfrm>
            <a:off x="6574536" y="1623060"/>
            <a:ext cx="246888" cy="0"/>
          </a:xfrm>
          <a:prstGeom prst="line">
            <a:avLst/>
          </a:prstGeom>
          <a:noFill/>
          <a:ln w="19050">
            <a:solidFill>
              <a:srgbClr val="5F6F68"/>
            </a:solidFill>
            <a:prstDash val="solid"/>
            <a:tailEnd type="triangle"/>
          </a:ln>
        </p:spPr>
      </p:sp>
      <p:sp>
        <p:nvSpPr>
          <p:cNvPr id="18" name="Shape 15"/>
          <p:cNvSpPr/>
          <p:nvPr/>
        </p:nvSpPr>
        <p:spPr>
          <a:xfrm>
            <a:off x="6848856" y="1188720"/>
            <a:ext cx="1828800" cy="868680"/>
          </a:xfrm>
          <a:prstGeom prst="roundRect">
            <a:avLst>
              <a:gd name="adj" fmla="val 8421"/>
            </a:avLst>
          </a:prstGeom>
          <a:solidFill>
            <a:srgbClr val="0F3D2E"/>
          </a:solidFill>
          <a:ln w="12700">
            <a:solidFill>
              <a:srgbClr val="0F3D2E"/>
            </a:solidFill>
            <a:prstDash val="solid"/>
          </a:ln>
        </p:spPr>
      </p:sp>
      <p:sp>
        <p:nvSpPr>
          <p:cNvPr id="19" name="Text 16"/>
          <p:cNvSpPr txBox="1"/>
          <p:nvPr/>
        </p:nvSpPr>
        <p:spPr>
          <a:xfrm>
            <a:off x="6848856" y="1280160"/>
            <a:ext cx="1828800" cy="274320"/>
          </a:xfrm>
          <a:prstGeom prst="rect">
            <a:avLst/>
          </a:prstGeom>
          <a:noFill/>
          <a:ln/>
        </p:spPr>
        <p:txBody>
          <a:bodyPr wrap="square" lIns="0" tIns="0" rIns="0" bIns="0" rtlCol="0" anchor="t"/>
          <a:lstStyle/>
          <a:p>
            <a:pPr marL="0" indent="0" algn="ctr">
              <a:buNone/>
            </a:pPr>
            <a:r>
              <a:rPr lang="en-US" sz="1400" b="1" dirty="0">
                <a:solidFill>
                  <a:srgbClr val="D9B44A"/>
                </a:solidFill>
                <a:latin typeface="Calibri" pitchFamily="34" charset="0"/>
                <a:ea typeface="Calibri" pitchFamily="34" charset="-122"/>
                <a:cs typeface="Calibri" pitchFamily="34" charset="-120"/>
              </a:rPr>
              <a:t>Compiler core</a:t>
            </a:r>
            <a:endParaRPr lang="en-US" sz="1400" dirty="0"/>
          </a:p>
        </p:txBody>
      </p:sp>
      <p:sp>
        <p:nvSpPr>
          <p:cNvPr id="20" name="Text 17"/>
          <p:cNvSpPr txBox="1"/>
          <p:nvPr/>
        </p:nvSpPr>
        <p:spPr>
          <a:xfrm>
            <a:off x="6940296" y="1600200"/>
            <a:ext cx="1645920" cy="365760"/>
          </a:xfrm>
          <a:prstGeom prst="rect">
            <a:avLst/>
          </a:prstGeom>
          <a:noFill/>
          <a:ln/>
        </p:spPr>
        <p:txBody>
          <a:bodyPr wrap="square" lIns="0" tIns="0" rIns="0" bIns="0" rtlCol="0" anchor="t"/>
          <a:lstStyle/>
          <a:p>
            <a:pPr marL="0" indent="0" algn="ctr">
              <a:buNone/>
            </a:pPr>
            <a:r>
              <a:rPr lang="en-US" sz="1050" dirty="0">
                <a:solidFill>
                  <a:srgbClr val="FFFFFF"/>
                </a:solidFill>
                <a:latin typeface="Calibri" pitchFamily="34" charset="0"/>
                <a:ea typeface="Calibri" pitchFamily="34" charset="-122"/>
                <a:cs typeface="Calibri" pitchFamily="34" charset="-120"/>
              </a:rPr>
              <a:t>lexer · grammar · LL(1) · parser</a:t>
            </a:r>
            <a:endParaRPr lang="en-US" sz="1050" dirty="0"/>
          </a:p>
        </p:txBody>
      </p:sp>
      <p:sp>
        <p:nvSpPr>
          <p:cNvPr id="21" name="Shape 18"/>
          <p:cNvSpPr/>
          <p:nvPr/>
        </p:nvSpPr>
        <p:spPr>
          <a:xfrm>
            <a:off x="5641848" y="2084832"/>
            <a:ext cx="0" cy="320040"/>
          </a:xfrm>
          <a:prstGeom prst="line">
            <a:avLst/>
          </a:prstGeom>
          <a:noFill/>
          <a:ln w="19050">
            <a:solidFill>
              <a:srgbClr val="5F6F68"/>
            </a:solidFill>
            <a:prstDash val="solid"/>
            <a:tailEnd type="triangle"/>
          </a:ln>
        </p:spPr>
      </p:sp>
      <p:sp>
        <p:nvSpPr>
          <p:cNvPr id="22" name="Shape 19"/>
          <p:cNvSpPr/>
          <p:nvPr/>
        </p:nvSpPr>
        <p:spPr>
          <a:xfrm>
            <a:off x="4727448" y="2423160"/>
            <a:ext cx="1828800" cy="777240"/>
          </a:xfrm>
          <a:prstGeom prst="roundRect">
            <a:avLst>
              <a:gd name="adj" fmla="val 9412"/>
            </a:avLst>
          </a:prstGeom>
          <a:solidFill>
            <a:srgbClr val="E5EEE9"/>
          </a:solidFill>
          <a:ln w="12700">
            <a:solidFill>
              <a:srgbClr val="E5EEE9"/>
            </a:solidFill>
            <a:prstDash val="solid"/>
          </a:ln>
        </p:spPr>
      </p:sp>
      <p:sp>
        <p:nvSpPr>
          <p:cNvPr id="23" name="Text 20"/>
          <p:cNvSpPr txBox="1"/>
          <p:nvPr/>
        </p:nvSpPr>
        <p:spPr>
          <a:xfrm>
            <a:off x="4727448" y="2487168"/>
            <a:ext cx="1828800" cy="256032"/>
          </a:xfrm>
          <a:prstGeom prst="rect">
            <a:avLst/>
          </a:prstGeom>
          <a:noFill/>
          <a:ln/>
        </p:spPr>
        <p:txBody>
          <a:bodyPr wrap="square" lIns="0" tIns="0" rIns="0" bIns="0" rtlCol="0" anchor="t"/>
          <a:lstStyle/>
          <a:p>
            <a:pPr marL="0" indent="0" algn="ctr">
              <a:buNone/>
            </a:pPr>
            <a:r>
              <a:rPr lang="en-US" sz="1300" b="1" dirty="0">
                <a:solidFill>
                  <a:srgbClr val="0F3D2E"/>
                </a:solidFill>
                <a:latin typeface="Calibri" pitchFamily="34" charset="0"/>
                <a:ea typeface="Calibri" pitchFamily="34" charset="-122"/>
                <a:cs typeface="Calibri" pitchFamily="34" charset="-120"/>
              </a:rPr>
              <a:t>SQLite</a:t>
            </a:r>
            <a:endParaRPr lang="en-US" sz="1300" dirty="0"/>
          </a:p>
        </p:txBody>
      </p:sp>
      <p:sp>
        <p:nvSpPr>
          <p:cNvPr id="24" name="Text 21"/>
          <p:cNvSpPr txBox="1"/>
          <p:nvPr/>
        </p:nvSpPr>
        <p:spPr>
          <a:xfrm>
            <a:off x="4727448" y="2788920"/>
            <a:ext cx="1828800" cy="274320"/>
          </a:xfrm>
          <a:prstGeom prst="rect">
            <a:avLst/>
          </a:prstGeom>
          <a:noFill/>
          <a:ln/>
        </p:spPr>
        <p:txBody>
          <a:bodyPr wrap="square" lIns="0" tIns="0" rIns="0" bIns="0" rtlCol="0" anchor="t"/>
          <a:lstStyle/>
          <a:p>
            <a:pPr marL="0" indent="0" algn="ctr">
              <a:buNone/>
            </a:pPr>
            <a:r>
              <a:rPr lang="en-US" sz="1050" dirty="0">
                <a:solidFill>
                  <a:srgbClr val="5F6F68"/>
                </a:solidFill>
                <a:latin typeface="Calibri" pitchFamily="34" charset="0"/>
                <a:ea typeface="Calibri" pitchFamily="34" charset="-122"/>
                <a:cs typeface="Calibri" pitchFamily="34" charset="-120"/>
              </a:rPr>
              <a:t>users · corpus · snapshots</a:t>
            </a:r>
            <a:endParaRPr lang="en-US" sz="1050" dirty="0"/>
          </a:p>
        </p:txBody>
      </p:sp>
      <p:sp>
        <p:nvSpPr>
          <p:cNvPr id="25" name="Shape 22"/>
          <p:cNvSpPr/>
          <p:nvPr/>
        </p:nvSpPr>
        <p:spPr>
          <a:xfrm>
            <a:off x="457200" y="2423160"/>
            <a:ext cx="3977640" cy="777240"/>
          </a:xfrm>
          <a:prstGeom prst="roundRect">
            <a:avLst>
              <a:gd name="adj" fmla="val 9412"/>
            </a:avLst>
          </a:prstGeom>
          <a:solidFill>
            <a:srgbClr val="FBF3D9"/>
          </a:solidFill>
          <a:ln w="12700">
            <a:solidFill>
              <a:srgbClr val="FBF3D9"/>
            </a:solidFill>
            <a:prstDash val="solid"/>
          </a:ln>
        </p:spPr>
      </p:sp>
      <p:sp>
        <p:nvSpPr>
          <p:cNvPr id="26" name="Text 23"/>
          <p:cNvSpPr txBox="1"/>
          <p:nvPr/>
        </p:nvSpPr>
        <p:spPr>
          <a:xfrm>
            <a:off x="594360" y="2423160"/>
            <a:ext cx="3749040" cy="777240"/>
          </a:xfrm>
          <a:prstGeom prst="rect">
            <a:avLst/>
          </a:prstGeom>
          <a:noFill/>
          <a:ln/>
        </p:spPr>
        <p:txBody>
          <a:bodyPr wrap="square" lIns="0" tIns="0" rIns="0" bIns="0" rtlCol="0" anchor="ctr"/>
          <a:lstStyle/>
          <a:p>
            <a:pPr marL="0" indent="0">
              <a:buNone/>
            </a:pPr>
            <a:r>
              <a:rPr lang="en-US" sz="1200" b="1" dirty="0">
                <a:solidFill>
                  <a:srgbClr val="1F2A26"/>
                </a:solidFill>
                <a:latin typeface="Calibri" pitchFamily="34" charset="0"/>
                <a:ea typeface="Calibri" pitchFamily="34" charset="-122"/>
                <a:cs typeface="Calibri" pitchFamily="34" charset="-120"/>
              </a:rPr>
              <a:t>Derived analysis is never stored. </a:t>
            </a:r>
            <a:r>
              <a:rPr lang="en-US" sz="1200" dirty="0">
                <a:solidFill>
                  <a:srgbClr val="1F2A26"/>
                </a:solidFill>
                <a:latin typeface="Calibri" pitchFamily="34" charset="0"/>
                <a:ea typeface="Calibri" pitchFamily="34" charset="-122"/>
                <a:cs typeface="Calibri" pitchFamily="34" charset="-120"/>
              </a:rPr>
              <a:t>Results are recomputed on every request, so no stale verdicts.</a:t>
            </a:r>
            <a:endParaRPr lang="en-US" sz="1200" dirty="0"/>
          </a:p>
        </p:txBody>
      </p:sp>
      <p:sp>
        <p:nvSpPr>
          <p:cNvPr id="27" name="Text 24"/>
          <p:cNvSpPr txBox="1"/>
          <p:nvPr/>
        </p:nvSpPr>
        <p:spPr>
          <a:xfrm>
            <a:off x="6766560" y="2423160"/>
            <a:ext cx="1920240" cy="777240"/>
          </a:xfrm>
          <a:prstGeom prst="rect">
            <a:avLst/>
          </a:prstGeom>
          <a:noFill/>
          <a:ln/>
        </p:spPr>
        <p:txBody>
          <a:bodyPr wrap="square" lIns="0" tIns="0" rIns="0" bIns="0" rtlCol="0" anchor="ctr"/>
          <a:lstStyle/>
          <a:p>
            <a:pPr marL="0" indent="0">
              <a:buNone/>
            </a:pPr>
            <a:r>
              <a:rPr lang="en-US" sz="1100" i="1" dirty="0">
                <a:solidFill>
                  <a:srgbClr val="5F6F68"/>
                </a:solidFill>
                <a:latin typeface="Calibri" pitchFamily="34" charset="0"/>
                <a:ea typeface="Calibri" pitchFamily="34" charset="-122"/>
                <a:cs typeface="Calibri" pitchFamily="34" charset="-120"/>
              </a:rPr>
              <a:t>core/ needs only the standard library + pydantic</a:t>
            </a:r>
            <a:endParaRPr lang="en-US" sz="1100" dirty="0"/>
          </a:p>
        </p:txBody>
      </p:sp>
      <p:sp>
        <p:nvSpPr>
          <p:cNvPr id="28" name="Text 25"/>
          <p:cNvSpPr txBox="1"/>
          <p:nvPr/>
        </p:nvSpPr>
        <p:spPr>
          <a:xfrm>
            <a:off x="457200" y="3429000"/>
            <a:ext cx="8229600" cy="256032"/>
          </a:xfrm>
          <a:prstGeom prst="rect">
            <a:avLst/>
          </a:prstGeom>
          <a:noFill/>
          <a:ln/>
        </p:spPr>
        <p:txBody>
          <a:bodyPr wrap="square" lIns="0" tIns="0" rIns="0" bIns="0" rtlCol="0" anchor="t"/>
          <a:lstStyle/>
          <a:p>
            <a:pPr marL="0" indent="0">
              <a:buNone/>
            </a:pPr>
            <a:r>
              <a:rPr lang="en-US" sz="1500" b="1" dirty="0">
                <a:solidFill>
                  <a:srgbClr val="1B6B4F"/>
                </a:solidFill>
                <a:latin typeface="Cambria" pitchFamily="34" charset="0"/>
                <a:ea typeface="Cambria" pitchFamily="34" charset="-122"/>
                <a:cs typeface="Cambria" pitchFamily="34" charset="-120"/>
              </a:rPr>
              <a:t>Pipeline: each stage is a pure function over immutable data</a:t>
            </a:r>
            <a:endParaRPr lang="en-US" sz="1500" dirty="0"/>
          </a:p>
        </p:txBody>
      </p:sp>
      <p:sp>
        <p:nvSpPr>
          <p:cNvPr id="29" name="Shape 26"/>
          <p:cNvSpPr/>
          <p:nvPr/>
        </p:nvSpPr>
        <p:spPr>
          <a:xfrm>
            <a:off x="457200" y="3840480"/>
            <a:ext cx="1417320" cy="548640"/>
          </a:xfrm>
          <a:prstGeom prst="roundRect">
            <a:avLst>
              <a:gd name="adj" fmla="val 50000"/>
            </a:avLst>
          </a:prstGeom>
          <a:solidFill>
            <a:srgbClr val="1B6B4F"/>
          </a:solidFill>
          <a:ln w="12700">
            <a:solidFill>
              <a:srgbClr val="1B6B4F"/>
            </a:solidFill>
            <a:prstDash val="solid"/>
          </a:ln>
        </p:spPr>
      </p:sp>
      <p:sp>
        <p:nvSpPr>
          <p:cNvPr id="30" name="Text 27"/>
          <p:cNvSpPr txBox="1"/>
          <p:nvPr/>
        </p:nvSpPr>
        <p:spPr>
          <a:xfrm>
            <a:off x="457200" y="3840480"/>
            <a:ext cx="141732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scan</a:t>
            </a:r>
            <a:endParaRPr lang="en-US" sz="1400" dirty="0"/>
          </a:p>
        </p:txBody>
      </p:sp>
      <p:sp>
        <p:nvSpPr>
          <p:cNvPr id="31" name="Shape 28"/>
          <p:cNvSpPr/>
          <p:nvPr/>
        </p:nvSpPr>
        <p:spPr>
          <a:xfrm>
            <a:off x="1892808" y="4114800"/>
            <a:ext cx="237744" cy="0"/>
          </a:xfrm>
          <a:prstGeom prst="line">
            <a:avLst/>
          </a:prstGeom>
          <a:noFill/>
          <a:ln w="19050">
            <a:solidFill>
              <a:srgbClr val="5F6F68"/>
            </a:solidFill>
            <a:prstDash val="solid"/>
            <a:tailEnd type="triangle"/>
          </a:ln>
        </p:spPr>
      </p:sp>
      <p:sp>
        <p:nvSpPr>
          <p:cNvPr id="32" name="Shape 29"/>
          <p:cNvSpPr/>
          <p:nvPr/>
        </p:nvSpPr>
        <p:spPr>
          <a:xfrm>
            <a:off x="2148840" y="3840480"/>
            <a:ext cx="1417320" cy="548640"/>
          </a:xfrm>
          <a:prstGeom prst="roundRect">
            <a:avLst>
              <a:gd name="adj" fmla="val 50000"/>
            </a:avLst>
          </a:prstGeom>
          <a:solidFill>
            <a:srgbClr val="1B6B4F"/>
          </a:solidFill>
          <a:ln w="12700">
            <a:solidFill>
              <a:srgbClr val="1B6B4F"/>
            </a:solidFill>
            <a:prstDash val="solid"/>
          </a:ln>
        </p:spPr>
      </p:sp>
      <p:sp>
        <p:nvSpPr>
          <p:cNvPr id="33" name="Text 30"/>
          <p:cNvSpPr txBox="1"/>
          <p:nvPr/>
        </p:nvSpPr>
        <p:spPr>
          <a:xfrm>
            <a:off x="2148840" y="3840480"/>
            <a:ext cx="141732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lex</a:t>
            </a:r>
            <a:endParaRPr lang="en-US" sz="1400" dirty="0"/>
          </a:p>
        </p:txBody>
      </p:sp>
      <p:sp>
        <p:nvSpPr>
          <p:cNvPr id="34" name="Shape 31"/>
          <p:cNvSpPr/>
          <p:nvPr/>
        </p:nvSpPr>
        <p:spPr>
          <a:xfrm>
            <a:off x="3584448" y="4114800"/>
            <a:ext cx="237744" cy="0"/>
          </a:xfrm>
          <a:prstGeom prst="line">
            <a:avLst/>
          </a:prstGeom>
          <a:noFill/>
          <a:ln w="19050">
            <a:solidFill>
              <a:srgbClr val="5F6F68"/>
            </a:solidFill>
            <a:prstDash val="solid"/>
            <a:tailEnd type="triangle"/>
          </a:ln>
        </p:spPr>
      </p:sp>
      <p:sp>
        <p:nvSpPr>
          <p:cNvPr id="35" name="Shape 32"/>
          <p:cNvSpPr/>
          <p:nvPr/>
        </p:nvSpPr>
        <p:spPr>
          <a:xfrm>
            <a:off x="3840480" y="3840480"/>
            <a:ext cx="1417320" cy="548640"/>
          </a:xfrm>
          <a:prstGeom prst="roundRect">
            <a:avLst>
              <a:gd name="adj" fmla="val 50000"/>
            </a:avLst>
          </a:prstGeom>
          <a:solidFill>
            <a:srgbClr val="1B6B4F"/>
          </a:solidFill>
          <a:ln w="12700">
            <a:solidFill>
              <a:srgbClr val="1B6B4F"/>
            </a:solidFill>
            <a:prstDash val="solid"/>
          </a:ln>
        </p:spPr>
      </p:sp>
      <p:sp>
        <p:nvSpPr>
          <p:cNvPr id="36" name="Text 33"/>
          <p:cNvSpPr txBox="1"/>
          <p:nvPr/>
        </p:nvSpPr>
        <p:spPr>
          <a:xfrm>
            <a:off x="3840480" y="3840480"/>
            <a:ext cx="141732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prepare</a:t>
            </a:r>
            <a:endParaRPr lang="en-US" sz="1400" dirty="0"/>
          </a:p>
        </p:txBody>
      </p:sp>
      <p:sp>
        <p:nvSpPr>
          <p:cNvPr id="37" name="Shape 34"/>
          <p:cNvSpPr/>
          <p:nvPr/>
        </p:nvSpPr>
        <p:spPr>
          <a:xfrm>
            <a:off x="5276088" y="4114800"/>
            <a:ext cx="237744" cy="0"/>
          </a:xfrm>
          <a:prstGeom prst="line">
            <a:avLst/>
          </a:prstGeom>
          <a:noFill/>
          <a:ln w="19050">
            <a:solidFill>
              <a:srgbClr val="5F6F68"/>
            </a:solidFill>
            <a:prstDash val="solid"/>
            <a:tailEnd type="triangle"/>
          </a:ln>
        </p:spPr>
      </p:sp>
      <p:sp>
        <p:nvSpPr>
          <p:cNvPr id="38" name="Shape 35"/>
          <p:cNvSpPr/>
          <p:nvPr/>
        </p:nvSpPr>
        <p:spPr>
          <a:xfrm>
            <a:off x="5532120" y="3840480"/>
            <a:ext cx="1417320" cy="548640"/>
          </a:xfrm>
          <a:prstGeom prst="roundRect">
            <a:avLst>
              <a:gd name="adj" fmla="val 50000"/>
            </a:avLst>
          </a:prstGeom>
          <a:solidFill>
            <a:srgbClr val="1B6B4F"/>
          </a:solidFill>
          <a:ln w="12700">
            <a:solidFill>
              <a:srgbClr val="1B6B4F"/>
            </a:solidFill>
            <a:prstDash val="solid"/>
          </a:ln>
        </p:spPr>
      </p:sp>
      <p:sp>
        <p:nvSpPr>
          <p:cNvPr id="39" name="Text 36"/>
          <p:cNvSpPr txBox="1"/>
          <p:nvPr/>
        </p:nvSpPr>
        <p:spPr>
          <a:xfrm>
            <a:off x="5532120" y="3840480"/>
            <a:ext cx="141732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parse</a:t>
            </a:r>
            <a:endParaRPr lang="en-US" sz="1400" dirty="0"/>
          </a:p>
        </p:txBody>
      </p:sp>
      <p:sp>
        <p:nvSpPr>
          <p:cNvPr id="40" name="Shape 37"/>
          <p:cNvSpPr/>
          <p:nvPr/>
        </p:nvSpPr>
        <p:spPr>
          <a:xfrm>
            <a:off x="6967728" y="4114800"/>
            <a:ext cx="237744" cy="0"/>
          </a:xfrm>
          <a:prstGeom prst="line">
            <a:avLst/>
          </a:prstGeom>
          <a:noFill/>
          <a:ln w="19050">
            <a:solidFill>
              <a:srgbClr val="5F6F68"/>
            </a:solidFill>
            <a:prstDash val="solid"/>
            <a:tailEnd type="triangle"/>
          </a:ln>
        </p:spPr>
      </p:sp>
      <p:sp>
        <p:nvSpPr>
          <p:cNvPr id="41" name="Shape 38"/>
          <p:cNvSpPr/>
          <p:nvPr/>
        </p:nvSpPr>
        <p:spPr>
          <a:xfrm>
            <a:off x="7223760" y="3840480"/>
            <a:ext cx="1417320" cy="548640"/>
          </a:xfrm>
          <a:prstGeom prst="roundRect">
            <a:avLst>
              <a:gd name="adj" fmla="val 50000"/>
            </a:avLst>
          </a:prstGeom>
          <a:solidFill>
            <a:srgbClr val="1B6B4F"/>
          </a:solidFill>
          <a:ln w="12700">
            <a:solidFill>
              <a:srgbClr val="1B6B4F"/>
            </a:solidFill>
            <a:prstDash val="solid"/>
          </a:ln>
        </p:spPr>
      </p:sp>
      <p:sp>
        <p:nvSpPr>
          <p:cNvPr id="42" name="Text 39"/>
          <p:cNvSpPr txBox="1"/>
          <p:nvPr/>
        </p:nvSpPr>
        <p:spPr>
          <a:xfrm>
            <a:off x="7223760" y="3840480"/>
            <a:ext cx="141732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analyse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Data collection and provenance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5</a:t>
            </a:r>
            <a:endParaRPr lang="en-US" sz="900" dirty="0"/>
          </a:p>
        </p:txBody>
      </p:sp>
      <p:sp>
        <p:nvSpPr>
          <p:cNvPr id="6" name="Shape 3"/>
          <p:cNvSpPr/>
          <p:nvPr/>
        </p:nvSpPr>
        <p:spPr>
          <a:xfrm>
            <a:off x="457200" y="1143000"/>
            <a:ext cx="1920240" cy="1691640"/>
          </a:xfrm>
          <a:prstGeom prst="roundRect">
            <a:avLst>
              <a:gd name="adj" fmla="val 4324"/>
            </a:avLst>
          </a:prstGeom>
          <a:solidFill>
            <a:srgbClr val="EEF3F0"/>
          </a:solidFill>
          <a:ln w="12700">
            <a:solidFill>
              <a:srgbClr val="EEF3F0"/>
            </a:solidFill>
            <a:prstDash val="solid"/>
          </a:ln>
        </p:spPr>
      </p:sp>
      <p:sp>
        <p:nvSpPr>
          <p:cNvPr id="7" name="Shape 4"/>
          <p:cNvSpPr/>
          <p:nvPr/>
        </p:nvSpPr>
        <p:spPr>
          <a:xfrm>
            <a:off x="594360" y="1280160"/>
            <a:ext cx="384048" cy="384048"/>
          </a:xfrm>
          <a:prstGeom prst="ellipse">
            <a:avLst/>
          </a:prstGeom>
          <a:solidFill>
            <a:srgbClr val="1B6B4F"/>
          </a:solidFill>
          <a:ln w="12700">
            <a:solidFill>
              <a:srgbClr val="1B6B4F"/>
            </a:solidFill>
            <a:prstDash val="solid"/>
          </a:ln>
        </p:spPr>
      </p:sp>
      <p:sp>
        <p:nvSpPr>
          <p:cNvPr id="8" name="Text 5"/>
          <p:cNvSpPr txBox="1"/>
          <p:nvPr/>
        </p:nvSpPr>
        <p:spPr>
          <a:xfrm>
            <a:off x="594360" y="12801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594360" y="1783080"/>
            <a:ext cx="1691640" cy="274320"/>
          </a:xfrm>
          <a:prstGeom prst="rect">
            <a:avLst/>
          </a:prstGeom>
          <a:noFill/>
          <a:ln/>
        </p:spPr>
        <p:txBody>
          <a:bodyPr wrap="square" lIns="0" tIns="0" rIns="0" bIns="0" rtlCol="0" anchor="t"/>
          <a:lstStyle/>
          <a:p>
            <a:pPr marL="0" indent="0">
              <a:buNone/>
            </a:pPr>
            <a:r>
              <a:rPr lang="en-US" sz="1350" b="1" dirty="0">
                <a:solidFill>
                  <a:srgbClr val="0F3D2E"/>
                </a:solidFill>
                <a:latin typeface="Calibri" pitchFamily="34" charset="0"/>
                <a:ea typeface="Calibri" pitchFamily="34" charset="-122"/>
                <a:cs typeface="Calibri" pitchFamily="34" charset="-120"/>
              </a:rPr>
              <a:t>Listen</a:t>
            </a:r>
            <a:endParaRPr lang="en-US" sz="1350" dirty="0"/>
          </a:p>
        </p:txBody>
      </p:sp>
      <p:sp>
        <p:nvSpPr>
          <p:cNvPr id="10" name="Text 7"/>
          <p:cNvSpPr txBox="1"/>
          <p:nvPr/>
        </p:nvSpPr>
        <p:spPr>
          <a:xfrm>
            <a:off x="594360" y="2084832"/>
            <a:ext cx="1691640" cy="731520"/>
          </a:xfrm>
          <a:prstGeom prst="rect">
            <a:avLst/>
          </a:prstGeom>
          <a:noFill/>
          <a:ln/>
        </p:spPr>
        <p:txBody>
          <a:bodyPr wrap="square" lIns="0" tIns="0" rIns="0" bIns="0" rtlCol="0" anchor="t"/>
          <a:lstStyle/>
          <a:p>
            <a:pPr marL="0" indent="0">
              <a:buNone/>
            </a:pPr>
            <a:r>
              <a:rPr lang="en-US" sz="1100" dirty="0">
                <a:solidFill>
                  <a:srgbClr val="1F2A26"/>
                </a:solidFill>
                <a:latin typeface="Calibri" pitchFamily="34" charset="0"/>
                <a:ea typeface="Calibri" pitchFamily="34" charset="-122"/>
                <a:cs typeface="Calibri" pitchFamily="34" charset="-120"/>
              </a:rPr>
              <a:t>Taxis, chop houses, stalls, bendskin ranks, the university</a:t>
            </a:r>
            <a:endParaRPr lang="en-US" sz="1100" dirty="0"/>
          </a:p>
        </p:txBody>
      </p:sp>
      <p:sp>
        <p:nvSpPr>
          <p:cNvPr id="11" name="Shape 8"/>
          <p:cNvSpPr/>
          <p:nvPr/>
        </p:nvSpPr>
        <p:spPr>
          <a:xfrm>
            <a:off x="2560320" y="1143000"/>
            <a:ext cx="1920240" cy="1691640"/>
          </a:xfrm>
          <a:prstGeom prst="roundRect">
            <a:avLst>
              <a:gd name="adj" fmla="val 4324"/>
            </a:avLst>
          </a:prstGeom>
          <a:solidFill>
            <a:srgbClr val="EEF3F0"/>
          </a:solidFill>
          <a:ln w="12700">
            <a:solidFill>
              <a:srgbClr val="EEF3F0"/>
            </a:solidFill>
            <a:prstDash val="solid"/>
          </a:ln>
        </p:spPr>
      </p:sp>
      <p:sp>
        <p:nvSpPr>
          <p:cNvPr id="12" name="Shape 9"/>
          <p:cNvSpPr/>
          <p:nvPr/>
        </p:nvSpPr>
        <p:spPr>
          <a:xfrm>
            <a:off x="2697480" y="1280160"/>
            <a:ext cx="384048" cy="384048"/>
          </a:xfrm>
          <a:prstGeom prst="ellipse">
            <a:avLst/>
          </a:prstGeom>
          <a:solidFill>
            <a:srgbClr val="1B6B4F"/>
          </a:solidFill>
          <a:ln w="12700">
            <a:solidFill>
              <a:srgbClr val="1B6B4F"/>
            </a:solidFill>
            <a:prstDash val="solid"/>
          </a:ln>
        </p:spPr>
      </p:sp>
      <p:sp>
        <p:nvSpPr>
          <p:cNvPr id="13" name="Text 10"/>
          <p:cNvSpPr txBox="1"/>
          <p:nvPr/>
        </p:nvSpPr>
        <p:spPr>
          <a:xfrm>
            <a:off x="2697480" y="12801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2697480" y="1783080"/>
            <a:ext cx="1691640" cy="274320"/>
          </a:xfrm>
          <a:prstGeom prst="rect">
            <a:avLst/>
          </a:prstGeom>
          <a:noFill/>
          <a:ln/>
        </p:spPr>
        <p:txBody>
          <a:bodyPr wrap="square" lIns="0" tIns="0" rIns="0" bIns="0" rtlCol="0" anchor="t"/>
          <a:lstStyle/>
          <a:p>
            <a:pPr marL="0" indent="0">
              <a:buNone/>
            </a:pPr>
            <a:r>
              <a:rPr lang="en-US" sz="1350" b="1" dirty="0">
                <a:solidFill>
                  <a:srgbClr val="0F3D2E"/>
                </a:solidFill>
                <a:latin typeface="Calibri" pitchFamily="34" charset="0"/>
                <a:ea typeface="Calibri" pitchFamily="34" charset="-122"/>
                <a:cs typeface="Calibri" pitchFamily="34" charset="-120"/>
              </a:rPr>
              <a:t>Write exact words</a:t>
            </a:r>
            <a:endParaRPr lang="en-US" sz="1350" dirty="0"/>
          </a:p>
        </p:txBody>
      </p:sp>
      <p:sp>
        <p:nvSpPr>
          <p:cNvPr id="15" name="Text 12"/>
          <p:cNvSpPr txBox="1"/>
          <p:nvPr/>
        </p:nvSpPr>
        <p:spPr>
          <a:xfrm>
            <a:off x="2697480" y="2084832"/>
            <a:ext cx="1691640" cy="731520"/>
          </a:xfrm>
          <a:prstGeom prst="rect">
            <a:avLst/>
          </a:prstGeom>
          <a:noFill/>
          <a:ln/>
        </p:spPr>
        <p:txBody>
          <a:bodyPr wrap="square" lIns="0" tIns="0" rIns="0" bIns="0" rtlCol="0" anchor="t"/>
          <a:lstStyle/>
          <a:p>
            <a:pPr marL="0" indent="0">
              <a:buNone/>
            </a:pPr>
            <a:r>
              <a:rPr lang="en-US" sz="1100" dirty="0">
                <a:solidFill>
                  <a:srgbClr val="1F2A26"/>
                </a:solidFill>
                <a:latin typeface="Calibri" pitchFamily="34" charset="0"/>
                <a:ea typeface="Calibri" pitchFamily="34" charset="-122"/>
                <a:cs typeface="Calibri" pitchFamily="34" charset="-120"/>
              </a:rPr>
              <a:t>Slang, code-mixing, accents, mistakes. No cleaning, no translation</a:t>
            </a:r>
            <a:endParaRPr lang="en-US" sz="1100" dirty="0"/>
          </a:p>
        </p:txBody>
      </p:sp>
      <p:sp>
        <p:nvSpPr>
          <p:cNvPr id="16" name="Shape 13"/>
          <p:cNvSpPr/>
          <p:nvPr/>
        </p:nvSpPr>
        <p:spPr>
          <a:xfrm>
            <a:off x="4663440" y="1143000"/>
            <a:ext cx="1920240" cy="1691640"/>
          </a:xfrm>
          <a:prstGeom prst="roundRect">
            <a:avLst>
              <a:gd name="adj" fmla="val 4324"/>
            </a:avLst>
          </a:prstGeom>
          <a:solidFill>
            <a:srgbClr val="EEF3F0"/>
          </a:solidFill>
          <a:ln w="12700">
            <a:solidFill>
              <a:srgbClr val="EEF3F0"/>
            </a:solidFill>
            <a:prstDash val="solid"/>
          </a:ln>
        </p:spPr>
      </p:sp>
      <p:sp>
        <p:nvSpPr>
          <p:cNvPr id="17" name="Shape 14"/>
          <p:cNvSpPr/>
          <p:nvPr/>
        </p:nvSpPr>
        <p:spPr>
          <a:xfrm>
            <a:off x="4800600" y="1280160"/>
            <a:ext cx="384048" cy="384048"/>
          </a:xfrm>
          <a:prstGeom prst="ellipse">
            <a:avLst/>
          </a:prstGeom>
          <a:solidFill>
            <a:srgbClr val="1B6B4F"/>
          </a:solidFill>
          <a:ln w="12700">
            <a:solidFill>
              <a:srgbClr val="1B6B4F"/>
            </a:solidFill>
            <a:prstDash val="solid"/>
          </a:ln>
        </p:spPr>
      </p:sp>
      <p:sp>
        <p:nvSpPr>
          <p:cNvPr id="18" name="Text 15"/>
          <p:cNvSpPr txBox="1"/>
          <p:nvPr/>
        </p:nvSpPr>
        <p:spPr>
          <a:xfrm>
            <a:off x="4800600" y="12801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4800600" y="1783080"/>
            <a:ext cx="1691640" cy="274320"/>
          </a:xfrm>
          <a:prstGeom prst="rect">
            <a:avLst/>
          </a:prstGeom>
          <a:noFill/>
          <a:ln/>
        </p:spPr>
        <p:txBody>
          <a:bodyPr wrap="square" lIns="0" tIns="0" rIns="0" bIns="0" rtlCol="0" anchor="t"/>
          <a:lstStyle/>
          <a:p>
            <a:pPr marL="0" indent="0">
              <a:buNone/>
            </a:pPr>
            <a:r>
              <a:rPr lang="en-US" sz="1350" b="1" dirty="0">
                <a:solidFill>
                  <a:srgbClr val="0F3D2E"/>
                </a:solidFill>
                <a:latin typeface="Calibri" pitchFamily="34" charset="0"/>
                <a:ea typeface="Calibri" pitchFamily="34" charset="-122"/>
                <a:cs typeface="Calibri" pitchFamily="34" charset="-120"/>
              </a:rPr>
              <a:t>Cross-check</a:t>
            </a:r>
            <a:endParaRPr lang="en-US" sz="1350" dirty="0"/>
          </a:p>
        </p:txBody>
      </p:sp>
      <p:sp>
        <p:nvSpPr>
          <p:cNvPr id="20" name="Text 17"/>
          <p:cNvSpPr txBox="1"/>
          <p:nvPr/>
        </p:nvSpPr>
        <p:spPr>
          <a:xfrm>
            <a:off x="4800600" y="2084832"/>
            <a:ext cx="1691640" cy="731520"/>
          </a:xfrm>
          <a:prstGeom prst="rect">
            <a:avLst/>
          </a:prstGeom>
          <a:noFill/>
          <a:ln/>
        </p:spPr>
        <p:txBody>
          <a:bodyPr wrap="square" lIns="0" tIns="0" rIns="0" bIns="0" rtlCol="0" anchor="t"/>
          <a:lstStyle/>
          <a:p>
            <a:pPr marL="0" indent="0">
              <a:buNone/>
            </a:pPr>
            <a:r>
              <a:rPr lang="en-US" sz="1100" dirty="0">
                <a:solidFill>
                  <a:srgbClr val="1F2A26"/>
                </a:solidFill>
                <a:latin typeface="Calibri" pitchFamily="34" charset="0"/>
                <a:ea typeface="Calibri" pitchFamily="34" charset="-122"/>
                <a:cs typeface="Calibri" pitchFamily="34" charset="-120"/>
              </a:rPr>
              <a:t>A second Francanglais-familiar member verifies; disagreements recorded</a:t>
            </a:r>
            <a:endParaRPr lang="en-US" sz="1100" dirty="0"/>
          </a:p>
        </p:txBody>
      </p:sp>
      <p:sp>
        <p:nvSpPr>
          <p:cNvPr id="21" name="Shape 18"/>
          <p:cNvSpPr/>
          <p:nvPr/>
        </p:nvSpPr>
        <p:spPr>
          <a:xfrm>
            <a:off x="6766560" y="1143000"/>
            <a:ext cx="1920240" cy="1691640"/>
          </a:xfrm>
          <a:prstGeom prst="roundRect">
            <a:avLst>
              <a:gd name="adj" fmla="val 4324"/>
            </a:avLst>
          </a:prstGeom>
          <a:solidFill>
            <a:srgbClr val="EEF3F0"/>
          </a:solidFill>
          <a:ln w="12700">
            <a:solidFill>
              <a:srgbClr val="EEF3F0"/>
            </a:solidFill>
            <a:prstDash val="solid"/>
          </a:ln>
        </p:spPr>
      </p:sp>
      <p:sp>
        <p:nvSpPr>
          <p:cNvPr id="22" name="Shape 19"/>
          <p:cNvSpPr/>
          <p:nvPr/>
        </p:nvSpPr>
        <p:spPr>
          <a:xfrm>
            <a:off x="6903720" y="1280160"/>
            <a:ext cx="384048" cy="384048"/>
          </a:xfrm>
          <a:prstGeom prst="ellipse">
            <a:avLst/>
          </a:prstGeom>
          <a:solidFill>
            <a:srgbClr val="1B6B4F"/>
          </a:solidFill>
          <a:ln w="12700">
            <a:solidFill>
              <a:srgbClr val="1B6B4F"/>
            </a:solidFill>
            <a:prstDash val="solid"/>
          </a:ln>
        </p:spPr>
      </p:sp>
      <p:sp>
        <p:nvSpPr>
          <p:cNvPr id="23" name="Text 20"/>
          <p:cNvSpPr txBox="1"/>
          <p:nvPr/>
        </p:nvSpPr>
        <p:spPr>
          <a:xfrm>
            <a:off x="6903720" y="12801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6903720" y="1783080"/>
            <a:ext cx="1691640" cy="274320"/>
          </a:xfrm>
          <a:prstGeom prst="rect">
            <a:avLst/>
          </a:prstGeom>
          <a:noFill/>
          <a:ln/>
        </p:spPr>
        <p:txBody>
          <a:bodyPr wrap="square" lIns="0" tIns="0" rIns="0" bIns="0" rtlCol="0" anchor="t"/>
          <a:lstStyle/>
          <a:p>
            <a:pPr marL="0" indent="0">
              <a:buNone/>
            </a:pPr>
            <a:r>
              <a:rPr lang="en-US" sz="1350" b="1" dirty="0">
                <a:solidFill>
                  <a:srgbClr val="0F3D2E"/>
                </a:solidFill>
                <a:latin typeface="Calibri" pitchFamily="34" charset="0"/>
                <a:ea typeface="Calibri" pitchFamily="34" charset="-122"/>
                <a:cs typeface="Calibri" pitchFamily="34" charset="-120"/>
              </a:rPr>
              <a:t>Consent</a:t>
            </a:r>
            <a:endParaRPr lang="en-US" sz="1350" dirty="0"/>
          </a:p>
        </p:txBody>
      </p:sp>
      <p:sp>
        <p:nvSpPr>
          <p:cNvPr id="25" name="Text 22"/>
          <p:cNvSpPr txBox="1"/>
          <p:nvPr/>
        </p:nvSpPr>
        <p:spPr>
          <a:xfrm>
            <a:off x="6903720" y="2084832"/>
            <a:ext cx="1691640" cy="731520"/>
          </a:xfrm>
          <a:prstGeom prst="rect">
            <a:avLst/>
          </a:prstGeom>
          <a:noFill/>
          <a:ln/>
        </p:spPr>
        <p:txBody>
          <a:bodyPr wrap="square" lIns="0" tIns="0" rIns="0" bIns="0" rtlCol="0" anchor="t"/>
          <a:lstStyle/>
          <a:p>
            <a:pPr marL="0" indent="0">
              <a:buNone/>
            </a:pPr>
            <a:r>
              <a:rPr lang="en-US" sz="1100" dirty="0">
                <a:solidFill>
                  <a:srgbClr val="1F2A26"/>
                </a:solidFill>
                <a:latin typeface="Calibri" pitchFamily="34" charset="0"/>
                <a:ea typeface="Calibri" pitchFamily="34" charset="-122"/>
                <a:cs typeface="Calibri" pitchFamily="34" charset="-120"/>
              </a:rPr>
              <a:t>Explain the coursework, get permission, use anonymous identifiers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3063240"/>
          <a:ext cx="5120640" cy="1508760"/>
        </p:xfrm>
        <a:graphic>
          <a:graphicData uri="http://schemas.openxmlformats.org/drawingml/2006/table">
            <a:tbl>
              <a:tblPr/>
              <a:tblGrid>
                <a:gridCol w="22860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27432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Collector</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Matricule</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Collected</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extLst>
                  <a:ext uri="{0D108BD9-81ED-4DB2-BD59-A6C34878D82A}">
                    <a16:rowId xmlns:a16="http://schemas.microsoft.com/office/drawing/2014/main" val="10000"/>
                  </a:ext>
                </a:extLst>
              </a:tr>
              <a:tr h="27432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Eyong Seanna Tabe</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ICTU20241297</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Kamdeu Yamdjeuson Neil Marshall</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ICTU20241386</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Tuheu Tchoubi Pempeme Moussa Fahdil</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ICTU20241393</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050" b="1" dirty="0">
                          <a:solidFill>
                            <a:srgbClr val="1F2A26"/>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b="1" dirty="0">
                          <a:solidFill>
                            <a:srgbClr val="1F2A26"/>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b="1" dirty="0">
                          <a:solidFill>
                            <a:srgbClr val="1F2A26"/>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7" name="Shape 23"/>
          <p:cNvSpPr/>
          <p:nvPr/>
        </p:nvSpPr>
        <p:spPr>
          <a:xfrm>
            <a:off x="5806440" y="3063240"/>
            <a:ext cx="2880360" cy="1463040"/>
          </a:xfrm>
          <a:prstGeom prst="roundRect">
            <a:avLst>
              <a:gd name="adj" fmla="val 5000"/>
            </a:avLst>
          </a:prstGeom>
          <a:solidFill>
            <a:srgbClr val="0F3D2E"/>
          </a:solidFill>
          <a:ln w="12700">
            <a:solidFill>
              <a:srgbClr val="0F3D2E"/>
            </a:solidFill>
            <a:prstDash val="solid"/>
          </a:ln>
        </p:spPr>
      </p:sp>
      <p:sp>
        <p:nvSpPr>
          <p:cNvPr id="28" name="Text 24"/>
          <p:cNvSpPr txBox="1"/>
          <p:nvPr/>
        </p:nvSpPr>
        <p:spPr>
          <a:xfrm>
            <a:off x="5943600" y="3154680"/>
            <a:ext cx="2606040" cy="457200"/>
          </a:xfrm>
          <a:prstGeom prst="rect">
            <a:avLst/>
          </a:prstGeom>
          <a:noFill/>
          <a:ln/>
        </p:spPr>
        <p:txBody>
          <a:bodyPr wrap="square" lIns="0" tIns="0" rIns="0" bIns="0" rtlCol="0" anchor="t"/>
          <a:lstStyle/>
          <a:p>
            <a:pPr marL="0" indent="0">
              <a:buNone/>
            </a:pPr>
            <a:r>
              <a:rPr lang="en-US" sz="1300" b="1" dirty="0">
                <a:solidFill>
                  <a:srgbClr val="D9B44A"/>
                </a:solidFill>
                <a:latin typeface="Calibri" pitchFamily="34" charset="0"/>
                <a:ea typeface="Calibri" pitchFamily="34" charset="-122"/>
                <a:cs typeface="Calibri" pitchFamily="34" charset="-120"/>
              </a:rPr>
              <a:t>Provenance is a validated invariant</a:t>
            </a:r>
            <a:endParaRPr lang="en-US" sz="1300" dirty="0"/>
          </a:p>
        </p:txBody>
      </p:sp>
      <p:sp>
        <p:nvSpPr>
          <p:cNvPr id="29" name="Text 25"/>
          <p:cNvSpPr txBox="1"/>
          <p:nvPr/>
        </p:nvSpPr>
        <p:spPr>
          <a:xfrm>
            <a:off x="5943600" y="3611880"/>
            <a:ext cx="2606040" cy="86868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A field statement without a manual-transcription attestation cannot enter the graded corpus. All 22 carry it; tests fail the build if any loses it.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Lexical analysis: scanner and lexer</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420624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Span kind</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Matches</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extLst>
                  <a:ext uri="{0D108BD9-81ED-4DB2-BD59-A6C34878D82A}">
                    <a16:rowId xmlns:a16="http://schemas.microsoft.com/office/drawing/2014/main" val="10000"/>
                  </a:ext>
                </a:extLst>
              </a:tr>
              <a:tr h="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WORD</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Letters and combining accents, with internal apostrophes or hyphens</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NUMBER</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A run of digits</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SPACE</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Horizontal whitespace only</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NEWLINE</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One or more line breaks</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PUNCTUATION</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Sentence and clause marks, incl. guillemets</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3"/>
          <p:cNvSpPr/>
          <p:nvPr/>
        </p:nvSpPr>
        <p:spPr>
          <a:xfrm>
            <a:off x="457200" y="3246120"/>
            <a:ext cx="2057400" cy="914400"/>
          </a:xfrm>
          <a:prstGeom prst="roundRect">
            <a:avLst>
              <a:gd name="adj" fmla="val 8000"/>
            </a:avLst>
          </a:prstGeom>
          <a:solidFill>
            <a:srgbClr val="0F3D2E"/>
          </a:solidFill>
          <a:ln w="12700">
            <a:solidFill>
              <a:srgbClr val="0F3D2E"/>
            </a:solidFill>
            <a:prstDash val="solid"/>
          </a:ln>
        </p:spPr>
      </p:sp>
      <p:sp>
        <p:nvSpPr>
          <p:cNvPr id="8" name="Text 4"/>
          <p:cNvSpPr txBox="1"/>
          <p:nvPr/>
        </p:nvSpPr>
        <p:spPr>
          <a:xfrm>
            <a:off x="566928" y="3291840"/>
            <a:ext cx="1828800" cy="8229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Pass 1 · Scanning</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Typed runs with byte offsets (FR-10)</a:t>
            </a:r>
            <a:endParaRPr lang="en-US" sz="1100" dirty="0"/>
          </a:p>
        </p:txBody>
      </p:sp>
      <p:sp>
        <p:nvSpPr>
          <p:cNvPr id="9" name="Shape 5"/>
          <p:cNvSpPr/>
          <p:nvPr/>
        </p:nvSpPr>
        <p:spPr>
          <a:xfrm>
            <a:off x="2606040" y="3246120"/>
            <a:ext cx="2057400" cy="914400"/>
          </a:xfrm>
          <a:prstGeom prst="roundRect">
            <a:avLst>
              <a:gd name="adj" fmla="val 8000"/>
            </a:avLst>
          </a:prstGeom>
          <a:solidFill>
            <a:srgbClr val="0F3D2E"/>
          </a:solidFill>
          <a:ln w="12700">
            <a:solidFill>
              <a:srgbClr val="0F3D2E"/>
            </a:solidFill>
            <a:prstDash val="solid"/>
          </a:ln>
        </p:spPr>
      </p:sp>
      <p:sp>
        <p:nvSpPr>
          <p:cNvPr id="10" name="Text 6"/>
          <p:cNvSpPr txBox="1"/>
          <p:nvPr/>
        </p:nvSpPr>
        <p:spPr>
          <a:xfrm>
            <a:off x="2715768" y="3291840"/>
            <a:ext cx="1828800" cy="8229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Pass 2 · Lexing</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Class, canonical form, donor language, gloss</a:t>
            </a:r>
            <a:endParaRPr lang="en-US" sz="1100" dirty="0"/>
          </a:p>
        </p:txBody>
      </p:sp>
      <p:sp>
        <p:nvSpPr>
          <p:cNvPr id="11" name="Shape 7"/>
          <p:cNvSpPr/>
          <p:nvPr/>
        </p:nvSpPr>
        <p:spPr>
          <a:xfrm>
            <a:off x="4937760" y="1143000"/>
            <a:ext cx="3749040" cy="1463040"/>
          </a:xfrm>
          <a:prstGeom prst="roundRect">
            <a:avLst>
              <a:gd name="adj" fmla="val 5000"/>
            </a:avLst>
          </a:prstGeom>
          <a:solidFill>
            <a:srgbClr val="14231D"/>
          </a:solidFill>
          <a:ln w="12700">
            <a:solidFill>
              <a:srgbClr val="14231D"/>
            </a:solidFill>
            <a:prstDash val="solid"/>
          </a:ln>
        </p:spPr>
      </p:sp>
      <p:sp>
        <p:nvSpPr>
          <p:cNvPr id="12" name="Text 8"/>
          <p:cNvSpPr txBox="1"/>
          <p:nvPr/>
        </p:nvSpPr>
        <p:spPr>
          <a:xfrm>
            <a:off x="5074920" y="1234440"/>
            <a:ext cx="3520440" cy="1280160"/>
          </a:xfrm>
          <a:prstGeom prst="rect">
            <a:avLst/>
          </a:prstGeom>
          <a:noFill/>
          <a:ln/>
        </p:spPr>
        <p:txBody>
          <a:bodyPr wrap="square" lIns="0" tIns="0" rIns="0" bIns="0" rtlCol="0" anchor="ctr"/>
          <a:lstStyle/>
          <a:p>
            <a:pPr marL="0" indent="0">
              <a:buNone/>
            </a:pPr>
            <a:r>
              <a:rPr lang="en-US" sz="1000" dirty="0">
                <a:solidFill>
                  <a:srgbClr val="D9B44A"/>
                </a:solidFill>
                <a:latin typeface="Courier New" pitchFamily="34" charset="0"/>
                <a:ea typeface="Courier New" pitchFamily="34" charset="-122"/>
                <a:cs typeface="Courier New" pitchFamily="34" charset="-120"/>
              </a:rPr>
              <a:t>_WORD_RE =</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(?:[^\W\d_]|[\u0300-\u036f])+</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(?:['\u2019-]</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(?:[^\W\d_]|[\u0300-\u036f])+)*</a:t>
            </a:r>
            <a:endParaRPr lang="en-US" sz="1000" dirty="0"/>
          </a:p>
        </p:txBody>
      </p:sp>
      <p:sp>
        <p:nvSpPr>
          <p:cNvPr id="13" name="Text 9"/>
          <p:cNvSpPr txBox="1"/>
          <p:nvPr/>
        </p:nvSpPr>
        <p:spPr>
          <a:xfrm>
            <a:off x="4937760" y="2834640"/>
            <a:ext cx="374904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A26"/>
                </a:solidFill>
                <a:latin typeface="Calibri" pitchFamily="34" charset="0"/>
                <a:ea typeface="Calibri" pitchFamily="34" charset="-122"/>
                <a:cs typeface="Calibri" pitchFamily="34" charset="-120"/>
              </a:rPr>
              <a:t>[^\W\d_] matches any Unicode letter, so ça, où and tchop need no accent list</a:t>
            </a:r>
            <a:endParaRPr lang="en-US" sz="1200" dirty="0"/>
          </a:p>
          <a:p>
            <a:pPr marL="342900" indent="-342900">
              <a:spcAft>
                <a:spcPts val="600"/>
              </a:spcAft>
              <a:buSzPct val="100000"/>
              <a:buChar char="•"/>
            </a:pPr>
            <a:r>
              <a:rPr lang="en-US" sz="1200" dirty="0">
                <a:solidFill>
                  <a:srgbClr val="1F2A26"/>
                </a:solidFill>
                <a:latin typeface="Calibri" pitchFamily="34" charset="0"/>
                <a:ea typeface="Calibri" pitchFamily="34" charset="-122"/>
                <a:cs typeface="Calibri" pitchFamily="34" charset="-120"/>
              </a:rPr>
              <a:t>Combining marks: decomposed é scans like precomposed é</a:t>
            </a:r>
            <a:endParaRPr lang="en-US" sz="1200" dirty="0"/>
          </a:p>
          <a:p>
            <a:pPr marL="342900" indent="-342900">
              <a:spcAft>
                <a:spcPts val="600"/>
              </a:spcAft>
              <a:buSzPct val="100000"/>
              <a:buChar char="•"/>
            </a:pPr>
            <a:r>
              <a:rPr lang="en-US" sz="1200" dirty="0">
                <a:solidFill>
                  <a:srgbClr val="1F2A26"/>
                </a:solidFill>
                <a:latin typeface="Calibri" pitchFamily="34" charset="0"/>
                <a:ea typeface="Calibri" pitchFamily="34" charset="-122"/>
                <a:cs typeface="Calibri" pitchFamily="34" charset="-120"/>
              </a:rPr>
              <a:t>j’ai, n’est, est-ce stay whole; both ASCII and U+2019 apostrophes accepted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Accent folding without losing meaning</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7</a:t>
            </a:r>
            <a:endParaRPr lang="en-US" sz="900" dirty="0"/>
          </a:p>
        </p:txBody>
      </p:sp>
      <p:sp>
        <p:nvSpPr>
          <p:cNvPr id="6" name="Text 3"/>
          <p:cNvSpPr txBox="1"/>
          <p:nvPr/>
        </p:nvSpPr>
        <p:spPr>
          <a:xfrm>
            <a:off x="457200" y="1097280"/>
            <a:ext cx="3931920" cy="274320"/>
          </a:xfrm>
          <a:prstGeom prst="rect">
            <a:avLst/>
          </a:prstGeom>
          <a:noFill/>
          <a:ln/>
        </p:spPr>
        <p:txBody>
          <a:bodyPr wrap="square" lIns="0" tIns="0" rIns="0" bIns="0" rtlCol="0" anchor="t"/>
          <a:lstStyle/>
          <a:p>
            <a:pPr marL="0" indent="0">
              <a:buNone/>
            </a:pPr>
            <a:r>
              <a:rPr lang="en-US" sz="1600" b="1" dirty="0">
                <a:solidFill>
                  <a:srgbClr val="1B6B4F"/>
                </a:solidFill>
                <a:latin typeface="Cambria" pitchFamily="34" charset="0"/>
                <a:ea typeface="Cambria" pitchFamily="34" charset="-122"/>
                <a:cs typeface="Cambria" pitchFamily="34" charset="-120"/>
              </a:rPr>
              <a:t>Lookup priority</a:t>
            </a:r>
            <a:endParaRPr lang="en-US" sz="1600" dirty="0"/>
          </a:p>
        </p:txBody>
      </p:sp>
      <p:sp>
        <p:nvSpPr>
          <p:cNvPr id="7" name="Shape 4"/>
          <p:cNvSpPr/>
          <p:nvPr/>
        </p:nvSpPr>
        <p:spPr>
          <a:xfrm>
            <a:off x="457200" y="1463040"/>
            <a:ext cx="3931920" cy="493776"/>
          </a:xfrm>
          <a:prstGeom prst="roundRect">
            <a:avLst>
              <a:gd name="adj" fmla="val 14815"/>
            </a:avLst>
          </a:prstGeom>
          <a:solidFill>
            <a:srgbClr val="EEF3F0"/>
          </a:solidFill>
          <a:ln w="12700">
            <a:solidFill>
              <a:srgbClr val="EEF3F0"/>
            </a:solidFill>
            <a:prstDash val="solid"/>
          </a:ln>
        </p:spPr>
      </p:sp>
      <p:sp>
        <p:nvSpPr>
          <p:cNvPr id="8" name="Shape 5"/>
          <p:cNvSpPr/>
          <p:nvPr/>
        </p:nvSpPr>
        <p:spPr>
          <a:xfrm>
            <a:off x="548640" y="1527048"/>
            <a:ext cx="365760" cy="365760"/>
          </a:xfrm>
          <a:prstGeom prst="ellipse">
            <a:avLst/>
          </a:prstGeom>
          <a:solidFill>
            <a:srgbClr val="1B6B4F"/>
          </a:solidFill>
          <a:ln w="12700">
            <a:solidFill>
              <a:srgbClr val="1B6B4F"/>
            </a:solidFill>
            <a:prstDash val="solid"/>
          </a:ln>
        </p:spPr>
      </p:sp>
      <p:sp>
        <p:nvSpPr>
          <p:cNvPr id="9" name="Text 6"/>
          <p:cNvSpPr txBox="1"/>
          <p:nvPr/>
        </p:nvSpPr>
        <p:spPr>
          <a:xfrm>
            <a:off x="548640" y="152704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1051560" y="1463040"/>
            <a:ext cx="3200400" cy="493776"/>
          </a:xfrm>
          <a:prstGeom prst="rect">
            <a:avLst/>
          </a:prstGeom>
          <a:noFill/>
          <a:ln/>
        </p:spPr>
        <p:txBody>
          <a:bodyPr wrap="square" lIns="0" tIns="0" rIns="0" bIns="0" rtlCol="0" anchor="ctr"/>
          <a:lstStyle/>
          <a:p>
            <a:pPr marL="0" indent="0">
              <a:buNone/>
            </a:pPr>
            <a:r>
              <a:rPr lang="en-US" sz="1300" b="1" dirty="0">
                <a:solidFill>
                  <a:srgbClr val="0F3D2E"/>
                </a:solidFill>
                <a:latin typeface="Calibri" pitchFamily="34" charset="0"/>
                <a:ea typeface="Calibri" pitchFamily="34" charset="-122"/>
                <a:cs typeface="Calibri" pitchFamily="34" charset="-120"/>
              </a:rPr>
              <a:t>Exact multiword</a:t>
            </a:r>
            <a:endParaRPr lang="en-US" sz="1300" dirty="0"/>
          </a:p>
        </p:txBody>
      </p:sp>
      <p:sp>
        <p:nvSpPr>
          <p:cNvPr id="11" name="Shape 8"/>
          <p:cNvSpPr/>
          <p:nvPr/>
        </p:nvSpPr>
        <p:spPr>
          <a:xfrm>
            <a:off x="457200" y="2066544"/>
            <a:ext cx="3931920" cy="493776"/>
          </a:xfrm>
          <a:prstGeom prst="roundRect">
            <a:avLst>
              <a:gd name="adj" fmla="val 14815"/>
            </a:avLst>
          </a:prstGeom>
          <a:solidFill>
            <a:srgbClr val="EEF3F0"/>
          </a:solidFill>
          <a:ln w="12700">
            <a:solidFill>
              <a:srgbClr val="EEF3F0"/>
            </a:solidFill>
            <a:prstDash val="solid"/>
          </a:ln>
        </p:spPr>
      </p:sp>
      <p:sp>
        <p:nvSpPr>
          <p:cNvPr id="12" name="Shape 9"/>
          <p:cNvSpPr/>
          <p:nvPr/>
        </p:nvSpPr>
        <p:spPr>
          <a:xfrm>
            <a:off x="548640" y="2130552"/>
            <a:ext cx="365760" cy="365760"/>
          </a:xfrm>
          <a:prstGeom prst="ellipse">
            <a:avLst/>
          </a:prstGeom>
          <a:solidFill>
            <a:srgbClr val="1B6B4F"/>
          </a:solidFill>
          <a:ln w="12700">
            <a:solidFill>
              <a:srgbClr val="1B6B4F"/>
            </a:solidFill>
            <a:prstDash val="solid"/>
          </a:ln>
        </p:spPr>
      </p:sp>
      <p:sp>
        <p:nvSpPr>
          <p:cNvPr id="13" name="Text 10"/>
          <p:cNvSpPr txBox="1"/>
          <p:nvPr/>
        </p:nvSpPr>
        <p:spPr>
          <a:xfrm>
            <a:off x="548640" y="21305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1051560" y="2066544"/>
            <a:ext cx="3200400" cy="493776"/>
          </a:xfrm>
          <a:prstGeom prst="rect">
            <a:avLst/>
          </a:prstGeom>
          <a:noFill/>
          <a:ln/>
        </p:spPr>
        <p:txBody>
          <a:bodyPr wrap="square" lIns="0" tIns="0" rIns="0" bIns="0" rtlCol="0" anchor="ctr"/>
          <a:lstStyle/>
          <a:p>
            <a:pPr marL="0" indent="0">
              <a:buNone/>
            </a:pPr>
            <a:r>
              <a:rPr lang="en-US" sz="1300" b="1" dirty="0">
                <a:solidFill>
                  <a:srgbClr val="0F3D2E"/>
                </a:solidFill>
                <a:latin typeface="Calibri" pitchFamily="34" charset="0"/>
                <a:ea typeface="Calibri" pitchFamily="34" charset="-122"/>
                <a:cs typeface="Calibri" pitchFamily="34" charset="-120"/>
              </a:rPr>
              <a:t>Folded multiword</a:t>
            </a:r>
            <a:endParaRPr lang="en-US" sz="1300" dirty="0"/>
          </a:p>
        </p:txBody>
      </p:sp>
      <p:sp>
        <p:nvSpPr>
          <p:cNvPr id="15" name="Shape 12"/>
          <p:cNvSpPr/>
          <p:nvPr/>
        </p:nvSpPr>
        <p:spPr>
          <a:xfrm>
            <a:off x="457200" y="2670048"/>
            <a:ext cx="3931920" cy="493776"/>
          </a:xfrm>
          <a:prstGeom prst="roundRect">
            <a:avLst>
              <a:gd name="adj" fmla="val 14815"/>
            </a:avLst>
          </a:prstGeom>
          <a:solidFill>
            <a:srgbClr val="EEF3F0"/>
          </a:solidFill>
          <a:ln w="12700">
            <a:solidFill>
              <a:srgbClr val="EEF3F0"/>
            </a:solidFill>
            <a:prstDash val="solid"/>
          </a:ln>
        </p:spPr>
      </p:sp>
      <p:sp>
        <p:nvSpPr>
          <p:cNvPr id="16" name="Shape 13"/>
          <p:cNvSpPr/>
          <p:nvPr/>
        </p:nvSpPr>
        <p:spPr>
          <a:xfrm>
            <a:off x="548640" y="2734056"/>
            <a:ext cx="365760" cy="365760"/>
          </a:xfrm>
          <a:prstGeom prst="ellipse">
            <a:avLst/>
          </a:prstGeom>
          <a:solidFill>
            <a:srgbClr val="1B6B4F"/>
          </a:solidFill>
          <a:ln w="12700">
            <a:solidFill>
              <a:srgbClr val="1B6B4F"/>
            </a:solidFill>
            <a:prstDash val="solid"/>
          </a:ln>
        </p:spPr>
      </p:sp>
      <p:sp>
        <p:nvSpPr>
          <p:cNvPr id="17" name="Text 14"/>
          <p:cNvSpPr txBox="1"/>
          <p:nvPr/>
        </p:nvSpPr>
        <p:spPr>
          <a:xfrm>
            <a:off x="548640" y="27340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051560" y="2670048"/>
            <a:ext cx="3200400" cy="493776"/>
          </a:xfrm>
          <a:prstGeom prst="rect">
            <a:avLst/>
          </a:prstGeom>
          <a:noFill/>
          <a:ln/>
        </p:spPr>
        <p:txBody>
          <a:bodyPr wrap="square" lIns="0" tIns="0" rIns="0" bIns="0" rtlCol="0" anchor="ctr"/>
          <a:lstStyle/>
          <a:p>
            <a:pPr marL="0" indent="0">
              <a:buNone/>
            </a:pPr>
            <a:r>
              <a:rPr lang="en-US" sz="1300" b="1" dirty="0">
                <a:solidFill>
                  <a:srgbClr val="0F3D2E"/>
                </a:solidFill>
                <a:latin typeface="Calibri" pitchFamily="34" charset="0"/>
                <a:ea typeface="Calibri" pitchFamily="34" charset="-122"/>
                <a:cs typeface="Calibri" pitchFamily="34" charset="-120"/>
              </a:rPr>
              <a:t>Exact single word</a:t>
            </a:r>
            <a:endParaRPr lang="en-US" sz="1300" dirty="0"/>
          </a:p>
        </p:txBody>
      </p:sp>
      <p:sp>
        <p:nvSpPr>
          <p:cNvPr id="19" name="Shape 16"/>
          <p:cNvSpPr/>
          <p:nvPr/>
        </p:nvSpPr>
        <p:spPr>
          <a:xfrm>
            <a:off x="457200" y="3273552"/>
            <a:ext cx="3931920" cy="493776"/>
          </a:xfrm>
          <a:prstGeom prst="roundRect">
            <a:avLst>
              <a:gd name="adj" fmla="val 14815"/>
            </a:avLst>
          </a:prstGeom>
          <a:solidFill>
            <a:srgbClr val="EEF3F0"/>
          </a:solidFill>
          <a:ln w="12700">
            <a:solidFill>
              <a:srgbClr val="EEF3F0"/>
            </a:solidFill>
            <a:prstDash val="solid"/>
          </a:ln>
        </p:spPr>
      </p:sp>
      <p:sp>
        <p:nvSpPr>
          <p:cNvPr id="20" name="Shape 17"/>
          <p:cNvSpPr/>
          <p:nvPr/>
        </p:nvSpPr>
        <p:spPr>
          <a:xfrm>
            <a:off x="548640" y="3337560"/>
            <a:ext cx="365760" cy="365760"/>
          </a:xfrm>
          <a:prstGeom prst="ellipse">
            <a:avLst/>
          </a:prstGeom>
          <a:solidFill>
            <a:srgbClr val="1B6B4F"/>
          </a:solidFill>
          <a:ln w="12700">
            <a:solidFill>
              <a:srgbClr val="1B6B4F"/>
            </a:solidFill>
            <a:prstDash val="solid"/>
          </a:ln>
        </p:spPr>
      </p:sp>
      <p:sp>
        <p:nvSpPr>
          <p:cNvPr id="21" name="Text 18"/>
          <p:cNvSpPr txBox="1"/>
          <p:nvPr/>
        </p:nvSpPr>
        <p:spPr>
          <a:xfrm>
            <a:off x="548640" y="33375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19"/>
          <p:cNvSpPr txBox="1"/>
          <p:nvPr/>
        </p:nvSpPr>
        <p:spPr>
          <a:xfrm>
            <a:off x="1051560" y="3273552"/>
            <a:ext cx="3200400" cy="493776"/>
          </a:xfrm>
          <a:prstGeom prst="rect">
            <a:avLst/>
          </a:prstGeom>
          <a:noFill/>
          <a:ln/>
        </p:spPr>
        <p:txBody>
          <a:bodyPr wrap="square" lIns="0" tIns="0" rIns="0" bIns="0" rtlCol="0" anchor="ctr"/>
          <a:lstStyle/>
          <a:p>
            <a:pPr marL="0" indent="0">
              <a:buNone/>
            </a:pPr>
            <a:r>
              <a:rPr lang="en-US" sz="1300" b="1" dirty="0">
                <a:solidFill>
                  <a:srgbClr val="0F3D2E"/>
                </a:solidFill>
                <a:latin typeface="Calibri" pitchFamily="34" charset="0"/>
                <a:ea typeface="Calibri" pitchFamily="34" charset="-122"/>
                <a:cs typeface="Calibri" pitchFamily="34" charset="-120"/>
              </a:rPr>
              <a:t>Folded single word</a:t>
            </a:r>
            <a:endParaRPr lang="en-US" sz="1300" dirty="0"/>
          </a:p>
        </p:txBody>
      </p:sp>
      <p:sp>
        <p:nvSpPr>
          <p:cNvPr id="23" name="Shape 20"/>
          <p:cNvSpPr/>
          <p:nvPr/>
        </p:nvSpPr>
        <p:spPr>
          <a:xfrm>
            <a:off x="457200" y="3877056"/>
            <a:ext cx="3931920" cy="493776"/>
          </a:xfrm>
          <a:prstGeom prst="roundRect">
            <a:avLst>
              <a:gd name="adj" fmla="val 14815"/>
            </a:avLst>
          </a:prstGeom>
          <a:solidFill>
            <a:srgbClr val="F7E1E1"/>
          </a:solidFill>
          <a:ln w="12700">
            <a:solidFill>
              <a:srgbClr val="F7E1E1"/>
            </a:solidFill>
            <a:prstDash val="solid"/>
          </a:ln>
        </p:spPr>
      </p:sp>
      <p:sp>
        <p:nvSpPr>
          <p:cNvPr id="24" name="Shape 21"/>
          <p:cNvSpPr/>
          <p:nvPr/>
        </p:nvSpPr>
        <p:spPr>
          <a:xfrm>
            <a:off x="548640" y="3941064"/>
            <a:ext cx="365760" cy="365760"/>
          </a:xfrm>
          <a:prstGeom prst="ellipse">
            <a:avLst/>
          </a:prstGeom>
          <a:solidFill>
            <a:srgbClr val="B23A3A"/>
          </a:solidFill>
          <a:ln w="12700">
            <a:solidFill>
              <a:srgbClr val="B23A3A"/>
            </a:solidFill>
            <a:prstDash val="solid"/>
          </a:ln>
        </p:spPr>
      </p:sp>
      <p:sp>
        <p:nvSpPr>
          <p:cNvPr id="25" name="Text 22"/>
          <p:cNvSpPr txBox="1"/>
          <p:nvPr/>
        </p:nvSpPr>
        <p:spPr>
          <a:xfrm>
            <a:off x="548640" y="39410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3"/>
          <p:cNvSpPr txBox="1"/>
          <p:nvPr/>
        </p:nvSpPr>
        <p:spPr>
          <a:xfrm>
            <a:off x="1051560" y="3877056"/>
            <a:ext cx="3200400" cy="493776"/>
          </a:xfrm>
          <a:prstGeom prst="rect">
            <a:avLst/>
          </a:prstGeom>
          <a:noFill/>
          <a:ln/>
        </p:spPr>
        <p:txBody>
          <a:bodyPr wrap="square" lIns="0" tIns="0" rIns="0" bIns="0" rtlCol="0" anchor="ctr"/>
          <a:lstStyle/>
          <a:p>
            <a:pPr marL="0" indent="0">
              <a:buNone/>
            </a:pPr>
            <a:r>
              <a:rPr lang="en-US" sz="1300" b="1" dirty="0">
                <a:solidFill>
                  <a:srgbClr val="B23A3A"/>
                </a:solidFill>
                <a:latin typeface="Calibri" pitchFamily="34" charset="0"/>
                <a:ea typeface="Calibri" pitchFamily="34" charset="-122"/>
                <a:cs typeface="Calibri" pitchFamily="34" charset="-120"/>
              </a:rPr>
              <a:t>UNKNOWN token</a:t>
            </a:r>
            <a:endParaRPr lang="en-US" sz="1300" dirty="0"/>
          </a:p>
        </p:txBody>
      </p:sp>
      <p:sp>
        <p:nvSpPr>
          <p:cNvPr id="27" name="Text 24"/>
          <p:cNvSpPr txBox="1"/>
          <p:nvPr/>
        </p:nvSpPr>
        <p:spPr>
          <a:xfrm>
            <a:off x="4754880" y="1097280"/>
            <a:ext cx="3931920" cy="274320"/>
          </a:xfrm>
          <a:prstGeom prst="rect">
            <a:avLst/>
          </a:prstGeom>
          <a:noFill/>
          <a:ln/>
        </p:spPr>
        <p:txBody>
          <a:bodyPr wrap="square" lIns="0" tIns="0" rIns="0" bIns="0" rtlCol="0" anchor="t"/>
          <a:lstStyle/>
          <a:p>
            <a:pPr marL="0" indent="0">
              <a:buNone/>
            </a:pPr>
            <a:r>
              <a:rPr lang="en-US" sz="1600" b="1" dirty="0">
                <a:solidFill>
                  <a:srgbClr val="1B6B4F"/>
                </a:solidFill>
                <a:latin typeface="Cambria" pitchFamily="34" charset="0"/>
                <a:ea typeface="Cambria" pitchFamily="34" charset="-122"/>
                <a:cs typeface="Cambria" pitchFamily="34" charset="-120"/>
              </a:rPr>
              <a:t>Attested homograph pairs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754880" y="1463040"/>
          <a:ext cx="3931920" cy="914400"/>
        </p:xfrm>
        <a:graphic>
          <a:graphicData uri="http://schemas.openxmlformats.org/drawingml/2006/table">
            <a:tbl>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2918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Form A</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Class</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Form B</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Class</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extLst>
                  <a:ext uri="{0D108BD9-81ED-4DB2-BD59-A6C34878D82A}">
                    <a16:rowId xmlns:a16="http://schemas.microsoft.com/office/drawing/2014/main" val="10000"/>
                  </a:ext>
                </a:extLst>
              </a:tr>
              <a:tr h="329184">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VERB (has)</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à</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PREP (to)</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la</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DET (the)</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là</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ADV (there)</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ou</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CONJ (or)</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où</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ADV (where)</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mais</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CONJ (but)</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maïs</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150" dirty="0">
                          <a:solidFill>
                            <a:srgbClr val="1F2A26"/>
                          </a:solidFill>
                          <a:latin typeface="Calibri" pitchFamily="34" charset="0"/>
                          <a:ea typeface="Calibri" pitchFamily="34" charset="-122"/>
                          <a:cs typeface="Calibri" pitchFamily="34" charset="-120"/>
                        </a:rPr>
                        <a:t>NOUN (maize)</a:t>
                      </a:r>
                      <a:endParaRPr lang="en-US" sz="11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9" name="Shape 25"/>
          <p:cNvSpPr/>
          <p:nvPr/>
        </p:nvSpPr>
        <p:spPr>
          <a:xfrm>
            <a:off x="4754880" y="3337560"/>
            <a:ext cx="3931920" cy="1188720"/>
          </a:xfrm>
          <a:prstGeom prst="roundRect">
            <a:avLst>
              <a:gd name="adj" fmla="val 6154"/>
            </a:avLst>
          </a:prstGeom>
          <a:solidFill>
            <a:srgbClr val="0F3D2E"/>
          </a:solidFill>
          <a:ln w="12700">
            <a:solidFill>
              <a:srgbClr val="0F3D2E"/>
            </a:solidFill>
            <a:prstDash val="solid"/>
          </a:ln>
        </p:spPr>
      </p:sp>
      <p:sp>
        <p:nvSpPr>
          <p:cNvPr id="30" name="Text 26"/>
          <p:cNvSpPr txBox="1"/>
          <p:nvPr/>
        </p:nvSpPr>
        <p:spPr>
          <a:xfrm>
            <a:off x="4892040" y="3383280"/>
            <a:ext cx="3657600" cy="1097280"/>
          </a:xfrm>
          <a:prstGeom prst="rect">
            <a:avLst/>
          </a:prstGeom>
          <a:noFill/>
          <a:ln/>
        </p:spPr>
        <p:txBody>
          <a:bodyPr wrap="square" lIns="0" tIns="0" rIns="0" bIns="0" rtlCol="0" anchor="ctr"/>
          <a:lstStyle/>
          <a:p>
            <a:pPr marL="0" indent="0">
              <a:spcAft>
                <a:spcPts val="600"/>
              </a:spcAft>
              <a:buNone/>
            </a:pPr>
            <a:r>
              <a:rPr lang="en-US" sz="1100" b="1" dirty="0">
                <a:solidFill>
                  <a:srgbClr val="D9B44A"/>
                </a:solidFill>
                <a:latin typeface="Courier New" pitchFamily="34" charset="0"/>
                <a:ea typeface="Courier New" pitchFamily="34" charset="-122"/>
                <a:cs typeface="Courier New" pitchFamily="34" charset="-120"/>
              </a:rPr>
              <a:t>canonicalize_word</a:t>
            </a:r>
            <a:r>
              <a:rPr lang="en-US" sz="1100" dirty="0">
                <a:solidFill>
                  <a:srgbClr val="FFFFFF"/>
                </a:solidFill>
                <a:latin typeface="Calibri" pitchFamily="34" charset="0"/>
                <a:ea typeface="Calibri" pitchFamily="34" charset="-122"/>
                <a:cs typeface="Calibri" pitchFamily="34" charset="-120"/>
              </a:rPr>
              <a:t>  NFC + casefold: Taxi = TAXI = taxi</a:t>
            </a:r>
            <a:endParaRPr lang="en-US" sz="1100" dirty="0"/>
          </a:p>
          <a:p>
            <a:pPr marL="0" indent="0">
              <a:spcAft>
                <a:spcPts val="600"/>
              </a:spcAft>
              <a:buNone/>
            </a:pPr>
            <a:r>
              <a:rPr lang="en-US" sz="1100" b="1" dirty="0">
                <a:solidFill>
                  <a:srgbClr val="D9B44A"/>
                </a:solidFill>
                <a:latin typeface="Courier New" pitchFamily="34" charset="0"/>
                <a:ea typeface="Courier New" pitchFamily="34" charset="-122"/>
                <a:cs typeface="Courier New" pitchFamily="34" charset="-120"/>
              </a:rPr>
              <a:t>fold_word</a:t>
            </a:r>
            <a:r>
              <a:rPr lang="en-US" sz="1100" dirty="0">
                <a:solidFill>
                  <a:srgbClr val="FFFFFF"/>
                </a:solidFill>
                <a:latin typeface="Calibri" pitchFamily="34" charset="0"/>
                <a:ea typeface="Calibri" pitchFamily="34" charset="-122"/>
                <a:cs typeface="Calibri" pitchFamily="34" charset="-120"/>
              </a:rPr>
              <a:t>  strip accents: bénéf = benef (fallback only)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The authored grammar (left-recursive)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8</a:t>
            </a:r>
            <a:endParaRPr lang="en-US" sz="900" dirty="0"/>
          </a:p>
        </p:txBody>
      </p:sp>
      <p:sp>
        <p:nvSpPr>
          <p:cNvPr id="6" name="Shape 3"/>
          <p:cNvSpPr/>
          <p:nvPr/>
        </p:nvSpPr>
        <p:spPr>
          <a:xfrm>
            <a:off x="457200" y="1097280"/>
            <a:ext cx="3931920" cy="2926080"/>
          </a:xfrm>
          <a:prstGeom prst="roundRect">
            <a:avLst>
              <a:gd name="adj" fmla="val 2500"/>
            </a:avLst>
          </a:prstGeom>
          <a:solidFill>
            <a:srgbClr val="14231D"/>
          </a:solidFill>
          <a:ln w="12700">
            <a:solidFill>
              <a:srgbClr val="14231D"/>
            </a:solidFill>
            <a:prstDash val="solid"/>
          </a:ln>
        </p:spPr>
      </p:sp>
      <p:sp>
        <p:nvSpPr>
          <p:cNvPr id="7" name="Text 4"/>
          <p:cNvSpPr txBox="1"/>
          <p:nvPr/>
        </p:nvSpPr>
        <p:spPr>
          <a:xfrm>
            <a:off x="594360" y="1188720"/>
            <a:ext cx="3703320" cy="2743200"/>
          </a:xfrm>
          <a:prstGeom prst="rect">
            <a:avLst/>
          </a:prstGeom>
          <a:noFill/>
          <a:ln/>
        </p:spPr>
        <p:txBody>
          <a:bodyPr wrap="square" lIns="0" tIns="0" rIns="0" bIns="0" rtlCol="0" anchor="ctr"/>
          <a:lstStyle/>
          <a:p>
            <a:pPr marL="0" indent="0">
              <a:buNone/>
            </a:pPr>
            <a:r>
              <a:rPr lang="en-US" sz="1000" dirty="0">
                <a:solidFill>
                  <a:srgbClr val="E7F1EC"/>
                </a:solidFill>
                <a:latin typeface="Courier New" pitchFamily="34" charset="0"/>
                <a:ea typeface="Courier New" pitchFamily="34" charset="-122"/>
                <a:cs typeface="Courier New" pitchFamily="34" charset="-120"/>
              </a:rPr>
              <a:t>S      → Seq</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Seq    → Seq CONJ Unit</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Seq SEP Unit</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Seq SEP CONJ Unit</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Unit</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Unit   → INTJ Clause | INTJ</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FORMULA | Clause</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Clause → PP ClauseOpt</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NP ClauseTail</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Predicate</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ClauseTail → Predicate</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NP Predicate | ε</a:t>
            </a:r>
            <a:endParaRPr lang="en-US" sz="1000" dirty="0"/>
          </a:p>
        </p:txBody>
      </p:sp>
      <p:sp>
        <p:nvSpPr>
          <p:cNvPr id="8" name="Shape 5"/>
          <p:cNvSpPr/>
          <p:nvPr/>
        </p:nvSpPr>
        <p:spPr>
          <a:xfrm>
            <a:off x="4572000" y="1097280"/>
            <a:ext cx="4114800" cy="2926080"/>
          </a:xfrm>
          <a:prstGeom prst="roundRect">
            <a:avLst>
              <a:gd name="adj" fmla="val 2500"/>
            </a:avLst>
          </a:prstGeom>
          <a:solidFill>
            <a:srgbClr val="14231D"/>
          </a:solidFill>
          <a:ln w="12700">
            <a:solidFill>
              <a:srgbClr val="14231D"/>
            </a:solidFill>
            <a:prstDash val="solid"/>
          </a:ln>
        </p:spPr>
      </p:sp>
      <p:sp>
        <p:nvSpPr>
          <p:cNvPr id="9" name="Text 6"/>
          <p:cNvSpPr txBox="1"/>
          <p:nvPr/>
        </p:nvSpPr>
        <p:spPr>
          <a:xfrm>
            <a:off x="4709160" y="1188720"/>
            <a:ext cx="3886200" cy="2743200"/>
          </a:xfrm>
          <a:prstGeom prst="rect">
            <a:avLst/>
          </a:prstGeom>
          <a:noFill/>
          <a:ln/>
        </p:spPr>
        <p:txBody>
          <a:bodyPr wrap="square" lIns="0" tIns="0" rIns="0" bIns="0" rtlCol="0" anchor="ctr"/>
          <a:lstStyle/>
          <a:p>
            <a:pPr marL="0" indent="0">
              <a:buNone/>
            </a:pPr>
            <a:r>
              <a:rPr lang="en-US" sz="1000" dirty="0">
                <a:solidFill>
                  <a:srgbClr val="E7F1EC"/>
                </a:solidFill>
                <a:latin typeface="Courier New" pitchFamily="34" charset="0"/>
                <a:ea typeface="Courier New" pitchFamily="34" charset="-122"/>
                <a:cs typeface="Courier New" pitchFamily="34" charset="-120"/>
              </a:rPr>
              <a:t>Predicate → ADV Predicate</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NegOpt VerbGroup Comps</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VerbTail  → VERB VerbTail</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ADV VerbTail</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NEG VerbTail | ε</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Comps     → NP Comps</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PREP CompObj Comps</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ADJ Comps | ε</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NP        → DET NOUN | DET ADJ NOUN</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          | PRON | NOUN</a:t>
            </a:r>
            <a:endParaRPr lang="en-US" sz="1000" dirty="0"/>
          </a:p>
          <a:p>
            <a:pPr marL="0" indent="0">
              <a:buNone/>
            </a:pPr>
            <a:r>
              <a:rPr lang="en-US" sz="1000" dirty="0">
                <a:solidFill>
                  <a:srgbClr val="E7F1EC"/>
                </a:solidFill>
                <a:latin typeface="Courier New" pitchFamily="34" charset="0"/>
                <a:ea typeface="Courier New" pitchFamily="34" charset="-122"/>
                <a:cs typeface="Courier New" pitchFamily="34" charset="-120"/>
              </a:rPr>
              <a:t>PP        → PREP NP</a:t>
            </a:r>
            <a:endParaRPr lang="en-US" sz="1000" dirty="0"/>
          </a:p>
        </p:txBody>
      </p:sp>
      <p:sp>
        <p:nvSpPr>
          <p:cNvPr id="10" name="Text 7"/>
          <p:cNvSpPr txBox="1"/>
          <p:nvPr/>
        </p:nvSpPr>
        <p:spPr>
          <a:xfrm>
            <a:off x="457200" y="4160520"/>
            <a:ext cx="8229600" cy="548640"/>
          </a:xfrm>
          <a:prstGeom prst="rect">
            <a:avLst/>
          </a:prstGeom>
          <a:noFill/>
          <a:ln/>
        </p:spPr>
        <p:txBody>
          <a:bodyPr wrap="square" lIns="0" tIns="0" rIns="0" bIns="0" rtlCol="0" anchor="t"/>
          <a:lstStyle/>
          <a:p>
            <a:pPr marL="0" indent="0">
              <a:buNone/>
            </a:pPr>
            <a:r>
              <a:rPr lang="en-US" sz="1200" b="1" dirty="0">
                <a:solidFill>
                  <a:srgbClr val="0F3D2E"/>
                </a:solidFill>
                <a:latin typeface="Courier New" pitchFamily="34" charset="0"/>
                <a:ea typeface="Courier New" pitchFamily="34" charset="-122"/>
                <a:cs typeface="Courier New" pitchFamily="34" charset="-120"/>
              </a:rPr>
              <a:t>Seq → Seq CONJ Unit </a:t>
            </a:r>
            <a:r>
              <a:rPr lang="en-US" sz="1200" dirty="0">
                <a:solidFill>
                  <a:srgbClr val="1F2A26"/>
                </a:solidFill>
                <a:latin typeface="Calibri" pitchFamily="34" charset="0"/>
                <a:ea typeface="Calibri" pitchFamily="34" charset="-122"/>
                <a:cs typeface="Calibri" pitchFamily="34" charset="-120"/>
              </a:rPr>
              <a:t>says “a statement is a list of units”; three of its four alternatives recurse on the left. </a:t>
            </a:r>
            <a:r>
              <a:rPr lang="en-US" sz="1200" b="1" dirty="0">
                <a:solidFill>
                  <a:srgbClr val="1F2A26"/>
                </a:solidFill>
                <a:latin typeface="Calibri" pitchFamily="34" charset="0"/>
                <a:ea typeface="Calibri" pitchFamily="34" charset="-122"/>
                <a:cs typeface="Calibri" pitchFamily="34" charset="-120"/>
              </a:rPr>
              <a:t>37 productions · 12 terminals · 14 nonterminals.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Transformation ledger: 4 recorded steps</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9</a:t>
            </a:r>
            <a:endParaRPr lang="en-US" sz="900" dirty="0"/>
          </a:p>
        </p:txBody>
      </p:sp>
      <p:sp>
        <p:nvSpPr>
          <p:cNvPr id="6" name="Shape 3"/>
          <p:cNvSpPr/>
          <p:nvPr/>
        </p:nvSpPr>
        <p:spPr>
          <a:xfrm>
            <a:off x="457200" y="1097280"/>
            <a:ext cx="8229600" cy="1417320"/>
          </a:xfrm>
          <a:prstGeom prst="roundRect">
            <a:avLst>
              <a:gd name="adj" fmla="val 5161"/>
            </a:avLst>
          </a:prstGeom>
          <a:solidFill>
            <a:srgbClr val="EEF3F0"/>
          </a:solidFill>
          <a:ln w="12700">
            <a:solidFill>
              <a:srgbClr val="EEF3F0"/>
            </a:solidFill>
            <a:prstDash val="solid"/>
          </a:ln>
        </p:spPr>
      </p:sp>
      <p:sp>
        <p:nvSpPr>
          <p:cNvPr id="7" name="Shape 4"/>
          <p:cNvSpPr/>
          <p:nvPr/>
        </p:nvSpPr>
        <p:spPr>
          <a:xfrm>
            <a:off x="594360" y="1207008"/>
            <a:ext cx="384048" cy="384048"/>
          </a:xfrm>
          <a:prstGeom prst="ellipse">
            <a:avLst/>
          </a:prstGeom>
          <a:solidFill>
            <a:srgbClr val="0F3D2E"/>
          </a:solidFill>
          <a:ln w="12700">
            <a:solidFill>
              <a:srgbClr val="0F3D2E"/>
            </a:solidFill>
            <a:prstDash val="solid"/>
          </a:ln>
        </p:spPr>
      </p:sp>
      <p:sp>
        <p:nvSpPr>
          <p:cNvPr id="8" name="Text 5"/>
          <p:cNvSpPr txBox="1"/>
          <p:nvPr/>
        </p:nvSpPr>
        <p:spPr>
          <a:xfrm>
            <a:off x="594360" y="1207008"/>
            <a:ext cx="384048" cy="384048"/>
          </a:xfrm>
          <a:prstGeom prst="rect">
            <a:avLst/>
          </a:prstGeom>
          <a:noFill/>
          <a:ln/>
        </p:spPr>
        <p:txBody>
          <a:bodyPr wrap="square" lIns="0" tIns="0" rIns="0" bIns="0" rtlCol="0" anchor="ctr"/>
          <a:lstStyle/>
          <a:p>
            <a:pPr marL="0" indent="0" algn="ctr">
              <a:buNone/>
            </a:pPr>
            <a:r>
              <a:rPr lang="en-US" sz="1300" b="1" dirty="0">
                <a:solidFill>
                  <a:srgbClr val="D9B44A"/>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143000" y="1207008"/>
            <a:ext cx="4572000" cy="384048"/>
          </a:xfrm>
          <a:prstGeom prst="rect">
            <a:avLst/>
          </a:prstGeom>
          <a:noFill/>
          <a:ln/>
        </p:spPr>
        <p:txBody>
          <a:bodyPr wrap="square" lIns="0" tIns="0" rIns="0" bIns="0" rtlCol="0" anchor="ctr"/>
          <a:lstStyle/>
          <a:p>
            <a:pPr marL="0" indent="0">
              <a:buNone/>
            </a:pPr>
            <a:r>
              <a:rPr lang="en-US" sz="1500" b="1" dirty="0">
                <a:solidFill>
                  <a:srgbClr val="0F3D2E"/>
                </a:solidFill>
                <a:latin typeface="Calibri" pitchFamily="34" charset="0"/>
                <a:ea typeface="Calibri" pitchFamily="34" charset="-122"/>
                <a:cs typeface="Calibri" pitchFamily="34" charset="-120"/>
              </a:rPr>
              <a:t>Left-recursion elimination on Seq</a:t>
            </a:r>
            <a:endParaRPr lang="en-US" sz="1500" dirty="0"/>
          </a:p>
        </p:txBody>
      </p:sp>
      <p:sp>
        <p:nvSpPr>
          <p:cNvPr id="10" name="Text 7"/>
          <p:cNvSpPr txBox="1"/>
          <p:nvPr/>
        </p:nvSpPr>
        <p:spPr>
          <a:xfrm>
            <a:off x="640080" y="1737360"/>
            <a:ext cx="7863840" cy="685800"/>
          </a:xfrm>
          <a:prstGeom prst="rect">
            <a:avLst/>
          </a:prstGeom>
          <a:noFill/>
          <a:ln/>
        </p:spPr>
        <p:txBody>
          <a:bodyPr wrap="square" lIns="0" tIns="0" rIns="0" bIns="0" rtlCol="0" anchor="t"/>
          <a:lstStyle/>
          <a:p>
            <a:pPr marL="0" indent="0">
              <a:buNone/>
            </a:pPr>
            <a:r>
              <a:rPr lang="en-US" sz="1200" dirty="0">
                <a:solidFill>
                  <a:srgbClr val="1F2A26"/>
                </a:solidFill>
                <a:latin typeface="Courier New" pitchFamily="34" charset="0"/>
                <a:ea typeface="Courier New" pitchFamily="34" charset="-122"/>
                <a:cs typeface="Courier New" pitchFamily="34" charset="-120"/>
              </a:rPr>
              <a:t>Seq  → Unit Seq′</a:t>
            </a:r>
            <a:endParaRPr lang="en-US" sz="1200" dirty="0"/>
          </a:p>
          <a:p>
            <a:pPr marL="0" indent="0">
              <a:buNone/>
            </a:pPr>
            <a:r>
              <a:rPr lang="en-US" sz="1200" dirty="0">
                <a:solidFill>
                  <a:srgbClr val="1F2A26"/>
                </a:solidFill>
                <a:latin typeface="Courier New" pitchFamily="34" charset="0"/>
                <a:ea typeface="Courier New" pitchFamily="34" charset="-122"/>
                <a:cs typeface="Courier New" pitchFamily="34" charset="-120"/>
              </a:rPr>
              <a:t>Seq′ → CONJ Unit Seq′ | SEP Unit Seq′ | SEP CONJ Unit Seq′ | ε</a:t>
            </a:r>
            <a:endParaRPr lang="en-US" sz="1200" dirty="0"/>
          </a:p>
        </p:txBody>
      </p:sp>
      <p:sp>
        <p:nvSpPr>
          <p:cNvPr id="11" name="Shape 8"/>
          <p:cNvSpPr/>
          <p:nvPr/>
        </p:nvSpPr>
        <p:spPr>
          <a:xfrm>
            <a:off x="457200" y="2697480"/>
            <a:ext cx="2651760" cy="1188720"/>
          </a:xfrm>
          <a:prstGeom prst="roundRect">
            <a:avLst>
              <a:gd name="adj" fmla="val 6154"/>
            </a:avLst>
          </a:prstGeom>
          <a:solidFill>
            <a:srgbClr val="EEF3F0"/>
          </a:solidFill>
          <a:ln w="12700">
            <a:solidFill>
              <a:srgbClr val="EEF3F0"/>
            </a:solidFill>
            <a:prstDash val="solid"/>
          </a:ln>
        </p:spPr>
      </p:sp>
      <p:sp>
        <p:nvSpPr>
          <p:cNvPr id="12" name="Shape 9"/>
          <p:cNvSpPr/>
          <p:nvPr/>
        </p:nvSpPr>
        <p:spPr>
          <a:xfrm>
            <a:off x="594360" y="2788920"/>
            <a:ext cx="365760" cy="365760"/>
          </a:xfrm>
          <a:prstGeom prst="ellipse">
            <a:avLst/>
          </a:prstGeom>
          <a:solidFill>
            <a:srgbClr val="1B6B4F"/>
          </a:solidFill>
          <a:ln w="12700">
            <a:solidFill>
              <a:srgbClr val="1B6B4F"/>
            </a:solidFill>
            <a:prstDash val="solid"/>
          </a:ln>
        </p:spPr>
      </p:sp>
      <p:sp>
        <p:nvSpPr>
          <p:cNvPr id="13" name="Text 10"/>
          <p:cNvSpPr txBox="1"/>
          <p:nvPr/>
        </p:nvSpPr>
        <p:spPr>
          <a:xfrm>
            <a:off x="594360" y="27889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1051560" y="2788920"/>
            <a:ext cx="2011680" cy="365760"/>
          </a:xfrm>
          <a:prstGeom prst="rect">
            <a:avLst/>
          </a:prstGeom>
          <a:noFill/>
          <a:ln/>
        </p:spPr>
        <p:txBody>
          <a:bodyPr wrap="square" lIns="0" tIns="0" rIns="0" bIns="0" rtlCol="0" anchor="ctr"/>
          <a:lstStyle/>
          <a:p>
            <a:pPr marL="0" indent="0">
              <a:buNone/>
            </a:pPr>
            <a:r>
              <a:rPr lang="en-US" sz="1250" b="1" dirty="0">
                <a:solidFill>
                  <a:srgbClr val="0F3D2E"/>
                </a:solidFill>
                <a:latin typeface="Calibri" pitchFamily="34" charset="0"/>
                <a:ea typeface="Calibri" pitchFamily="34" charset="-122"/>
                <a:cs typeface="Calibri" pitchFamily="34" charset="-120"/>
              </a:rPr>
              <a:t>Factor SEP on Seq′</a:t>
            </a:r>
            <a:endParaRPr lang="en-US" sz="1250" dirty="0"/>
          </a:p>
        </p:txBody>
      </p:sp>
      <p:sp>
        <p:nvSpPr>
          <p:cNvPr id="15" name="Text 12"/>
          <p:cNvSpPr txBox="1"/>
          <p:nvPr/>
        </p:nvSpPr>
        <p:spPr>
          <a:xfrm>
            <a:off x="640080" y="3246120"/>
            <a:ext cx="2377440" cy="201168"/>
          </a:xfrm>
          <a:prstGeom prst="rect">
            <a:avLst/>
          </a:prstGeom>
          <a:noFill/>
          <a:ln/>
        </p:spPr>
        <p:txBody>
          <a:bodyPr wrap="square" lIns="0" tIns="0" rIns="0" bIns="0" rtlCol="0" anchor="t"/>
          <a:lstStyle/>
          <a:p>
            <a:pPr marL="0" indent="0">
              <a:buNone/>
            </a:pPr>
            <a:r>
              <a:rPr lang="en-US" sz="1050" dirty="0">
                <a:solidFill>
                  <a:srgbClr val="5F6F68"/>
                </a:solidFill>
                <a:latin typeface="Calibri" pitchFamily="34" charset="0"/>
                <a:ea typeface="Calibri" pitchFamily="34" charset="-122"/>
                <a:cs typeface="Calibri" pitchFamily="34" charset="-120"/>
              </a:rPr>
              <a:t>fresh: Seq″</a:t>
            </a:r>
            <a:endParaRPr lang="en-US" sz="1050" dirty="0"/>
          </a:p>
        </p:txBody>
      </p:sp>
      <p:sp>
        <p:nvSpPr>
          <p:cNvPr id="16" name="Text 13"/>
          <p:cNvSpPr txBox="1"/>
          <p:nvPr/>
        </p:nvSpPr>
        <p:spPr>
          <a:xfrm>
            <a:off x="640080" y="3493008"/>
            <a:ext cx="2377440" cy="320040"/>
          </a:xfrm>
          <a:prstGeom prst="rect">
            <a:avLst/>
          </a:prstGeom>
          <a:noFill/>
          <a:ln/>
        </p:spPr>
        <p:txBody>
          <a:bodyPr wrap="square" lIns="0" tIns="0" rIns="0" bIns="0" rtlCol="0" anchor="t"/>
          <a:lstStyle/>
          <a:p>
            <a:pPr marL="0" indent="0">
              <a:buNone/>
            </a:pPr>
            <a:r>
              <a:rPr lang="en-US" sz="850" dirty="0">
                <a:solidFill>
                  <a:srgbClr val="1F2A26"/>
                </a:solidFill>
                <a:latin typeface="Courier New" pitchFamily="34" charset="0"/>
                <a:ea typeface="Courier New" pitchFamily="34" charset="-122"/>
                <a:cs typeface="Courier New" pitchFamily="34" charset="-120"/>
              </a:rPr>
              <a:t>Seq″ → Unit Seq′ | CONJ Unit Seq′</a:t>
            </a:r>
            <a:endParaRPr lang="en-US" sz="850" dirty="0"/>
          </a:p>
        </p:txBody>
      </p:sp>
      <p:sp>
        <p:nvSpPr>
          <p:cNvPr id="17" name="Shape 14"/>
          <p:cNvSpPr/>
          <p:nvPr/>
        </p:nvSpPr>
        <p:spPr>
          <a:xfrm>
            <a:off x="3246120" y="2697480"/>
            <a:ext cx="2651760" cy="1188720"/>
          </a:xfrm>
          <a:prstGeom prst="roundRect">
            <a:avLst>
              <a:gd name="adj" fmla="val 6154"/>
            </a:avLst>
          </a:prstGeom>
          <a:solidFill>
            <a:srgbClr val="EEF3F0"/>
          </a:solidFill>
          <a:ln w="12700">
            <a:solidFill>
              <a:srgbClr val="EEF3F0"/>
            </a:solidFill>
            <a:prstDash val="solid"/>
          </a:ln>
        </p:spPr>
      </p:sp>
      <p:sp>
        <p:nvSpPr>
          <p:cNvPr id="18" name="Shape 15"/>
          <p:cNvSpPr/>
          <p:nvPr/>
        </p:nvSpPr>
        <p:spPr>
          <a:xfrm>
            <a:off x="3383280" y="2788920"/>
            <a:ext cx="365760" cy="365760"/>
          </a:xfrm>
          <a:prstGeom prst="ellipse">
            <a:avLst/>
          </a:prstGeom>
          <a:solidFill>
            <a:srgbClr val="1B6B4F"/>
          </a:solidFill>
          <a:ln w="12700">
            <a:solidFill>
              <a:srgbClr val="1B6B4F"/>
            </a:solidFill>
            <a:prstDash val="solid"/>
          </a:ln>
        </p:spPr>
      </p:sp>
      <p:sp>
        <p:nvSpPr>
          <p:cNvPr id="19" name="Text 16"/>
          <p:cNvSpPr txBox="1"/>
          <p:nvPr/>
        </p:nvSpPr>
        <p:spPr>
          <a:xfrm>
            <a:off x="3383280" y="27889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3840480" y="2788920"/>
            <a:ext cx="2011680" cy="365760"/>
          </a:xfrm>
          <a:prstGeom prst="rect">
            <a:avLst/>
          </a:prstGeom>
          <a:noFill/>
          <a:ln/>
        </p:spPr>
        <p:txBody>
          <a:bodyPr wrap="square" lIns="0" tIns="0" rIns="0" bIns="0" rtlCol="0" anchor="ctr"/>
          <a:lstStyle/>
          <a:p>
            <a:pPr marL="0" indent="0">
              <a:buNone/>
            </a:pPr>
            <a:r>
              <a:rPr lang="en-US" sz="1250" b="1" dirty="0">
                <a:solidFill>
                  <a:srgbClr val="0F3D2E"/>
                </a:solidFill>
                <a:latin typeface="Calibri" pitchFamily="34" charset="0"/>
                <a:ea typeface="Calibri" pitchFamily="34" charset="-122"/>
                <a:cs typeface="Calibri" pitchFamily="34" charset="-120"/>
              </a:rPr>
              <a:t>Factor INTJ on Unit</a:t>
            </a:r>
            <a:endParaRPr lang="en-US" sz="1250" dirty="0"/>
          </a:p>
        </p:txBody>
      </p:sp>
      <p:sp>
        <p:nvSpPr>
          <p:cNvPr id="21" name="Text 18"/>
          <p:cNvSpPr txBox="1"/>
          <p:nvPr/>
        </p:nvSpPr>
        <p:spPr>
          <a:xfrm>
            <a:off x="3429000" y="3246120"/>
            <a:ext cx="2377440" cy="201168"/>
          </a:xfrm>
          <a:prstGeom prst="rect">
            <a:avLst/>
          </a:prstGeom>
          <a:noFill/>
          <a:ln/>
        </p:spPr>
        <p:txBody>
          <a:bodyPr wrap="square" lIns="0" tIns="0" rIns="0" bIns="0" rtlCol="0" anchor="t"/>
          <a:lstStyle/>
          <a:p>
            <a:pPr marL="0" indent="0">
              <a:buNone/>
            </a:pPr>
            <a:r>
              <a:rPr lang="en-US" sz="1050" dirty="0">
                <a:solidFill>
                  <a:srgbClr val="5F6F68"/>
                </a:solidFill>
                <a:latin typeface="Calibri" pitchFamily="34" charset="0"/>
                <a:ea typeface="Calibri" pitchFamily="34" charset="-122"/>
                <a:cs typeface="Calibri" pitchFamily="34" charset="-120"/>
              </a:rPr>
              <a:t>fresh: Unit′</a:t>
            </a:r>
            <a:endParaRPr lang="en-US" sz="1050" dirty="0"/>
          </a:p>
        </p:txBody>
      </p:sp>
      <p:sp>
        <p:nvSpPr>
          <p:cNvPr id="22" name="Text 19"/>
          <p:cNvSpPr txBox="1"/>
          <p:nvPr/>
        </p:nvSpPr>
        <p:spPr>
          <a:xfrm>
            <a:off x="3429000" y="3493008"/>
            <a:ext cx="2377440" cy="320040"/>
          </a:xfrm>
          <a:prstGeom prst="rect">
            <a:avLst/>
          </a:prstGeom>
          <a:noFill/>
          <a:ln/>
        </p:spPr>
        <p:txBody>
          <a:bodyPr wrap="square" lIns="0" tIns="0" rIns="0" bIns="0" rtlCol="0" anchor="t"/>
          <a:lstStyle/>
          <a:p>
            <a:pPr marL="0" indent="0">
              <a:buNone/>
            </a:pPr>
            <a:r>
              <a:rPr lang="en-US" sz="850" dirty="0">
                <a:solidFill>
                  <a:srgbClr val="1F2A26"/>
                </a:solidFill>
                <a:latin typeface="Courier New" pitchFamily="34" charset="0"/>
                <a:ea typeface="Courier New" pitchFamily="34" charset="-122"/>
                <a:cs typeface="Courier New" pitchFamily="34" charset="-120"/>
              </a:rPr>
              <a:t>Unit′ → Clause | ε</a:t>
            </a:r>
            <a:endParaRPr lang="en-US" sz="850" dirty="0"/>
          </a:p>
        </p:txBody>
      </p:sp>
      <p:sp>
        <p:nvSpPr>
          <p:cNvPr id="23" name="Shape 20"/>
          <p:cNvSpPr/>
          <p:nvPr/>
        </p:nvSpPr>
        <p:spPr>
          <a:xfrm>
            <a:off x="6035040" y="2697480"/>
            <a:ext cx="2651760" cy="1188720"/>
          </a:xfrm>
          <a:prstGeom prst="roundRect">
            <a:avLst>
              <a:gd name="adj" fmla="val 6154"/>
            </a:avLst>
          </a:prstGeom>
          <a:solidFill>
            <a:srgbClr val="EEF3F0"/>
          </a:solidFill>
          <a:ln w="12700">
            <a:solidFill>
              <a:srgbClr val="EEF3F0"/>
            </a:solidFill>
            <a:prstDash val="solid"/>
          </a:ln>
        </p:spPr>
      </p:sp>
      <p:sp>
        <p:nvSpPr>
          <p:cNvPr id="24" name="Shape 21"/>
          <p:cNvSpPr/>
          <p:nvPr/>
        </p:nvSpPr>
        <p:spPr>
          <a:xfrm>
            <a:off x="6172200" y="2788920"/>
            <a:ext cx="365760" cy="365760"/>
          </a:xfrm>
          <a:prstGeom prst="ellipse">
            <a:avLst/>
          </a:prstGeom>
          <a:solidFill>
            <a:srgbClr val="1B6B4F"/>
          </a:solidFill>
          <a:ln w="12700">
            <a:solidFill>
              <a:srgbClr val="1B6B4F"/>
            </a:solidFill>
            <a:prstDash val="solid"/>
          </a:ln>
        </p:spPr>
      </p:sp>
      <p:sp>
        <p:nvSpPr>
          <p:cNvPr id="25" name="Text 22"/>
          <p:cNvSpPr txBox="1"/>
          <p:nvPr/>
        </p:nvSpPr>
        <p:spPr>
          <a:xfrm>
            <a:off x="6172200" y="27889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3"/>
          <p:cNvSpPr txBox="1"/>
          <p:nvPr/>
        </p:nvSpPr>
        <p:spPr>
          <a:xfrm>
            <a:off x="6629400" y="2788920"/>
            <a:ext cx="2011680" cy="365760"/>
          </a:xfrm>
          <a:prstGeom prst="rect">
            <a:avLst/>
          </a:prstGeom>
          <a:noFill/>
          <a:ln/>
        </p:spPr>
        <p:txBody>
          <a:bodyPr wrap="square" lIns="0" tIns="0" rIns="0" bIns="0" rtlCol="0" anchor="ctr"/>
          <a:lstStyle/>
          <a:p>
            <a:pPr marL="0" indent="0">
              <a:buNone/>
            </a:pPr>
            <a:r>
              <a:rPr lang="en-US" sz="1250" b="1" dirty="0">
                <a:solidFill>
                  <a:srgbClr val="0F3D2E"/>
                </a:solidFill>
                <a:latin typeface="Calibri" pitchFamily="34" charset="0"/>
                <a:ea typeface="Calibri" pitchFamily="34" charset="-122"/>
                <a:cs typeface="Calibri" pitchFamily="34" charset="-120"/>
              </a:rPr>
              <a:t>Factor DET on NP</a:t>
            </a:r>
            <a:endParaRPr lang="en-US" sz="1250" dirty="0"/>
          </a:p>
        </p:txBody>
      </p:sp>
      <p:sp>
        <p:nvSpPr>
          <p:cNvPr id="27" name="Text 24"/>
          <p:cNvSpPr txBox="1"/>
          <p:nvPr/>
        </p:nvSpPr>
        <p:spPr>
          <a:xfrm>
            <a:off x="6217920" y="3246120"/>
            <a:ext cx="2377440" cy="201168"/>
          </a:xfrm>
          <a:prstGeom prst="rect">
            <a:avLst/>
          </a:prstGeom>
          <a:noFill/>
          <a:ln/>
        </p:spPr>
        <p:txBody>
          <a:bodyPr wrap="square" lIns="0" tIns="0" rIns="0" bIns="0" rtlCol="0" anchor="t"/>
          <a:lstStyle/>
          <a:p>
            <a:pPr marL="0" indent="0">
              <a:buNone/>
            </a:pPr>
            <a:r>
              <a:rPr lang="en-US" sz="1050" dirty="0">
                <a:solidFill>
                  <a:srgbClr val="5F6F68"/>
                </a:solidFill>
                <a:latin typeface="Calibri" pitchFamily="34" charset="0"/>
                <a:ea typeface="Calibri" pitchFamily="34" charset="-122"/>
                <a:cs typeface="Calibri" pitchFamily="34" charset="-120"/>
              </a:rPr>
              <a:t>fresh: NP′</a:t>
            </a:r>
            <a:endParaRPr lang="en-US" sz="1050" dirty="0"/>
          </a:p>
        </p:txBody>
      </p:sp>
      <p:sp>
        <p:nvSpPr>
          <p:cNvPr id="28" name="Text 25"/>
          <p:cNvSpPr txBox="1"/>
          <p:nvPr/>
        </p:nvSpPr>
        <p:spPr>
          <a:xfrm>
            <a:off x="6217920" y="3493008"/>
            <a:ext cx="2377440" cy="320040"/>
          </a:xfrm>
          <a:prstGeom prst="rect">
            <a:avLst/>
          </a:prstGeom>
          <a:noFill/>
          <a:ln/>
        </p:spPr>
        <p:txBody>
          <a:bodyPr wrap="square" lIns="0" tIns="0" rIns="0" bIns="0" rtlCol="0" anchor="t"/>
          <a:lstStyle/>
          <a:p>
            <a:pPr marL="0" indent="0">
              <a:buNone/>
            </a:pPr>
            <a:r>
              <a:rPr lang="en-US" sz="850" dirty="0">
                <a:solidFill>
                  <a:srgbClr val="1F2A26"/>
                </a:solidFill>
                <a:latin typeface="Courier New" pitchFamily="34" charset="0"/>
                <a:ea typeface="Courier New" pitchFamily="34" charset="-122"/>
                <a:cs typeface="Courier New" pitchFamily="34" charset="-120"/>
              </a:rPr>
              <a:t>NP′ → NOUN | ADJ NOUN</a:t>
            </a:r>
            <a:endParaRPr lang="en-US" sz="850" dirty="0"/>
          </a:p>
        </p:txBody>
      </p:sp>
      <p:sp>
        <p:nvSpPr>
          <p:cNvPr id="29" name="Shape 26"/>
          <p:cNvSpPr/>
          <p:nvPr/>
        </p:nvSpPr>
        <p:spPr>
          <a:xfrm>
            <a:off x="457200" y="4069080"/>
            <a:ext cx="8229600" cy="548640"/>
          </a:xfrm>
          <a:prstGeom prst="roundRect">
            <a:avLst>
              <a:gd name="adj" fmla="val 13333"/>
            </a:avLst>
          </a:prstGeom>
          <a:solidFill>
            <a:srgbClr val="0F3D2E"/>
          </a:solidFill>
          <a:ln w="12700">
            <a:solidFill>
              <a:srgbClr val="0F3D2E"/>
            </a:solidFill>
            <a:prstDash val="solid"/>
          </a:ln>
        </p:spPr>
      </p:sp>
      <p:sp>
        <p:nvSpPr>
          <p:cNvPr id="30" name="Text 27"/>
          <p:cNvSpPr txBox="1"/>
          <p:nvPr/>
        </p:nvSpPr>
        <p:spPr>
          <a:xfrm>
            <a:off x="640080" y="4069080"/>
            <a:ext cx="7863840" cy="548640"/>
          </a:xfrm>
          <a:prstGeom prst="rect">
            <a:avLst/>
          </a:prstGeom>
          <a:noFill/>
          <a:ln/>
        </p:spPr>
        <p:txBody>
          <a:bodyPr wrap="square" lIns="0" tIns="0" rIns="0" bIns="0" rtlCol="0" anchor="ctr"/>
          <a:lstStyle/>
          <a:p>
            <a:pPr marL="0" indent="0">
              <a:buNone/>
            </a:pPr>
            <a:r>
              <a:rPr lang="en-US" sz="1250" b="1" dirty="0">
                <a:solidFill>
                  <a:srgbClr val="D9B44A"/>
                </a:solidFill>
                <a:latin typeface="Calibri" pitchFamily="34" charset="0"/>
                <a:ea typeface="Calibri" pitchFamily="34" charset="-122"/>
                <a:cs typeface="Calibri" pitchFamily="34" charset="-120"/>
              </a:rPr>
              <a:t>Order matters: </a:t>
            </a:r>
            <a:r>
              <a:rPr lang="en-US" sz="1250" dirty="0">
                <a:solidFill>
                  <a:srgbClr val="FFFFFF"/>
                </a:solidFill>
                <a:latin typeface="Calibri" pitchFamily="34" charset="0"/>
                <a:ea typeface="Calibri" pitchFamily="34" charset="-122"/>
                <a:cs typeface="Calibri" pitchFamily="34" charset="-120"/>
              </a:rPr>
              <a:t>factor after eliminating recursion, or the SEP conflict remains.  37 → 41 productions.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FIRST, FOLLOW and the LL(1) table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212080" cy="914400"/>
        </p:xfrm>
        <a:graphic>
          <a:graphicData uri="http://schemas.openxmlformats.org/drawingml/2006/table">
            <a:tbl>
              <a:tblPr/>
              <a:tblGrid>
                <a:gridCol w="914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Symbol</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FIRST</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FOLLOW</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extLst>
                  <a:ext uri="{0D108BD9-81ED-4DB2-BD59-A6C34878D82A}">
                    <a16:rowId xmlns:a16="http://schemas.microsoft.com/office/drawing/2014/main" val="10000"/>
                  </a:ext>
                </a:extLst>
              </a:tr>
              <a:tr h="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Seq′</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CONJ, SEP</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NegOpt</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NEG</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VERB</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Predicate</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ADV, NEG, VERB</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 CONJ, SEP</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Comps</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ADJ, DET, NOUN, PREP, PRON</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 CONJ, SEP</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VerbTail</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ADV, NEG, VERB</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50" dirty="0">
                          <a:solidFill>
                            <a:srgbClr val="1F2A26"/>
                          </a:solidFill>
                          <a:latin typeface="Calibri" pitchFamily="34" charset="0"/>
                          <a:ea typeface="Calibri" pitchFamily="34" charset="-122"/>
                          <a:cs typeface="Calibri" pitchFamily="34" charset="-120"/>
                        </a:rPr>
                        <a:t>$, ADJ, CONJ, DET, NOUN, PREP, PRON, SEP</a:t>
                      </a:r>
                      <a:endParaRPr lang="en-US" sz="105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3"/>
          <p:cNvSpPr txBox="1"/>
          <p:nvPr/>
        </p:nvSpPr>
        <p:spPr>
          <a:xfrm>
            <a:off x="457200" y="3429000"/>
            <a:ext cx="5212080" cy="457200"/>
          </a:xfrm>
          <a:prstGeom prst="rect">
            <a:avLst/>
          </a:prstGeom>
          <a:noFill/>
          <a:ln/>
        </p:spPr>
        <p:txBody>
          <a:bodyPr wrap="square" lIns="0" tIns="0" rIns="0" bIns="0" rtlCol="0" anchor="t"/>
          <a:lstStyle/>
          <a:p>
            <a:pPr marL="0" indent="0">
              <a:buNone/>
            </a:pPr>
            <a:r>
              <a:rPr lang="en-US" sz="1150" b="1" dirty="0">
                <a:solidFill>
                  <a:srgbClr val="0F3D2E"/>
                </a:solidFill>
                <a:latin typeface="Calibri" pitchFamily="34" charset="0"/>
                <a:ea typeface="Calibri" pitchFamily="34" charset="-122"/>
                <a:cs typeface="Calibri" pitchFamily="34" charset="-120"/>
              </a:rPr>
              <a:t>Nullable: </a:t>
            </a:r>
            <a:r>
              <a:rPr lang="en-US" sz="1150" dirty="0">
                <a:solidFill>
                  <a:srgbClr val="1F2A26"/>
                </a:solidFill>
                <a:latin typeface="Calibri" pitchFamily="34" charset="0"/>
                <a:ea typeface="Calibri" pitchFamily="34" charset="-122"/>
                <a:cs typeface="Calibri" pitchFamily="34" charset="-120"/>
              </a:rPr>
              <a:t>ClauseOpt, ClauseTail, Comps, NegOpt, Seq′, Unit′, VerbTail</a:t>
            </a:r>
            <a:endParaRPr lang="en-US" sz="1150" dirty="0"/>
          </a:p>
        </p:txBody>
      </p:sp>
      <p:sp>
        <p:nvSpPr>
          <p:cNvPr id="8" name="Text 4"/>
          <p:cNvSpPr txBox="1"/>
          <p:nvPr/>
        </p:nvSpPr>
        <p:spPr>
          <a:xfrm>
            <a:off x="457200" y="3977640"/>
            <a:ext cx="5212080" cy="548640"/>
          </a:xfrm>
          <a:prstGeom prst="rect">
            <a:avLst/>
          </a:prstGeom>
          <a:noFill/>
          <a:ln/>
        </p:spPr>
        <p:txBody>
          <a:bodyPr wrap="square" lIns="0" tIns="0" rIns="0" bIns="0" rtlCol="0" anchor="t"/>
          <a:lstStyle/>
          <a:p>
            <a:pPr marL="0" indent="0">
              <a:buNone/>
            </a:pPr>
            <a:r>
              <a:rPr lang="en-US" sz="1150" i="1" dirty="0">
                <a:solidFill>
                  <a:srgbClr val="5F6F68"/>
                </a:solidFill>
                <a:latin typeface="Calibri" pitchFamily="34" charset="0"/>
                <a:ea typeface="Calibri" pitchFamily="34" charset="-122"/>
                <a:cs typeface="Calibri" pitchFamily="34" charset="-120"/>
              </a:rPr>
              <a:t>Rule: add A → α at [A, t] for every t ∈ FIRST(α); if α is nullable, also for every t ∈ FOLLOW(A).</a:t>
            </a:r>
            <a:endParaRPr lang="en-US" sz="1150" dirty="0"/>
          </a:p>
        </p:txBody>
      </p:sp>
      <p:sp>
        <p:nvSpPr>
          <p:cNvPr id="9" name="Shape 5"/>
          <p:cNvSpPr/>
          <p:nvPr/>
        </p:nvSpPr>
        <p:spPr>
          <a:xfrm>
            <a:off x="5943600" y="1143000"/>
            <a:ext cx="2743200" cy="3383280"/>
          </a:xfrm>
          <a:prstGeom prst="roundRect">
            <a:avLst>
              <a:gd name="adj" fmla="val 2667"/>
            </a:avLst>
          </a:prstGeom>
          <a:solidFill>
            <a:srgbClr val="0F3D2E"/>
          </a:solidFill>
          <a:ln w="12700">
            <a:solidFill>
              <a:srgbClr val="0F3D2E"/>
            </a:solidFill>
            <a:prstDash val="solid"/>
          </a:ln>
        </p:spPr>
      </p:sp>
      <p:sp>
        <p:nvSpPr>
          <p:cNvPr id="10" name="Shape 6"/>
          <p:cNvSpPr/>
          <p:nvPr/>
        </p:nvSpPr>
        <p:spPr>
          <a:xfrm>
            <a:off x="6903720" y="1371600"/>
            <a:ext cx="822960" cy="822960"/>
          </a:xfrm>
          <a:prstGeom prst="ellipse">
            <a:avLst/>
          </a:prstGeom>
          <a:solidFill>
            <a:srgbClr val="D9B44A"/>
          </a:solidFill>
          <a:ln w="12700">
            <a:solidFill>
              <a:srgbClr val="D9B44A"/>
            </a:solidFill>
            <a:prstDash val="solid"/>
          </a:ln>
        </p:spPr>
      </p:sp>
      <p:sp>
        <p:nvSpPr>
          <p:cNvPr id="5" name="Text 7"/>
          <p:cNvSpPr txBox="1"/>
          <p:nvPr/>
        </p:nvSpPr>
        <p:spPr>
          <a:xfrm>
            <a:off x="6903720" y="1371600"/>
            <a:ext cx="822960" cy="822960"/>
          </a:xfrm>
          <a:prstGeom prst="rect">
            <a:avLst/>
          </a:prstGeom>
          <a:noFill/>
          <a:ln/>
        </p:spPr>
        <p:txBody>
          <a:bodyPr wrap="square" lIns="0" tIns="0" rIns="0" bIns="0" rtlCol="0" anchor="ctr"/>
          <a:lstStyle/>
          <a:p>
            <a:pPr marL="0" indent="0" algn="ctr">
              <a:buNone/>
            </a:pPr>
            <a:r>
              <a:rPr lang="en-US" sz="3400" b="1" dirty="0">
                <a:solidFill>
                  <a:srgbClr val="0F3D2E"/>
                </a:solidFill>
                <a:latin typeface="Calibri" pitchFamily="34" charset="0"/>
                <a:ea typeface="Calibri" pitchFamily="34" charset="-122"/>
                <a:cs typeface="Calibri" pitchFamily="34" charset="-120"/>
              </a:rPr>
              <a:t>✓</a:t>
            </a:r>
            <a:endParaRPr lang="en-US" sz="3400" dirty="0"/>
          </a:p>
        </p:txBody>
      </p:sp>
      <p:sp>
        <p:nvSpPr>
          <p:cNvPr id="12" name="Text 8"/>
          <p:cNvSpPr txBox="1"/>
          <p:nvPr/>
        </p:nvSpPr>
        <p:spPr>
          <a:xfrm>
            <a:off x="6035040" y="2377440"/>
            <a:ext cx="2560320" cy="365760"/>
          </a:xfrm>
          <a:prstGeom prst="rect">
            <a:avLst/>
          </a:prstGeom>
          <a:noFill/>
          <a:ln/>
        </p:spPr>
        <p:txBody>
          <a:bodyPr wrap="square" lIns="0" tIns="0" rIns="0" bIns="0" rtlCol="0" anchor="t"/>
          <a:lstStyle/>
          <a:p>
            <a:pPr marL="0" indent="0" algn="ctr">
              <a:buNone/>
            </a:pPr>
            <a:r>
              <a:rPr lang="en-US" sz="2000" b="1" dirty="0">
                <a:solidFill>
                  <a:srgbClr val="FFFFFF"/>
                </a:solidFill>
                <a:latin typeface="Cambria" pitchFamily="34" charset="0"/>
                <a:ea typeface="Cambria" pitchFamily="34" charset="-122"/>
                <a:cs typeface="Cambria" pitchFamily="34" charset="-120"/>
              </a:rPr>
              <a:t>Conflict-free</a:t>
            </a:r>
            <a:endParaRPr lang="en-US" sz="2000" dirty="0"/>
          </a:p>
        </p:txBody>
      </p:sp>
      <p:sp>
        <p:nvSpPr>
          <p:cNvPr id="13" name="Text 9"/>
          <p:cNvSpPr txBox="1"/>
          <p:nvPr/>
        </p:nvSpPr>
        <p:spPr>
          <a:xfrm>
            <a:off x="6172200" y="2834640"/>
            <a:ext cx="2286000" cy="914400"/>
          </a:xfrm>
          <a:prstGeom prst="rect">
            <a:avLst/>
          </a:prstGeom>
          <a:noFill/>
          <a:ln/>
        </p:spPr>
        <p:txBody>
          <a:bodyPr wrap="square" lIns="0" tIns="0" rIns="0" bIns="0" rtlCol="0" anchor="t"/>
          <a:lstStyle/>
          <a:p>
            <a:pPr marL="0" indent="0" algn="ctr">
              <a:buNone/>
            </a:pPr>
            <a:r>
              <a:rPr lang="en-US" sz="1150" dirty="0">
                <a:solidFill>
                  <a:srgbClr val="CFE3D9"/>
                </a:solidFill>
                <a:latin typeface="Calibri" pitchFamily="34" charset="0"/>
                <a:ea typeface="Calibri" pitchFamily="34" charset="-122"/>
                <a:cs typeface="Calibri" pitchFamily="34" charset="-120"/>
              </a:rPr>
              <a:t>No duplicated cells. One token of lookahead, no backtracking, no ambiguity heuristics.</a:t>
            </a:r>
            <a:endParaRPr lang="en-US" sz="1150" dirty="0"/>
          </a:p>
        </p:txBody>
      </p:sp>
      <p:sp>
        <p:nvSpPr>
          <p:cNvPr id="14" name="Text 10"/>
          <p:cNvSpPr txBox="1"/>
          <p:nvPr/>
        </p:nvSpPr>
        <p:spPr>
          <a:xfrm>
            <a:off x="6035040" y="3977640"/>
            <a:ext cx="2560320" cy="274320"/>
          </a:xfrm>
          <a:prstGeom prst="rect">
            <a:avLst/>
          </a:prstGeom>
          <a:noFill/>
          <a:ln/>
        </p:spPr>
        <p:txBody>
          <a:bodyPr wrap="square" lIns="0" tIns="0" rIns="0" bIns="0" rtlCol="0" anchor="t"/>
          <a:lstStyle/>
          <a:p>
            <a:pPr marL="0" indent="0" algn="ctr">
              <a:buNone/>
            </a:pPr>
            <a:r>
              <a:rPr lang="en-US" sz="1000" dirty="0">
                <a:solidFill>
                  <a:srgbClr val="D9B44A"/>
                </a:solidFill>
                <a:latin typeface="Courier New" pitchFamily="34" charset="0"/>
                <a:ea typeface="Courier New" pitchFamily="34" charset="-122"/>
                <a:cs typeface="Courier New" pitchFamily="34" charset="-120"/>
              </a:rPr>
              <a:t>enforced by test_ll1.py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Table-driven predictive parser</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11</a:t>
            </a:r>
            <a:endParaRPr lang="en-US" sz="900" dirty="0"/>
          </a:p>
        </p:txBody>
      </p:sp>
      <p:sp>
        <p:nvSpPr>
          <p:cNvPr id="6" name="Shape 3"/>
          <p:cNvSpPr/>
          <p:nvPr/>
        </p:nvSpPr>
        <p:spPr>
          <a:xfrm>
            <a:off x="457200" y="1216152"/>
            <a:ext cx="365760" cy="365760"/>
          </a:xfrm>
          <a:prstGeom prst="ellipse">
            <a:avLst/>
          </a:prstGeom>
          <a:solidFill>
            <a:srgbClr val="1B6B4F"/>
          </a:solidFill>
          <a:ln w="12700">
            <a:solidFill>
              <a:srgbClr val="1B6B4F"/>
            </a:solidFill>
            <a:prstDash val="solid"/>
          </a:ln>
        </p:spPr>
      </p:sp>
      <p:sp>
        <p:nvSpPr>
          <p:cNvPr id="7" name="Text 4"/>
          <p:cNvSpPr txBox="1"/>
          <p:nvPr/>
        </p:nvSpPr>
        <p:spPr>
          <a:xfrm>
            <a:off x="457200" y="12161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60120" y="1143000"/>
            <a:ext cx="3200400" cy="548640"/>
          </a:xfrm>
          <a:prstGeom prst="rect">
            <a:avLst/>
          </a:prstGeom>
          <a:noFill/>
          <a:ln/>
        </p:spPr>
        <p:txBody>
          <a:bodyPr wrap="square" lIns="0" tIns="0" rIns="0" bIns="0" rtlCol="0" anchor="ctr"/>
          <a:lstStyle/>
          <a:p>
            <a:pPr marL="0" indent="0">
              <a:buNone/>
            </a:pPr>
            <a:r>
              <a:rPr lang="en-US" sz="1200" dirty="0">
                <a:solidFill>
                  <a:srgbClr val="1F2A26"/>
                </a:solidFill>
                <a:latin typeface="Calibri" pitchFamily="34" charset="0"/>
                <a:ea typeface="Calibri" pitchFamily="34" charset="-122"/>
                <a:cs typeface="Calibri" pitchFamily="34" charset="-120"/>
              </a:rPr>
              <a:t>Push $ and the start symbol S</a:t>
            </a:r>
            <a:endParaRPr lang="en-US" sz="1200" dirty="0"/>
          </a:p>
        </p:txBody>
      </p:sp>
      <p:sp>
        <p:nvSpPr>
          <p:cNvPr id="9" name="Shape 6"/>
          <p:cNvSpPr/>
          <p:nvPr/>
        </p:nvSpPr>
        <p:spPr>
          <a:xfrm>
            <a:off x="457200" y="1901952"/>
            <a:ext cx="365760" cy="365760"/>
          </a:xfrm>
          <a:prstGeom prst="ellipse">
            <a:avLst/>
          </a:prstGeom>
          <a:solidFill>
            <a:srgbClr val="1B6B4F"/>
          </a:solidFill>
          <a:ln w="12700">
            <a:solidFill>
              <a:srgbClr val="1B6B4F"/>
            </a:solidFill>
            <a:prstDash val="solid"/>
          </a:ln>
        </p:spPr>
      </p:sp>
      <p:sp>
        <p:nvSpPr>
          <p:cNvPr id="10" name="Text 7"/>
          <p:cNvSpPr txBox="1"/>
          <p:nvPr/>
        </p:nvSpPr>
        <p:spPr>
          <a:xfrm>
            <a:off x="457200" y="19019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960120" y="1828800"/>
            <a:ext cx="3200400" cy="548640"/>
          </a:xfrm>
          <a:prstGeom prst="rect">
            <a:avLst/>
          </a:prstGeom>
          <a:noFill/>
          <a:ln/>
        </p:spPr>
        <p:txBody>
          <a:bodyPr wrap="square" lIns="0" tIns="0" rIns="0" bIns="0" rtlCol="0" anchor="ctr"/>
          <a:lstStyle/>
          <a:p>
            <a:pPr marL="0" indent="0">
              <a:buNone/>
            </a:pPr>
            <a:r>
              <a:rPr lang="en-US" sz="1200" dirty="0">
                <a:solidFill>
                  <a:srgbClr val="1F2A26"/>
                </a:solidFill>
                <a:latin typeface="Calibri" pitchFamily="34" charset="0"/>
                <a:ea typeface="Calibri" pitchFamily="34" charset="-122"/>
                <a:cs typeface="Calibri" pitchFamily="34" charset="-120"/>
              </a:rPr>
              <a:t>Look at stack top X and lookahead t</a:t>
            </a:r>
            <a:endParaRPr lang="en-US" sz="1200" dirty="0"/>
          </a:p>
        </p:txBody>
      </p:sp>
      <p:sp>
        <p:nvSpPr>
          <p:cNvPr id="12" name="Shape 9"/>
          <p:cNvSpPr/>
          <p:nvPr/>
        </p:nvSpPr>
        <p:spPr>
          <a:xfrm>
            <a:off x="457200" y="2587752"/>
            <a:ext cx="365760" cy="365760"/>
          </a:xfrm>
          <a:prstGeom prst="ellipse">
            <a:avLst/>
          </a:prstGeom>
          <a:solidFill>
            <a:srgbClr val="1B6B4F"/>
          </a:solidFill>
          <a:ln w="12700">
            <a:solidFill>
              <a:srgbClr val="1B6B4F"/>
            </a:solidFill>
            <a:prstDash val="solid"/>
          </a:ln>
        </p:spPr>
      </p:sp>
      <p:sp>
        <p:nvSpPr>
          <p:cNvPr id="13" name="Text 10"/>
          <p:cNvSpPr txBox="1"/>
          <p:nvPr/>
        </p:nvSpPr>
        <p:spPr>
          <a:xfrm>
            <a:off x="457200" y="25877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1"/>
          <p:cNvSpPr txBox="1"/>
          <p:nvPr/>
        </p:nvSpPr>
        <p:spPr>
          <a:xfrm>
            <a:off x="960120" y="2514600"/>
            <a:ext cx="3200400" cy="548640"/>
          </a:xfrm>
          <a:prstGeom prst="rect">
            <a:avLst/>
          </a:prstGeom>
          <a:noFill/>
          <a:ln/>
        </p:spPr>
        <p:txBody>
          <a:bodyPr wrap="square" lIns="0" tIns="0" rIns="0" bIns="0" rtlCol="0" anchor="ctr"/>
          <a:lstStyle/>
          <a:p>
            <a:pPr marL="0" indent="0">
              <a:buNone/>
            </a:pPr>
            <a:r>
              <a:rPr lang="en-US" sz="1200" dirty="0">
                <a:solidFill>
                  <a:srgbClr val="1F2A26"/>
                </a:solidFill>
                <a:latin typeface="Calibri" pitchFamily="34" charset="0"/>
                <a:ea typeface="Calibri" pitchFamily="34" charset="-122"/>
                <a:cs typeface="Calibri" pitchFamily="34" charset="-120"/>
              </a:rPr>
              <a:t>Terminal: must equal t, then pop and advance</a:t>
            </a:r>
            <a:endParaRPr lang="en-US" sz="1200" dirty="0"/>
          </a:p>
        </p:txBody>
      </p:sp>
      <p:sp>
        <p:nvSpPr>
          <p:cNvPr id="15" name="Shape 12"/>
          <p:cNvSpPr/>
          <p:nvPr/>
        </p:nvSpPr>
        <p:spPr>
          <a:xfrm>
            <a:off x="457200" y="3273552"/>
            <a:ext cx="365760" cy="365760"/>
          </a:xfrm>
          <a:prstGeom prst="ellipse">
            <a:avLst/>
          </a:prstGeom>
          <a:solidFill>
            <a:srgbClr val="1B6B4F"/>
          </a:solidFill>
          <a:ln w="12700">
            <a:solidFill>
              <a:srgbClr val="1B6B4F"/>
            </a:solidFill>
            <a:prstDash val="solid"/>
          </a:ln>
        </p:spPr>
      </p:sp>
      <p:sp>
        <p:nvSpPr>
          <p:cNvPr id="16" name="Text 13"/>
          <p:cNvSpPr txBox="1"/>
          <p:nvPr/>
        </p:nvSpPr>
        <p:spPr>
          <a:xfrm>
            <a:off x="457200" y="32735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4"/>
          <p:cNvSpPr txBox="1"/>
          <p:nvPr/>
        </p:nvSpPr>
        <p:spPr>
          <a:xfrm>
            <a:off x="960120" y="3200400"/>
            <a:ext cx="3200400" cy="548640"/>
          </a:xfrm>
          <a:prstGeom prst="rect">
            <a:avLst/>
          </a:prstGeom>
          <a:noFill/>
          <a:ln/>
        </p:spPr>
        <p:txBody>
          <a:bodyPr wrap="square" lIns="0" tIns="0" rIns="0" bIns="0" rtlCol="0" anchor="ctr"/>
          <a:lstStyle/>
          <a:p>
            <a:pPr marL="0" indent="0">
              <a:buNone/>
            </a:pPr>
            <a:r>
              <a:rPr lang="en-US" sz="1200" dirty="0">
                <a:solidFill>
                  <a:srgbClr val="1F2A26"/>
                </a:solidFill>
                <a:latin typeface="Calibri" pitchFamily="34" charset="0"/>
                <a:ea typeface="Calibri" pitchFamily="34" charset="-122"/>
                <a:cs typeface="Calibri" pitchFamily="34" charset="-120"/>
              </a:rPr>
              <a:t>Nonterminal: look up [X, t], push RHS reversed, record production id</a:t>
            </a:r>
            <a:endParaRPr lang="en-US" sz="1200" dirty="0"/>
          </a:p>
        </p:txBody>
      </p:sp>
      <p:sp>
        <p:nvSpPr>
          <p:cNvPr id="18" name="Shape 15"/>
          <p:cNvSpPr/>
          <p:nvPr/>
        </p:nvSpPr>
        <p:spPr>
          <a:xfrm>
            <a:off x="457200" y="3959352"/>
            <a:ext cx="365760" cy="365760"/>
          </a:xfrm>
          <a:prstGeom prst="ellipse">
            <a:avLst/>
          </a:prstGeom>
          <a:solidFill>
            <a:srgbClr val="1B6B4F"/>
          </a:solidFill>
          <a:ln w="12700">
            <a:solidFill>
              <a:srgbClr val="1B6B4F"/>
            </a:solidFill>
            <a:prstDash val="solid"/>
          </a:ln>
        </p:spPr>
      </p:sp>
      <p:sp>
        <p:nvSpPr>
          <p:cNvPr id="19" name="Text 16"/>
          <p:cNvSpPr txBox="1"/>
          <p:nvPr/>
        </p:nvSpPr>
        <p:spPr>
          <a:xfrm>
            <a:off x="457200" y="39593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7"/>
          <p:cNvSpPr txBox="1"/>
          <p:nvPr/>
        </p:nvSpPr>
        <p:spPr>
          <a:xfrm>
            <a:off x="960120" y="3886200"/>
            <a:ext cx="3200400" cy="548640"/>
          </a:xfrm>
          <a:prstGeom prst="rect">
            <a:avLst/>
          </a:prstGeom>
          <a:noFill/>
          <a:ln/>
        </p:spPr>
        <p:txBody>
          <a:bodyPr wrap="square" lIns="0" tIns="0" rIns="0" bIns="0" rtlCol="0" anchor="ctr"/>
          <a:lstStyle/>
          <a:p>
            <a:pPr marL="0" indent="0">
              <a:buNone/>
            </a:pPr>
            <a:r>
              <a:rPr lang="en-US" sz="1200" dirty="0">
                <a:solidFill>
                  <a:srgbClr val="1F2A26"/>
                </a:solidFill>
                <a:latin typeface="Calibri" pitchFamily="34" charset="0"/>
                <a:ea typeface="Calibri" pitchFamily="34" charset="-122"/>
                <a:cs typeface="Calibri" pitchFamily="34" charset="-120"/>
              </a:rPr>
              <a:t>X = $ = t: accepted. Empty cell: rejected with expected set</a:t>
            </a:r>
            <a:endParaRPr lang="en-US" sz="1200" dirty="0"/>
          </a:p>
        </p:txBody>
      </p:sp>
      <p:sp>
        <p:nvSpPr>
          <p:cNvPr id="21" name="Text 18"/>
          <p:cNvSpPr txBox="1"/>
          <p:nvPr/>
        </p:nvSpPr>
        <p:spPr>
          <a:xfrm>
            <a:off x="4434840" y="1097280"/>
            <a:ext cx="4297680" cy="274320"/>
          </a:xfrm>
          <a:prstGeom prst="rect">
            <a:avLst/>
          </a:prstGeom>
          <a:noFill/>
          <a:ln/>
        </p:spPr>
        <p:txBody>
          <a:bodyPr wrap="square" lIns="0" tIns="0" rIns="0" bIns="0" rtlCol="0" anchor="t"/>
          <a:lstStyle/>
          <a:p>
            <a:pPr marL="0" indent="0">
              <a:buNone/>
            </a:pPr>
            <a:r>
              <a:rPr lang="en-US" sz="1100" b="1" dirty="0">
                <a:solidFill>
                  <a:srgbClr val="1F2A26"/>
                </a:solidFill>
                <a:latin typeface="Calibri" pitchFamily="34" charset="0"/>
                <a:ea typeface="Calibri" pitchFamily="34" charset="-122"/>
                <a:cs typeface="Calibri" pitchFamily="34" charset="-120"/>
              </a:rPr>
              <a:t>le taximan a une voiture</a:t>
            </a:r>
            <a:r>
              <a:rPr lang="en-US" sz="1100" dirty="0">
                <a:solidFill>
                  <a:srgbClr val="1B6B4F"/>
                </a:solidFill>
                <a:latin typeface="Courier New" pitchFamily="34" charset="0"/>
                <a:ea typeface="Courier New" pitchFamily="34" charset="-122"/>
                <a:cs typeface="Courier New" pitchFamily="34" charset="-120"/>
              </a:rPr>
              <a:t>  →  DET NOUN VERB DET NOUN</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434840" y="1463040"/>
          <a:ext cx="4251960" cy="914400"/>
        </p:xfrm>
        <a:graphic>
          <a:graphicData uri="http://schemas.openxmlformats.org/drawingml/2006/table">
            <a:tbl>
              <a:tblPr/>
              <a:tblGrid>
                <a:gridCol w="365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Stack (top first)</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Look</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S $</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DET</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S → Seq</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NP ClauseTail …</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DET</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NP → DET NP′</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DET NP′ …</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DET</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match le</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NOUN …</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NOUN</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match taximan</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NegOpt …</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VERB</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NegOpt → ε (VERB ∈ FOLLOW)</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VerbTail …</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DET</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VerbTail → ε</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Comps Seq′ $</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Comps → ε, Seq′ → ε</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7"/>
                  </a:ext>
                </a:extLst>
              </a:tr>
              <a:tr h="329184">
                <a:tc>
                  <a:txBody>
                    <a:bodyPr/>
                    <a:lstStyle/>
                    <a:p>
                      <a:pPr marL="0" indent="0">
                        <a:buNone/>
                      </a:pPr>
                      <a:r>
                        <a:rPr lang="en-US" sz="1000" b="1" dirty="0">
                          <a:solidFill>
                            <a:srgbClr val="1F2A26"/>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dirty="0">
                          <a:solidFill>
                            <a:srgbClr val="1F2A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marL="0" indent="0">
                        <a:buNone/>
                      </a:pPr>
                      <a:r>
                        <a:rPr lang="en-US" sz="1000" b="1" dirty="0">
                          <a:solidFill>
                            <a:srgbClr val="1B6B4F"/>
                          </a:solidFill>
                          <a:latin typeface="Calibri" pitchFamily="34" charset="0"/>
                          <a:ea typeface="Calibri" pitchFamily="34" charset="-122"/>
                          <a:cs typeface="Calibri" pitchFamily="34" charset="-120"/>
                        </a:rPr>
                        <a:t>accepted</a:t>
                      </a:r>
                      <a:endParaRPr lang="en-US" sz="1000" dirty="0">
                        <a:latin typeface="Calibri" charset="0"/>
                        <a:ea typeface="Calibri" charset="0"/>
                        <a:cs typeface="Calibri" charset="0"/>
                      </a:endParaRPr>
                    </a:p>
                  </a:txBody>
                  <a:tcPr>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Results: 20 of 22 statements accepted</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12</a:t>
            </a:r>
            <a:endParaRPr lang="en-US" sz="900" dirty="0"/>
          </a:p>
        </p:txBody>
      </p:sp>
      <p:graphicFrame>
        <p:nvGraphicFramePr>
          <p:cNvPr id="6" name="Chart 0"/>
          <p:cNvGraphicFramePr/>
          <p:nvPr/>
        </p:nvGraphicFramePr>
        <p:xfrm>
          <a:off x="365760" y="1051560"/>
          <a:ext cx="35661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4297680" y="1051560"/>
            <a:ext cx="2194560" cy="822960"/>
          </a:xfrm>
          <a:prstGeom prst="rect">
            <a:avLst/>
          </a:prstGeom>
          <a:noFill/>
          <a:ln/>
        </p:spPr>
        <p:txBody>
          <a:bodyPr wrap="square" lIns="0" tIns="0" rIns="0" bIns="0" rtlCol="0" anchor="t"/>
          <a:lstStyle/>
          <a:p>
            <a:pPr marL="0" indent="0">
              <a:buNone/>
            </a:pPr>
            <a:r>
              <a:rPr lang="en-US" sz="5400" b="1" dirty="0">
                <a:solidFill>
                  <a:srgbClr val="1B6B4F"/>
                </a:solidFill>
                <a:latin typeface="Cambria" pitchFamily="34" charset="0"/>
                <a:ea typeface="Cambria" pitchFamily="34" charset="-122"/>
                <a:cs typeface="Cambria" pitchFamily="34" charset="-120"/>
              </a:rPr>
              <a:t>91%</a:t>
            </a:r>
            <a:endParaRPr lang="en-US" sz="5400" dirty="0"/>
          </a:p>
        </p:txBody>
      </p:sp>
      <p:sp>
        <p:nvSpPr>
          <p:cNvPr id="8" name="Text 4"/>
          <p:cNvSpPr txBox="1"/>
          <p:nvPr/>
        </p:nvSpPr>
        <p:spPr>
          <a:xfrm>
            <a:off x="6309360" y="1188720"/>
            <a:ext cx="2377440" cy="685800"/>
          </a:xfrm>
          <a:prstGeom prst="rect">
            <a:avLst/>
          </a:prstGeom>
          <a:noFill/>
          <a:ln/>
        </p:spPr>
        <p:txBody>
          <a:bodyPr wrap="square" lIns="0" tIns="0" rIns="0" bIns="0" rtlCol="0" anchor="t"/>
          <a:lstStyle/>
          <a:p>
            <a:pPr marL="0" indent="0">
              <a:buNone/>
            </a:pPr>
            <a:r>
              <a:rPr lang="en-US" sz="1150" dirty="0">
                <a:solidFill>
                  <a:srgbClr val="5F6F68"/>
                </a:solidFill>
                <a:latin typeface="Calibri" pitchFamily="34" charset="0"/>
                <a:ea typeface="Calibri" pitchFamily="34" charset="-122"/>
                <a:cs typeface="Calibri" pitchFamily="34" charset="-120"/>
              </a:rPr>
              <a:t>acceptance rate, each with a derivation or an expected-terminal set</a:t>
            </a:r>
            <a:endParaRPr lang="en-US" sz="1150" dirty="0"/>
          </a:p>
        </p:txBody>
      </p:sp>
      <p:sp>
        <p:nvSpPr>
          <p:cNvPr id="9" name="Shape 5"/>
          <p:cNvSpPr/>
          <p:nvPr/>
        </p:nvSpPr>
        <p:spPr>
          <a:xfrm>
            <a:off x="4297680" y="2103120"/>
            <a:ext cx="4389120" cy="960120"/>
          </a:xfrm>
          <a:prstGeom prst="roundRect">
            <a:avLst>
              <a:gd name="adj" fmla="val 7619"/>
            </a:avLst>
          </a:prstGeom>
          <a:solidFill>
            <a:srgbClr val="FBEFEF"/>
          </a:solidFill>
          <a:ln w="12700">
            <a:solidFill>
              <a:srgbClr val="FBEFEF"/>
            </a:solidFill>
            <a:prstDash val="solid"/>
          </a:ln>
        </p:spPr>
      </p:sp>
      <p:sp>
        <p:nvSpPr>
          <p:cNvPr id="10" name="Text 6"/>
          <p:cNvSpPr txBox="1"/>
          <p:nvPr/>
        </p:nvSpPr>
        <p:spPr>
          <a:xfrm>
            <a:off x="4480560" y="2194560"/>
            <a:ext cx="4023360" cy="256032"/>
          </a:xfrm>
          <a:prstGeom prst="rect">
            <a:avLst/>
          </a:prstGeom>
          <a:noFill/>
          <a:ln/>
        </p:spPr>
        <p:txBody>
          <a:bodyPr wrap="square" lIns="0" tIns="0" rIns="0" bIns="0" rtlCol="0" anchor="t"/>
          <a:lstStyle/>
          <a:p>
            <a:pPr marL="0" indent="0">
              <a:buNone/>
            </a:pPr>
            <a:r>
              <a:rPr lang="en-US" sz="1150" b="1" dirty="0">
                <a:solidFill>
                  <a:srgbClr val="B23A3A"/>
                </a:solidFill>
                <a:latin typeface="Courier New" pitchFamily="34" charset="0"/>
                <a:ea typeface="Courier New" pitchFamily="34" charset="-122"/>
                <a:cs typeface="Courier New" pitchFamily="34" charset="-120"/>
              </a:rPr>
              <a:t>ycf-007</a:t>
            </a:r>
            <a:r>
              <a:rPr lang="en-US" sz="1050" dirty="0">
                <a:solidFill>
                  <a:srgbClr val="B23A3A"/>
                </a:solidFill>
                <a:latin typeface="Calibri" pitchFamily="34" charset="0"/>
                <a:ea typeface="Calibri" pitchFamily="34" charset="-122"/>
                <a:cs typeface="Calibri" pitchFamily="34" charset="-120"/>
              </a:rPr>
              <a:t>   rejected · adverb after the object: no table entry</a:t>
            </a:r>
            <a:endParaRPr lang="en-US" sz="1150" dirty="0"/>
          </a:p>
        </p:txBody>
      </p:sp>
      <p:sp>
        <p:nvSpPr>
          <p:cNvPr id="11" name="Text 7"/>
          <p:cNvSpPr txBox="1"/>
          <p:nvPr/>
        </p:nvSpPr>
        <p:spPr>
          <a:xfrm>
            <a:off x="4480560" y="2514600"/>
            <a:ext cx="4023360" cy="502920"/>
          </a:xfrm>
          <a:prstGeom prst="rect">
            <a:avLst/>
          </a:prstGeom>
          <a:noFill/>
          <a:ln/>
        </p:spPr>
        <p:txBody>
          <a:bodyPr wrap="square" lIns="0" tIns="0" rIns="0" bIns="0" rtlCol="0" anchor="t"/>
          <a:lstStyle/>
          <a:p>
            <a:pPr marL="0" indent="0">
              <a:buNone/>
            </a:pPr>
            <a:r>
              <a:rPr lang="en-US" sz="1200" i="1" dirty="0">
                <a:solidFill>
                  <a:srgbClr val="1F2A26"/>
                </a:solidFill>
                <a:latin typeface="Calibri" pitchFamily="34" charset="0"/>
                <a:ea typeface="Calibri" pitchFamily="34" charset="-122"/>
                <a:cs typeface="Calibri" pitchFamily="34" charset="-120"/>
              </a:rPr>
              <a:t>Combi, viens tchop le poisson ici, on peut discuter le prix.</a:t>
            </a:r>
            <a:endParaRPr lang="en-US" sz="1200" dirty="0"/>
          </a:p>
        </p:txBody>
      </p:sp>
      <p:sp>
        <p:nvSpPr>
          <p:cNvPr id="12" name="Shape 8"/>
          <p:cNvSpPr/>
          <p:nvPr/>
        </p:nvSpPr>
        <p:spPr>
          <a:xfrm>
            <a:off x="4297680" y="3200400"/>
            <a:ext cx="4389120" cy="960120"/>
          </a:xfrm>
          <a:prstGeom prst="roundRect">
            <a:avLst>
              <a:gd name="adj" fmla="val 7619"/>
            </a:avLst>
          </a:prstGeom>
          <a:solidFill>
            <a:srgbClr val="FBEFEF"/>
          </a:solidFill>
          <a:ln w="12700">
            <a:solidFill>
              <a:srgbClr val="FBEFEF"/>
            </a:solidFill>
            <a:prstDash val="solid"/>
          </a:ln>
        </p:spPr>
      </p:sp>
      <p:sp>
        <p:nvSpPr>
          <p:cNvPr id="13" name="Text 9"/>
          <p:cNvSpPr txBox="1"/>
          <p:nvPr/>
        </p:nvSpPr>
        <p:spPr>
          <a:xfrm>
            <a:off x="4480560" y="3291840"/>
            <a:ext cx="4023360" cy="256032"/>
          </a:xfrm>
          <a:prstGeom prst="rect">
            <a:avLst/>
          </a:prstGeom>
          <a:noFill/>
          <a:ln/>
        </p:spPr>
        <p:txBody>
          <a:bodyPr wrap="square" lIns="0" tIns="0" rIns="0" bIns="0" rtlCol="0" anchor="t"/>
          <a:lstStyle/>
          <a:p>
            <a:pPr marL="0" indent="0">
              <a:buNone/>
            </a:pPr>
            <a:r>
              <a:rPr lang="en-US" sz="1150" b="1" dirty="0">
                <a:solidFill>
                  <a:srgbClr val="B23A3A"/>
                </a:solidFill>
                <a:latin typeface="Courier New" pitchFamily="34" charset="0"/>
                <a:ea typeface="Courier New" pitchFamily="34" charset="-122"/>
                <a:cs typeface="Courier New" pitchFamily="34" charset="-120"/>
              </a:rPr>
              <a:t>ycf-008</a:t>
            </a:r>
            <a:r>
              <a:rPr lang="en-US" sz="1050" dirty="0">
                <a:solidFill>
                  <a:srgbClr val="B23A3A"/>
                </a:solidFill>
                <a:latin typeface="Calibri" pitchFamily="34" charset="0"/>
                <a:ea typeface="Calibri" pitchFamily="34" charset="-122"/>
                <a:cs typeface="Calibri" pitchFamily="34" charset="-120"/>
              </a:rPr>
              <a:t>   rejected · clitic pronoun: PRON/CLITIC LL(1) conflict</a:t>
            </a:r>
            <a:endParaRPr lang="en-US" sz="1150" dirty="0"/>
          </a:p>
        </p:txBody>
      </p:sp>
      <p:sp>
        <p:nvSpPr>
          <p:cNvPr id="14" name="Text 10"/>
          <p:cNvSpPr txBox="1"/>
          <p:nvPr/>
        </p:nvSpPr>
        <p:spPr>
          <a:xfrm>
            <a:off x="4480560" y="3611880"/>
            <a:ext cx="4023360" cy="502920"/>
          </a:xfrm>
          <a:prstGeom prst="rect">
            <a:avLst/>
          </a:prstGeom>
          <a:noFill/>
          <a:ln/>
        </p:spPr>
        <p:txBody>
          <a:bodyPr wrap="square" lIns="0" tIns="0" rIns="0" bIns="0" rtlCol="0" anchor="t"/>
          <a:lstStyle/>
          <a:p>
            <a:pPr marL="0" indent="0">
              <a:buNone/>
            </a:pPr>
            <a:r>
              <a:rPr lang="en-US" sz="1200" i="1" dirty="0">
                <a:solidFill>
                  <a:srgbClr val="1F2A26"/>
                </a:solidFill>
                <a:latin typeface="Calibri" pitchFamily="34" charset="0"/>
                <a:ea typeface="Calibri" pitchFamily="34" charset="-122"/>
                <a:cs typeface="Calibri" pitchFamily="34" charset="-120"/>
              </a:rPr>
              <a:t>Le bendskin va me bring au kwatt, je ne veux pas waka jusqu’à la piol.</a:t>
            </a:r>
            <a:endParaRPr lang="en-US" sz="1200" dirty="0"/>
          </a:p>
        </p:txBody>
      </p:sp>
      <p:sp>
        <p:nvSpPr>
          <p:cNvPr id="15" name="Text 11"/>
          <p:cNvSpPr txBox="1"/>
          <p:nvPr/>
        </p:nvSpPr>
        <p:spPr>
          <a:xfrm>
            <a:off x="4297680" y="4297680"/>
            <a:ext cx="4389120" cy="411480"/>
          </a:xfrm>
          <a:prstGeom prst="rect">
            <a:avLst/>
          </a:prstGeom>
          <a:noFill/>
          <a:ln/>
        </p:spPr>
        <p:txBody>
          <a:bodyPr wrap="square" lIns="0" tIns="0" rIns="0" bIns="0" rtlCol="0" anchor="t"/>
          <a:lstStyle/>
          <a:p>
            <a:pPr marL="0" indent="0">
              <a:buNone/>
            </a:pPr>
            <a:r>
              <a:rPr lang="en-US" sz="1100" i="1" dirty="0">
                <a:solidFill>
                  <a:srgbClr val="5F6F68"/>
                </a:solidFill>
                <a:latin typeface="Calibri" pitchFamily="34" charset="0"/>
                <a:ea typeface="Calibri" pitchFamily="34" charset="-122"/>
                <a:cs typeface="Calibri" pitchFamily="34" charset="-120"/>
              </a:rPr>
              <a:t>Splitting PRON into PRON + CLITIC would fix both, but needs unseen evidence. A grammar that accepts everything proves nothing.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3D2E"/>
                </a:solidFill>
                <a:latin typeface="Cambria" pitchFamily="34" charset="0"/>
                <a:ea typeface="Cambria" pitchFamily="34" charset="-122"/>
                <a:cs typeface="Cambria" pitchFamily="34" charset="-120"/>
              </a:rPr>
              <a:t>Why Yaoundé speech is so complex</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marL="0" indent="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marL="0" indent="0" algn="r">
              <a:buNone/>
            </a:pPr>
            <a:r>
              <a:rPr lang="en-US" sz="900" dirty="0">
                <a:solidFill>
                  <a:srgbClr val="5F6F68"/>
                </a:solidFill>
                <a:latin typeface="Calibri" pitchFamily="34" charset="0"/>
                <a:ea typeface="Calibri" pitchFamily="34" charset="-122"/>
                <a:cs typeface="Calibri" pitchFamily="34" charset="-120"/>
              </a:rPr>
              <a:t>13</a:t>
            </a:r>
            <a:endParaRPr lang="en-US" sz="900" dirty="0"/>
          </a:p>
        </p:txBody>
      </p:sp>
      <p:sp>
        <p:nvSpPr>
          <p:cNvPr id="6" name="Shape 3"/>
          <p:cNvSpPr/>
          <p:nvPr/>
        </p:nvSpPr>
        <p:spPr>
          <a:xfrm>
            <a:off x="457200" y="1143000"/>
            <a:ext cx="2651760" cy="1645920"/>
          </a:xfrm>
          <a:prstGeom prst="roundRect">
            <a:avLst>
              <a:gd name="adj" fmla="val 4444"/>
            </a:avLst>
          </a:prstGeom>
          <a:solidFill>
            <a:srgbClr val="EEF3F0"/>
          </a:solidFill>
          <a:ln w="12700">
            <a:solidFill>
              <a:srgbClr val="EEF3F0"/>
            </a:solidFill>
            <a:prstDash val="solid"/>
          </a:ln>
        </p:spPr>
      </p:sp>
      <p:sp>
        <p:nvSpPr>
          <p:cNvPr id="7" name="Shape 4"/>
          <p:cNvSpPr/>
          <p:nvPr/>
        </p:nvSpPr>
        <p:spPr>
          <a:xfrm>
            <a:off x="594360" y="1280160"/>
            <a:ext cx="347472" cy="347472"/>
          </a:xfrm>
          <a:prstGeom prst="ellipse">
            <a:avLst/>
          </a:prstGeom>
          <a:solidFill>
            <a:srgbClr val="1B6B4F"/>
          </a:solidFill>
          <a:ln w="12700">
            <a:solidFill>
              <a:srgbClr val="1B6B4F"/>
            </a:solidFill>
            <a:prstDash val="solid"/>
          </a:ln>
        </p:spPr>
      </p:sp>
      <p:sp>
        <p:nvSpPr>
          <p:cNvPr id="8" name="Text 5"/>
          <p:cNvSpPr txBox="1"/>
          <p:nvPr/>
        </p:nvSpPr>
        <p:spPr>
          <a:xfrm>
            <a:off x="594360" y="12801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051560" y="1252728"/>
            <a:ext cx="1965960" cy="411480"/>
          </a:xfrm>
          <a:prstGeom prst="rect">
            <a:avLst/>
          </a:prstGeom>
          <a:noFill/>
          <a:ln/>
        </p:spPr>
        <p:txBody>
          <a:bodyPr wrap="square" lIns="0" tIns="0" rIns="0" bIns="0" rtlCol="0" anchor="ctr"/>
          <a:lstStyle/>
          <a:p>
            <a:pPr marL="0" indent="0">
              <a:buNone/>
            </a:pPr>
            <a:r>
              <a:rPr lang="en-US" sz="1250" b="1" dirty="0">
                <a:solidFill>
                  <a:srgbClr val="0F3D2E"/>
                </a:solidFill>
                <a:latin typeface="Calibri" pitchFamily="34" charset="0"/>
                <a:ea typeface="Calibri" pitchFamily="34" charset="-122"/>
                <a:cs typeface="Calibri" pitchFamily="34" charset="-120"/>
              </a:rPr>
              <a:t>15 donor languages</a:t>
            </a:r>
            <a:endParaRPr lang="en-US" sz="1250" dirty="0"/>
          </a:p>
        </p:txBody>
      </p:sp>
      <p:sp>
        <p:nvSpPr>
          <p:cNvPr id="10" name="Text 7"/>
          <p:cNvSpPr txBox="1"/>
          <p:nvPr/>
        </p:nvSpPr>
        <p:spPr>
          <a:xfrm>
            <a:off x="640080" y="1764792"/>
            <a:ext cx="2331720" cy="960120"/>
          </a:xfrm>
          <a:prstGeom prst="rect">
            <a:avLst/>
          </a:prstGeom>
          <a:noFill/>
          <a:ln/>
        </p:spPr>
        <p:txBody>
          <a:bodyPr wrap="square" lIns="0" tIns="0" rIns="0" bIns="0" rtlCol="0" anchor="t"/>
          <a:lstStyle/>
          <a:p>
            <a:pPr marL="0" indent="0">
              <a:buNone/>
            </a:pPr>
            <a:r>
              <a:rPr lang="en-US" sz="1100" dirty="0">
                <a:solidFill>
                  <a:srgbClr val="1F2A26"/>
                </a:solidFill>
                <a:latin typeface="Calibri" pitchFamily="34" charset="0"/>
                <a:ea typeface="Calibri" pitchFamily="34" charset="-122"/>
                <a:cs typeface="Calibri" pitchFamily="34" charset="-120"/>
              </a:rPr>
              <a:t>The keyword table is a union of vocabularies sharing no common orthography.</a:t>
            </a:r>
            <a:endParaRPr lang="en-US" sz="1100" dirty="0"/>
          </a:p>
        </p:txBody>
      </p:sp>
      <p:sp>
        <p:nvSpPr>
          <p:cNvPr id="11" name="Shape 8"/>
          <p:cNvSpPr/>
          <p:nvPr/>
        </p:nvSpPr>
        <p:spPr>
          <a:xfrm>
            <a:off x="3246120" y="1143000"/>
            <a:ext cx="2651760" cy="1645920"/>
          </a:xfrm>
          <a:prstGeom prst="roundRect">
            <a:avLst>
              <a:gd name="adj" fmla="val 4444"/>
            </a:avLst>
          </a:prstGeom>
          <a:solidFill>
            <a:srgbClr val="EEF3F0"/>
          </a:solidFill>
          <a:ln w="12700">
            <a:solidFill>
              <a:srgbClr val="EEF3F0"/>
            </a:solidFill>
            <a:prstDash val="solid"/>
          </a:ln>
        </p:spPr>
      </p:sp>
      <p:sp>
        <p:nvSpPr>
          <p:cNvPr id="12" name="Shape 9"/>
          <p:cNvSpPr/>
          <p:nvPr/>
        </p:nvSpPr>
        <p:spPr>
          <a:xfrm>
            <a:off x="3383280" y="1280160"/>
            <a:ext cx="347472" cy="347472"/>
          </a:xfrm>
          <a:prstGeom prst="ellipse">
            <a:avLst/>
          </a:prstGeom>
          <a:solidFill>
            <a:srgbClr val="1B6B4F"/>
          </a:solidFill>
          <a:ln w="12700">
            <a:solidFill>
              <a:srgbClr val="1B6B4F"/>
            </a:solidFill>
            <a:prstDash val="solid"/>
          </a:ln>
        </p:spPr>
      </p:sp>
      <p:sp>
        <p:nvSpPr>
          <p:cNvPr id="13" name="Text 10"/>
          <p:cNvSpPr txBox="1"/>
          <p:nvPr/>
        </p:nvSpPr>
        <p:spPr>
          <a:xfrm>
            <a:off x="3383280" y="12801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3840480" y="1252728"/>
            <a:ext cx="1965960" cy="411480"/>
          </a:xfrm>
          <a:prstGeom prst="rect">
            <a:avLst/>
          </a:prstGeom>
          <a:noFill/>
          <a:ln/>
        </p:spPr>
        <p:txBody>
          <a:bodyPr wrap="square" lIns="0" tIns="0" rIns="0" bIns="0" rtlCol="0" anchor="ctr"/>
          <a:lstStyle/>
          <a:p>
            <a:pPr marL="0" indent="0">
              <a:buNone/>
            </a:pPr>
            <a:r>
              <a:rPr lang="en-US" sz="1250" b="1" dirty="0">
                <a:solidFill>
                  <a:srgbClr val="0F3D2E"/>
                </a:solidFill>
                <a:latin typeface="Calibri" pitchFamily="34" charset="0"/>
                <a:ea typeface="Calibri" pitchFamily="34" charset="-122"/>
                <a:cs typeface="Calibri" pitchFamily="34" charset="-120"/>
              </a:rPr>
              <a:t>Mixing inside the sentence</a:t>
            </a:r>
            <a:endParaRPr lang="en-US" sz="1250" dirty="0"/>
          </a:p>
        </p:txBody>
      </p:sp>
      <p:sp>
        <p:nvSpPr>
          <p:cNvPr id="15" name="Text 12"/>
          <p:cNvSpPr txBox="1"/>
          <p:nvPr/>
        </p:nvSpPr>
        <p:spPr>
          <a:xfrm>
            <a:off x="3429000" y="1764792"/>
            <a:ext cx="2331720" cy="960120"/>
          </a:xfrm>
          <a:prstGeom prst="rect">
            <a:avLst/>
          </a:prstGeom>
          <a:noFill/>
          <a:ln/>
        </p:spPr>
        <p:txBody>
          <a:bodyPr wrap="square" lIns="0" tIns="0" rIns="0" bIns="0" rtlCol="0" anchor="t"/>
          <a:lstStyle/>
          <a:p>
            <a:pPr marL="0" indent="0">
              <a:buNone/>
            </a:pPr>
            <a:r>
              <a:rPr lang="en-US" sz="1100" dirty="0">
                <a:solidFill>
                  <a:srgbClr val="1F2A26"/>
                </a:solidFill>
                <a:latin typeface="Calibri" pitchFamily="34" charset="0"/>
                <a:ea typeface="Calibri" pitchFamily="34" charset="-122"/>
                <a:cs typeface="Calibri" pitchFamily="34" charset="-120"/>
              </a:rPr>
              <a:t>French determiner + English noun + Pidgin verb. So the donor label belongs to the token, not the statement.</a:t>
            </a:r>
            <a:endParaRPr lang="en-US" sz="1100" dirty="0"/>
          </a:p>
        </p:txBody>
      </p:sp>
      <p:sp>
        <p:nvSpPr>
          <p:cNvPr id="16" name="Shape 13"/>
          <p:cNvSpPr/>
          <p:nvPr/>
        </p:nvSpPr>
        <p:spPr>
          <a:xfrm>
            <a:off x="6035040" y="1143000"/>
            <a:ext cx="2651760" cy="1645920"/>
          </a:xfrm>
          <a:prstGeom prst="roundRect">
            <a:avLst>
              <a:gd name="adj" fmla="val 4444"/>
            </a:avLst>
          </a:prstGeom>
          <a:solidFill>
            <a:srgbClr val="EEF3F0"/>
          </a:solidFill>
          <a:ln w="12700">
            <a:solidFill>
              <a:srgbClr val="EEF3F0"/>
            </a:solidFill>
            <a:prstDash val="solid"/>
          </a:ln>
        </p:spPr>
      </p:sp>
      <p:sp>
        <p:nvSpPr>
          <p:cNvPr id="17" name="Shape 14"/>
          <p:cNvSpPr/>
          <p:nvPr/>
        </p:nvSpPr>
        <p:spPr>
          <a:xfrm>
            <a:off x="6172200" y="1280160"/>
            <a:ext cx="347472" cy="347472"/>
          </a:xfrm>
          <a:prstGeom prst="ellipse">
            <a:avLst/>
          </a:prstGeom>
          <a:solidFill>
            <a:srgbClr val="1B6B4F"/>
          </a:solidFill>
          <a:ln w="12700">
            <a:solidFill>
              <a:srgbClr val="1B6B4F"/>
            </a:solidFill>
            <a:prstDash val="solid"/>
          </a:ln>
        </p:spPr>
      </p:sp>
      <p:sp>
        <p:nvSpPr>
          <p:cNvPr id="18" name="Text 15"/>
          <p:cNvSpPr txBox="1"/>
          <p:nvPr/>
        </p:nvSpPr>
        <p:spPr>
          <a:xfrm>
            <a:off x="6172200" y="12801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6629400" y="1252728"/>
            <a:ext cx="1965960" cy="411480"/>
          </a:xfrm>
          <a:prstGeom prst="rect">
            <a:avLst/>
          </a:prstGeom>
          <a:noFill/>
          <a:ln/>
        </p:spPr>
        <p:txBody>
          <a:bodyPr wrap="square" lIns="0" tIns="0" rIns="0" bIns="0" rtlCol="0" anchor="ctr"/>
          <a:lstStyle/>
          <a:p>
            <a:pPr marL="0" indent="0">
              <a:buNone/>
            </a:pPr>
            <a:r>
              <a:rPr lang="en-US" sz="1250" b="1" dirty="0">
                <a:solidFill>
                  <a:srgbClr val="0F3D2E"/>
                </a:solidFill>
                <a:latin typeface="Calibri" pitchFamily="34" charset="0"/>
                <a:ea typeface="Calibri" pitchFamily="34" charset="-122"/>
                <a:cs typeface="Calibri" pitchFamily="34" charset="-120"/>
              </a:rPr>
              <a:t>Unstable orthography</a:t>
            </a:r>
            <a:endParaRPr lang="en-US" sz="1250" dirty="0"/>
          </a:p>
        </p:txBody>
      </p:sp>
      <p:sp>
        <p:nvSpPr>
          <p:cNvPr id="20" name="Text 17"/>
          <p:cNvSpPr txBox="1"/>
          <p:nvPr/>
        </p:nvSpPr>
        <p:spPr>
          <a:xfrm>
            <a:off x="6217920" y="1764792"/>
            <a:ext cx="2331720" cy="960120"/>
          </a:xfrm>
          <a:prstGeom prst="rect">
            <a:avLst/>
          </a:prstGeom>
          <a:noFill/>
          <a:ln/>
        </p:spPr>
        <p:txBody>
          <a:bodyPr wrap="square" lIns="0" tIns="0" rIns="0" bIns="0" rtlCol="0" anchor="t"/>
          <a:lstStyle/>
          <a:p>
            <a:pPr marL="0" indent="0">
              <a:buNone/>
            </a:pPr>
            <a:r>
              <a:rPr lang="en-US" sz="1100" dirty="0">
                <a:solidFill>
                  <a:srgbClr val="1F2A26"/>
                </a:solidFill>
                <a:latin typeface="Calibri" pitchFamily="34" charset="0"/>
                <a:ea typeface="Calibri" pitchFamily="34" charset="-122"/>
                <a:cs typeface="Calibri" pitchFamily="34" charset="-120"/>
              </a:rPr>
              <a:t>Accents, casing, ASCII vs typographic apostrophes, NFC vs NFD. Raw and canonical frequencies differ.</a:t>
            </a:r>
            <a:endParaRPr lang="en-US" sz="1100" dirty="0"/>
          </a:p>
        </p:txBody>
      </p:sp>
      <p:sp>
        <p:nvSpPr>
          <p:cNvPr id="21" name="Shape 18"/>
          <p:cNvSpPr/>
          <p:nvPr/>
        </p:nvSpPr>
        <p:spPr>
          <a:xfrm>
            <a:off x="457200" y="2926080"/>
            <a:ext cx="2651760" cy="1645920"/>
          </a:xfrm>
          <a:prstGeom prst="roundRect">
            <a:avLst>
              <a:gd name="adj" fmla="val 4444"/>
            </a:avLst>
          </a:prstGeom>
          <a:solidFill>
            <a:srgbClr val="EEF3F0"/>
          </a:solidFill>
          <a:ln w="12700">
            <a:solidFill>
              <a:srgbClr val="EEF3F0"/>
            </a:solidFill>
            <a:prstDash val="solid"/>
          </a:ln>
        </p:spPr>
      </p:sp>
      <p:sp>
        <p:nvSpPr>
          <p:cNvPr id="22" name="Shape 19"/>
          <p:cNvSpPr/>
          <p:nvPr/>
        </p:nvSpPr>
        <p:spPr>
          <a:xfrm>
            <a:off x="594360" y="3063240"/>
            <a:ext cx="347472" cy="347472"/>
          </a:xfrm>
          <a:prstGeom prst="ellipse">
            <a:avLst/>
          </a:prstGeom>
          <a:solidFill>
            <a:srgbClr val="1B6B4F"/>
          </a:solidFill>
          <a:ln w="12700">
            <a:solidFill>
              <a:srgbClr val="1B6B4F"/>
            </a:solidFill>
            <a:prstDash val="solid"/>
          </a:ln>
        </p:spPr>
      </p:sp>
      <p:sp>
        <p:nvSpPr>
          <p:cNvPr id="23" name="Text 20"/>
          <p:cNvSpPr txBox="1"/>
          <p:nvPr/>
        </p:nvSpPr>
        <p:spPr>
          <a:xfrm>
            <a:off x="594360" y="306324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1051560" y="3035808"/>
            <a:ext cx="1965960" cy="411480"/>
          </a:xfrm>
          <a:prstGeom prst="rect">
            <a:avLst/>
          </a:prstGeom>
          <a:noFill/>
          <a:ln/>
        </p:spPr>
        <p:txBody>
          <a:bodyPr wrap="square" lIns="0" tIns="0" rIns="0" bIns="0" rtlCol="0" anchor="ctr"/>
          <a:lstStyle/>
          <a:p>
            <a:pPr marL="0" indent="0">
              <a:buNone/>
            </a:pPr>
            <a:r>
              <a:rPr lang="en-US" sz="1250" b="1" dirty="0">
                <a:solidFill>
                  <a:srgbClr val="0F3D2E"/>
                </a:solidFill>
                <a:latin typeface="Calibri" pitchFamily="34" charset="0"/>
                <a:ea typeface="Calibri" pitchFamily="34" charset="-122"/>
                <a:cs typeface="Calibri" pitchFamily="34" charset="-120"/>
              </a:rPr>
              <a:t>Syntax looser than French</a:t>
            </a:r>
            <a:endParaRPr lang="en-US" sz="1250" dirty="0"/>
          </a:p>
        </p:txBody>
      </p:sp>
      <p:sp>
        <p:nvSpPr>
          <p:cNvPr id="25" name="Text 22"/>
          <p:cNvSpPr txBox="1"/>
          <p:nvPr/>
        </p:nvSpPr>
        <p:spPr>
          <a:xfrm>
            <a:off x="640080" y="3547872"/>
            <a:ext cx="2331720" cy="960120"/>
          </a:xfrm>
          <a:prstGeom prst="rect">
            <a:avLst/>
          </a:prstGeom>
          <a:noFill/>
          <a:ln/>
        </p:spPr>
        <p:txBody>
          <a:bodyPr wrap="square" lIns="0" tIns="0" rIns="0" bIns="0" rtlCol="0" anchor="t"/>
          <a:lstStyle/>
          <a:p>
            <a:pPr marL="0" indent="0">
              <a:buNone/>
            </a:pPr>
            <a:r>
              <a:rPr lang="en-US" sz="1100" dirty="0">
                <a:solidFill>
                  <a:srgbClr val="1F2A26"/>
                </a:solidFill>
                <a:latin typeface="Calibri" pitchFamily="34" charset="0"/>
                <a:ea typeface="Calibri" pitchFamily="34" charset="-122"/>
                <a:cs typeface="Calibri" pitchFamily="34" charset="-120"/>
              </a:rPr>
              <a:t>Juxtaposition, serial verbs, subject drop, left dislocation: a textbook French grammar rejects all four.</a:t>
            </a:r>
            <a:endParaRPr lang="en-US" sz="1100" dirty="0"/>
          </a:p>
        </p:txBody>
      </p:sp>
      <p:sp>
        <p:nvSpPr>
          <p:cNvPr id="26" name="Shape 23"/>
          <p:cNvSpPr/>
          <p:nvPr/>
        </p:nvSpPr>
        <p:spPr>
          <a:xfrm>
            <a:off x="3246120" y="2926080"/>
            <a:ext cx="2651760" cy="1645920"/>
          </a:xfrm>
          <a:prstGeom prst="roundRect">
            <a:avLst>
              <a:gd name="adj" fmla="val 4444"/>
            </a:avLst>
          </a:prstGeom>
          <a:solidFill>
            <a:srgbClr val="EEF3F0"/>
          </a:solidFill>
          <a:ln w="12700">
            <a:solidFill>
              <a:srgbClr val="EEF3F0"/>
            </a:solidFill>
            <a:prstDash val="solid"/>
          </a:ln>
        </p:spPr>
      </p:sp>
      <p:sp>
        <p:nvSpPr>
          <p:cNvPr id="27" name="Shape 24"/>
          <p:cNvSpPr/>
          <p:nvPr/>
        </p:nvSpPr>
        <p:spPr>
          <a:xfrm>
            <a:off x="3383280" y="3063240"/>
            <a:ext cx="347472" cy="347472"/>
          </a:xfrm>
          <a:prstGeom prst="ellipse">
            <a:avLst/>
          </a:prstGeom>
          <a:solidFill>
            <a:srgbClr val="1B6B4F"/>
          </a:solidFill>
          <a:ln w="12700">
            <a:solidFill>
              <a:srgbClr val="1B6B4F"/>
            </a:solidFill>
            <a:prstDash val="solid"/>
          </a:ln>
        </p:spPr>
      </p:sp>
      <p:sp>
        <p:nvSpPr>
          <p:cNvPr id="28" name="Text 25"/>
          <p:cNvSpPr txBox="1"/>
          <p:nvPr/>
        </p:nvSpPr>
        <p:spPr>
          <a:xfrm>
            <a:off x="3383280" y="306324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6"/>
          <p:cNvSpPr txBox="1"/>
          <p:nvPr/>
        </p:nvSpPr>
        <p:spPr>
          <a:xfrm>
            <a:off x="3840480" y="3035808"/>
            <a:ext cx="1965960" cy="411480"/>
          </a:xfrm>
          <a:prstGeom prst="rect">
            <a:avLst/>
          </a:prstGeom>
          <a:noFill/>
          <a:ln/>
        </p:spPr>
        <p:txBody>
          <a:bodyPr wrap="square" lIns="0" tIns="0" rIns="0" bIns="0" rtlCol="0" anchor="ctr"/>
          <a:lstStyle/>
          <a:p>
            <a:pPr marL="0" indent="0">
              <a:buNone/>
            </a:pPr>
            <a:r>
              <a:rPr lang="en-US" sz="1250" b="1" dirty="0">
                <a:solidFill>
                  <a:srgbClr val="0F3D2E"/>
                </a:solidFill>
                <a:latin typeface="Calibri" pitchFamily="34" charset="0"/>
                <a:ea typeface="Calibri" pitchFamily="34" charset="-122"/>
                <a:cs typeface="Calibri" pitchFamily="34" charset="-120"/>
              </a:rPr>
              <a:t>Frozen expressions &amp; particles</a:t>
            </a:r>
            <a:endParaRPr lang="en-US" sz="1250" dirty="0"/>
          </a:p>
        </p:txBody>
      </p:sp>
      <p:sp>
        <p:nvSpPr>
          <p:cNvPr id="30" name="Text 27"/>
          <p:cNvSpPr txBox="1"/>
          <p:nvPr/>
        </p:nvSpPr>
        <p:spPr>
          <a:xfrm>
            <a:off x="3429000" y="3547872"/>
            <a:ext cx="2331720" cy="960120"/>
          </a:xfrm>
          <a:prstGeom prst="rect">
            <a:avLst/>
          </a:prstGeom>
          <a:noFill/>
          <a:ln/>
        </p:spPr>
        <p:txBody>
          <a:bodyPr wrap="square" lIns="0" tIns="0" rIns="0" bIns="0" rtlCol="0" anchor="t"/>
          <a:lstStyle/>
          <a:p>
            <a:pPr marL="0" indent="0">
              <a:buNone/>
            </a:pPr>
            <a:r>
              <a:rPr lang="en-US" sz="1100" dirty="0">
                <a:solidFill>
                  <a:srgbClr val="1F2A26"/>
                </a:solidFill>
                <a:latin typeface="Calibri" pitchFamily="34" charset="0"/>
                <a:ea typeface="Calibri" pitchFamily="34" charset="-122"/>
                <a:cs typeface="Calibri" pitchFamily="34" charset="-120"/>
              </a:rPr>
              <a:t>18 formulas need longest-match lexing; interjections are a terminal, not noise.</a:t>
            </a:r>
            <a:endParaRPr lang="en-US" sz="1100" dirty="0"/>
          </a:p>
        </p:txBody>
      </p:sp>
      <p:sp>
        <p:nvSpPr>
          <p:cNvPr id="31" name="Shape 28"/>
          <p:cNvSpPr/>
          <p:nvPr/>
        </p:nvSpPr>
        <p:spPr>
          <a:xfrm>
            <a:off x="6035040" y="2926080"/>
            <a:ext cx="2651760" cy="1645920"/>
          </a:xfrm>
          <a:prstGeom prst="roundRect">
            <a:avLst>
              <a:gd name="adj" fmla="val 4444"/>
            </a:avLst>
          </a:prstGeom>
          <a:solidFill>
            <a:srgbClr val="0F3D2E"/>
          </a:solidFill>
          <a:ln w="12700">
            <a:solidFill>
              <a:srgbClr val="0F3D2E"/>
            </a:solidFill>
            <a:prstDash val="solid"/>
          </a:ln>
        </p:spPr>
      </p:sp>
      <p:sp>
        <p:nvSpPr>
          <p:cNvPr id="32" name="Text 29"/>
          <p:cNvSpPr txBox="1"/>
          <p:nvPr/>
        </p:nvSpPr>
        <p:spPr>
          <a:xfrm>
            <a:off x="6217920" y="3035808"/>
            <a:ext cx="2286000" cy="274320"/>
          </a:xfrm>
          <a:prstGeom prst="rect">
            <a:avLst/>
          </a:prstGeom>
          <a:noFill/>
          <a:ln/>
        </p:spPr>
        <p:txBody>
          <a:bodyPr wrap="square" lIns="0" tIns="0" rIns="0" bIns="0" rtlCol="0" anchor="t"/>
          <a:lstStyle/>
          <a:p>
            <a:pPr marL="0" indent="0">
              <a:buNone/>
            </a:pPr>
            <a:r>
              <a:rPr lang="en-US" sz="1250" b="1" dirty="0">
                <a:solidFill>
                  <a:srgbClr val="D9B44A"/>
                </a:solidFill>
                <a:latin typeface="Calibri" pitchFamily="34" charset="0"/>
                <a:ea typeface="Calibri" pitchFamily="34" charset="-122"/>
                <a:cs typeface="Calibri" pitchFamily="34" charset="-120"/>
              </a:rPr>
              <a:t>The engineering answer</a:t>
            </a:r>
            <a:endParaRPr lang="en-US" sz="1250" dirty="0"/>
          </a:p>
        </p:txBody>
      </p:sp>
      <p:sp>
        <p:nvSpPr>
          <p:cNvPr id="33" name="Text 30"/>
          <p:cNvSpPr txBox="1"/>
          <p:nvPr/>
        </p:nvSpPr>
        <p:spPr>
          <a:xfrm>
            <a:off x="6217920" y="3383280"/>
            <a:ext cx="2286000" cy="114300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Don’t force data into a cleaner model. Record provenance at every level so each claim traces to its evidence.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3D2E"/>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Shape 1"/>
          <p:cNvSpPr/>
          <p:nvPr/>
        </p:nvSpPr>
        <p:spPr>
          <a:xfrm>
            <a:off x="457200" y="1097280"/>
            <a:ext cx="2651760" cy="3108960"/>
          </a:xfrm>
          <a:prstGeom prst="roundRect">
            <a:avLst>
              <a:gd name="adj" fmla="val 2759"/>
            </a:avLst>
          </a:prstGeom>
          <a:solidFill>
            <a:srgbClr val="17503C"/>
          </a:solidFill>
          <a:ln w="12700">
            <a:solidFill>
              <a:srgbClr val="17503C"/>
            </a:solidFill>
            <a:prstDash val="solid"/>
          </a:ln>
        </p:spPr>
      </p:sp>
      <p:sp>
        <p:nvSpPr>
          <p:cNvPr id="5" name="Text 2"/>
          <p:cNvSpPr txBox="1"/>
          <p:nvPr/>
        </p:nvSpPr>
        <p:spPr>
          <a:xfrm>
            <a:off x="640080" y="1234440"/>
            <a:ext cx="2286000" cy="320040"/>
          </a:xfrm>
          <a:prstGeom prst="rect">
            <a:avLst/>
          </a:prstGeom>
          <a:noFill/>
          <a:ln/>
        </p:spPr>
        <p:txBody>
          <a:bodyPr wrap="square" lIns="0" tIns="0" rIns="0" bIns="0" rtlCol="0" anchor="t"/>
          <a:lstStyle/>
          <a:p>
            <a:pPr marL="0" indent="0">
              <a:buNone/>
            </a:pPr>
            <a:r>
              <a:rPr lang="en-US" sz="1600" b="1" dirty="0">
                <a:solidFill>
                  <a:srgbClr val="D9B44A"/>
                </a:solidFill>
                <a:latin typeface="Cambria" pitchFamily="34" charset="0"/>
                <a:ea typeface="Cambria" pitchFamily="34" charset="-122"/>
                <a:cs typeface="Cambria" pitchFamily="34" charset="-120"/>
              </a:rPr>
              <a:t>What we achieved</a:t>
            </a:r>
            <a:endParaRPr lang="en-US" sz="1600" dirty="0"/>
          </a:p>
        </p:txBody>
      </p:sp>
      <p:sp>
        <p:nvSpPr>
          <p:cNvPr id="6" name="Text 3"/>
          <p:cNvSpPr txBox="1"/>
          <p:nvPr/>
        </p:nvSpPr>
        <p:spPr>
          <a:xfrm>
            <a:off x="640080" y="1691640"/>
            <a:ext cx="233172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22 hand-transcribed, attested statements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Hand-written scanner + lexer over 688 entries and 15 donor languages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37 → 41 production LL(1) grammar, conflict-free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Parser accepts 20/22 with derivations</a:t>
            </a:r>
            <a:endParaRPr lang="en-US" sz="1250" dirty="0"/>
          </a:p>
        </p:txBody>
      </p:sp>
      <p:sp>
        <p:nvSpPr>
          <p:cNvPr id="7" name="Shape 4"/>
          <p:cNvSpPr/>
          <p:nvPr/>
        </p:nvSpPr>
        <p:spPr>
          <a:xfrm>
            <a:off x="3246120" y="1097280"/>
            <a:ext cx="2651760" cy="3108960"/>
          </a:xfrm>
          <a:prstGeom prst="roundRect">
            <a:avLst>
              <a:gd name="adj" fmla="val 2759"/>
            </a:avLst>
          </a:prstGeom>
          <a:solidFill>
            <a:srgbClr val="17503C"/>
          </a:solidFill>
          <a:ln w="12700">
            <a:solidFill>
              <a:srgbClr val="17503C"/>
            </a:solidFill>
            <a:prstDash val="solid"/>
          </a:ln>
        </p:spPr>
      </p:sp>
      <p:sp>
        <p:nvSpPr>
          <p:cNvPr id="8" name="Text 5"/>
          <p:cNvSpPr txBox="1"/>
          <p:nvPr/>
        </p:nvSpPr>
        <p:spPr>
          <a:xfrm>
            <a:off x="3429000" y="1234440"/>
            <a:ext cx="2286000" cy="320040"/>
          </a:xfrm>
          <a:prstGeom prst="rect">
            <a:avLst/>
          </a:prstGeom>
          <a:noFill/>
          <a:ln/>
        </p:spPr>
        <p:txBody>
          <a:bodyPr wrap="square" lIns="0" tIns="0" rIns="0" bIns="0" rtlCol="0" anchor="t"/>
          <a:lstStyle/>
          <a:p>
            <a:pPr marL="0" indent="0">
              <a:buNone/>
            </a:pPr>
            <a:r>
              <a:rPr lang="en-US" sz="1600" b="1" dirty="0">
                <a:solidFill>
                  <a:srgbClr val="D9B44A"/>
                </a:solidFill>
                <a:latin typeface="Cambria" pitchFamily="34" charset="0"/>
                <a:ea typeface="Cambria" pitchFamily="34" charset="-122"/>
                <a:cs typeface="Cambria" pitchFamily="34" charset="-120"/>
              </a:rPr>
              <a:t>What we learned</a:t>
            </a:r>
            <a:endParaRPr lang="en-US" sz="1600" dirty="0"/>
          </a:p>
        </p:txBody>
      </p:sp>
      <p:sp>
        <p:nvSpPr>
          <p:cNvPr id="9" name="Text 6"/>
          <p:cNvSpPr txBox="1"/>
          <p:nvPr/>
        </p:nvSpPr>
        <p:spPr>
          <a:xfrm>
            <a:off x="3429000" y="1691640"/>
            <a:ext cx="233172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Left-recursion elimination and factoring interact; order decides LL(1)</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Honesty in tooling: don’t add productions until it passes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Generating tables from the live system prevents drift</a:t>
            </a:r>
            <a:endParaRPr lang="en-US" sz="1250" dirty="0"/>
          </a:p>
        </p:txBody>
      </p:sp>
      <p:sp>
        <p:nvSpPr>
          <p:cNvPr id="10" name="Shape 7"/>
          <p:cNvSpPr/>
          <p:nvPr/>
        </p:nvSpPr>
        <p:spPr>
          <a:xfrm>
            <a:off x="6035040" y="1097280"/>
            <a:ext cx="2651760" cy="3108960"/>
          </a:xfrm>
          <a:prstGeom prst="roundRect">
            <a:avLst>
              <a:gd name="adj" fmla="val 2759"/>
            </a:avLst>
          </a:prstGeom>
          <a:solidFill>
            <a:srgbClr val="17503C"/>
          </a:solidFill>
          <a:ln w="12700">
            <a:solidFill>
              <a:srgbClr val="17503C"/>
            </a:solidFill>
            <a:prstDash val="solid"/>
          </a:ln>
        </p:spPr>
      </p:sp>
      <p:sp>
        <p:nvSpPr>
          <p:cNvPr id="11" name="Text 8"/>
          <p:cNvSpPr txBox="1"/>
          <p:nvPr/>
        </p:nvSpPr>
        <p:spPr>
          <a:xfrm>
            <a:off x="6217920" y="1234440"/>
            <a:ext cx="2286000" cy="320040"/>
          </a:xfrm>
          <a:prstGeom prst="rect">
            <a:avLst/>
          </a:prstGeom>
          <a:noFill/>
          <a:ln/>
        </p:spPr>
        <p:txBody>
          <a:bodyPr wrap="square" lIns="0" tIns="0" rIns="0" bIns="0" rtlCol="0" anchor="t"/>
          <a:lstStyle/>
          <a:p>
            <a:pPr marL="0" indent="0">
              <a:buNone/>
            </a:pPr>
            <a:r>
              <a:rPr lang="en-US" sz="1600" b="1" dirty="0">
                <a:solidFill>
                  <a:srgbClr val="D9B44A"/>
                </a:solidFill>
                <a:latin typeface="Cambria" pitchFamily="34" charset="0"/>
                <a:ea typeface="Cambria" pitchFamily="34" charset="-122"/>
                <a:cs typeface="Cambria" pitchFamily="34" charset="-120"/>
              </a:rPr>
              <a:t>Limitations &amp; next</a:t>
            </a:r>
            <a:endParaRPr lang="en-US" sz="1600" dirty="0"/>
          </a:p>
        </p:txBody>
      </p:sp>
      <p:sp>
        <p:nvSpPr>
          <p:cNvPr id="12" name="Text 9"/>
          <p:cNvSpPr txBox="1"/>
          <p:nvPr/>
        </p:nvSpPr>
        <p:spPr>
          <a:xfrm>
            <a:off x="6217920" y="1691640"/>
            <a:ext cx="233172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Post-object adverbs and post-verbal clitics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Split PRON into PRON and CLITIC</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Add a semantic gloss-composition layer</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Larger corpus to evaluate topic precision and recall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3D2E"/>
        </a:solidFill>
        <a:effectLst/>
      </p:bgPr>
    </p:bg>
    <p:spTree>
      <p:nvGrpSpPr>
        <p:cNvPr id="1" name=""/>
        <p:cNvGrpSpPr/>
        <p:nvPr/>
      </p:nvGrpSpPr>
      <p:grpSpPr>
        <a:xfrm>
          <a:off x="0" y="0"/>
          <a:ext cx="0" cy="0"/>
          <a:chOff x="0" y="0"/>
          <a:chExt cx="0" cy="0"/>
        </a:xfrm>
      </p:grpSpPr>
      <p:sp>
        <p:nvSpPr>
          <p:cNvPr id="3" name="Text 0"/>
          <p:cNvSpPr txBox="1"/>
          <p:nvPr/>
        </p:nvSpPr>
        <p:spPr>
          <a:xfrm>
            <a:off x="457200" y="1371600"/>
            <a:ext cx="8229600" cy="914400"/>
          </a:xfrm>
          <a:prstGeom prst="rect">
            <a:avLst/>
          </a:prstGeom>
          <a:noFill/>
          <a:ln/>
        </p:spPr>
        <p:txBody>
          <a:bodyPr wrap="square" lIns="0" tIns="0" rIns="0" bIns="0" rtlCol="0" anchor="t"/>
          <a:lstStyle/>
          <a:p>
            <a:pPr marL="0" indent="0" algn="ctr">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4" name="Text 1"/>
          <p:cNvSpPr txBox="1"/>
          <p:nvPr/>
        </p:nvSpPr>
        <p:spPr>
          <a:xfrm>
            <a:off x="457200" y="2331720"/>
            <a:ext cx="8229600" cy="457200"/>
          </a:xfrm>
          <a:prstGeom prst="rect">
            <a:avLst/>
          </a:prstGeom>
          <a:noFill/>
          <a:ln/>
        </p:spPr>
        <p:txBody>
          <a:bodyPr wrap="square" lIns="0" tIns="0" rIns="0" bIns="0" rtlCol="0" anchor="t"/>
          <a:lstStyle/>
          <a:p>
            <a:pPr marL="0" indent="0" algn="ctr">
              <a:buNone/>
            </a:pPr>
            <a:r>
              <a:rPr lang="en-US" sz="2400" dirty="0">
                <a:solidFill>
                  <a:srgbClr val="D9B44A"/>
                </a:solidFill>
                <a:latin typeface="Calibri" pitchFamily="34" charset="0"/>
                <a:ea typeface="Calibri" pitchFamily="34" charset="-122"/>
                <a:cs typeface="Calibri" pitchFamily="34" charset="-120"/>
              </a:rPr>
              <a:t>Questions?</a:t>
            </a:r>
            <a:endParaRPr lang="en-US" sz="2400" dirty="0"/>
          </a:p>
        </p:txBody>
      </p:sp>
      <p:sp>
        <p:nvSpPr>
          <p:cNvPr id="5" name="Text 2"/>
          <p:cNvSpPr txBox="1"/>
          <p:nvPr/>
        </p:nvSpPr>
        <p:spPr>
          <a:xfrm>
            <a:off x="457200" y="3291840"/>
            <a:ext cx="8229600" cy="320040"/>
          </a:xfrm>
          <a:prstGeom prst="rect">
            <a:avLst/>
          </a:prstGeom>
          <a:noFill/>
          <a:ln/>
        </p:spPr>
        <p:txBody>
          <a:bodyPr wrap="square" lIns="0" tIns="0" rIns="0" bIns="0" rtlCol="0" anchor="t"/>
          <a:lstStyle/>
          <a:p>
            <a:pPr marL="0" indent="0" algn="ctr">
              <a:buNone/>
            </a:pPr>
            <a:r>
              <a:rPr lang="en-US" sz="1300" dirty="0">
                <a:solidFill>
                  <a:srgbClr val="CFE3D9"/>
                </a:solidFill>
                <a:latin typeface="Calibri" pitchFamily="34" charset="0"/>
                <a:ea typeface="Calibri" pitchFamily="34" charset="-122"/>
                <a:cs typeface="Calibri" pitchFamily="34" charset="-120"/>
              </a:rPr>
              <a:t>Francanglais Studio  ·  CS4110 Compiler Construction  ·  The ICT University</a:t>
            </a:r>
            <a:endParaRPr lang="en-US" sz="1300" dirty="0"/>
          </a:p>
        </p:txBody>
      </p:sp>
      <p:sp>
        <p:nvSpPr>
          <p:cNvPr id="6" name="Text 3"/>
          <p:cNvSpPr txBox="1"/>
          <p:nvPr/>
        </p:nvSpPr>
        <p:spPr>
          <a:xfrm>
            <a:off x="457200" y="3657600"/>
            <a:ext cx="8229600" cy="320040"/>
          </a:xfrm>
          <a:prstGeom prst="rect">
            <a:avLst/>
          </a:prstGeom>
          <a:noFill/>
          <a:ln/>
        </p:spPr>
        <p:txBody>
          <a:bodyPr wrap="square" lIns="0" tIns="0" rIns="0" bIns="0" rtlCol="0" anchor="t"/>
          <a:lstStyle/>
          <a:p>
            <a:pPr marL="0" indent="0" algn="ctr">
              <a:buNone/>
            </a:pPr>
            <a:r>
              <a:rPr lang="en-US" sz="1100" dirty="0">
                <a:solidFill>
                  <a:srgbClr val="9DB8AB"/>
                </a:solidFill>
                <a:latin typeface="Calibri" pitchFamily="34" charset="0"/>
                <a:ea typeface="Calibri" pitchFamily="34" charset="-122"/>
                <a:cs typeface="Calibri" pitchFamily="34" charset="-120"/>
              </a:rPr>
              <a:t>Kamdeu Yamdjeuson Neil Marshall  ·  Eyong Seanna Tabe  ·  Tuheu Tchoubi Pempeme Moussa Fahdil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2278</Words>
  <Application>Microsoft Office PowerPoint</Application>
  <PresentationFormat>On-screen Show (16:9)</PresentationFormat>
  <Paragraphs>378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Francanglais Studio - CS4110 Compiler Construction</dc:title>
  <dc:subject>PptxGenJS Presentation</dc:subject>
  <dc:creator>PptxGenJS</dc:creator>
  <cp:lastModifiedBy>KAMDEU YAMDJEUSON NEIL MARSHALL</cp:lastModifiedBy>
  <cp:revision>2</cp:revision>
  <dcterms:created xsi:type="dcterms:W3CDTF">2026-09-28T10:12:06Z</dcterms:created>
  <dcterms:modified xsi:type="dcterms:W3CDTF">2026-09-30T11:51:53Z</dcterms:modified>
</cp:coreProperties>
</file>