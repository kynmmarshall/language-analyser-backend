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9144000" cy="54864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1383126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12848" y="6583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Segoe UI"/>
              </a:rPr>
              <a:t>THE ICT UNIVERSITY  ·  YAOUNDÉ, CAMEROON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932688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Francanglais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1572768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C7DED1"/>
                </a:solidFill>
                <a:latin typeface="Segoe UI"/>
              </a:rPr>
              <a:t>A lexical and syntactic analyzer for everyday speech in Yaoundé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95728"/>
            <a:ext cx="2788920" cy="566928"/>
          </a:xfrm>
          <a:prstGeom prst="roundRect">
            <a:avLst>
              <a:gd name="adj" fmla="val 12000"/>
            </a:avLst>
          </a:prstGeom>
          <a:noFill/>
          <a:ln w="15240">
            <a:solidFill>
              <a:srgbClr val="E2B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395728"/>
            <a:ext cx="2788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2BC58"/>
                </a:solidFill>
                <a:latin typeface="Segoe UI"/>
              </a:rPr>
              <a:t>CS4110 · Compiler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03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664A"/>
                </a:solidFill>
                <a:latin typeface="Segoe U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77639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02A"/>
                </a:solidFill>
                <a:latin typeface="Segoe UI"/>
              </a:rPr>
              <a:t>Kamdeu Yamdjeuson Neil Marshall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77639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65A50"/>
                </a:solidFill>
                <a:latin typeface="Consolas"/>
              </a:rPr>
              <a:t>ICTU20241386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251959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02A"/>
                </a:solidFill>
                <a:latin typeface="Segoe UI"/>
              </a:rPr>
              <a:t>Eyong Seanna Tabe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59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65A50"/>
                </a:solidFill>
                <a:latin typeface="Consolas"/>
              </a:rPr>
              <a:t>ICTU20241297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26279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02A"/>
                </a:solidFill>
                <a:latin typeface="Segoe UI"/>
              </a:rPr>
              <a:t>Tuheu Tchoubi Pempeme Moussa Fahdil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26279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65A50"/>
                </a:solidFill>
                <a:latin typeface="Consolas"/>
              </a:rPr>
              <a:t>ICTU20241393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77639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7664A"/>
                </a:solidFill>
                <a:latin typeface="Segoe UI"/>
              </a:rPr>
              <a:t>Instructor</a:t>
            </a:r>
          </a:p>
          <a:p>
            <a:pPr algn="r">
              <a:lnSpc>
                <a:spcPct val="100000"/>
              </a:lnSpc>
            </a:pPr>
            <a:r>
              <a:rPr sz="1150" b="1">
                <a:solidFill>
                  <a:srgbClr val="16202A"/>
                </a:solidFill>
                <a:latin typeface="Segoe UI"/>
              </a:rPr>
              <a:t>Engr. Tanwi Nkiamboh</a:t>
            </a:r>
          </a:p>
          <a:p>
            <a:pPr algn="r">
              <a:lnSpc>
                <a:spcPct val="100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29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One sentence, four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65A50"/>
                </a:solidFill>
                <a:latin typeface="Segoe UI"/>
              </a:rPr>
              <a:t>This is ordinary speech in a Yaoundé taxi: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81381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6276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664A"/>
                </a:solidFill>
                <a:latin typeface="Segoe UI"/>
              </a:rPr>
              <a:t>Le taximan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3627" y="16276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E5BCC"/>
                </a:solidFill>
                <a:latin typeface="Segoe UI"/>
              </a:rPr>
              <a:t>go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5924" y="16276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E5BCC"/>
                </a:solidFill>
                <a:latin typeface="Segoe UI"/>
              </a:rPr>
              <a:t>bring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5" y="16276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664A"/>
                </a:solidFill>
                <a:latin typeface="Segoe UI"/>
              </a:rPr>
              <a:t>me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513" y="16276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D3546"/>
                </a:solidFill>
                <a:latin typeface="Segoe UI"/>
              </a:rPr>
              <a:t>for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4142" y="1627632"/>
            <a:ext cx="1737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202A"/>
                </a:solidFill>
                <a:latin typeface="Segoe UI"/>
              </a:rPr>
              <a:t>kwatt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50592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450592"/>
            <a:ext cx="1901952" cy="68580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" y="26517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French grammar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07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Consolas"/>
              </a:rPr>
              <a:t>le, taximan, 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7752" y="2450592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87752" y="2450592"/>
            <a:ext cx="1901952" cy="68580"/>
          </a:xfrm>
          <a:prstGeom prst="rect">
            <a:avLst/>
          </a:prstGeom>
          <a:solidFill>
            <a:srgbClr val="2E5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34056" y="26517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English verbs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907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Consolas"/>
              </a:rPr>
              <a:t>go, bring, send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2583" y="2450592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72583" y="2450592"/>
            <a:ext cx="1901952" cy="68580"/>
          </a:xfrm>
          <a:prstGeom prst="rect">
            <a:avLst/>
          </a:prstGeom>
          <a:solidFill>
            <a:srgbClr val="AD3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26517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Pidgin particles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2907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Consolas"/>
              </a:rPr>
              <a:t>for, ashia, waka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57416" y="2450592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57416" y="2450592"/>
            <a:ext cx="1901952" cy="68580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03720" y="26517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Duala / Ewondo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90779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Consolas"/>
              </a:rPr>
              <a:t>kwatt, mbom, ngola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584448"/>
            <a:ext cx="8138160" cy="96012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584448"/>
            <a:ext cx="50292" cy="960120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3712463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Why a compiler cannot just be pointed at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968496"/>
            <a:ext cx="7754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A normal compiler assumes one language with one keyword table. Here there are 15 donor languages, no dictionary, no standard spelling — and speakers switch mid-sentence, so you cannot detect the language first and analyse afterwards.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How the analyzer works,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65A50"/>
                </a:solidFill>
                <a:latin typeface="Segoe UI"/>
              </a:rPr>
              <a:t>Text enters on the left and leaves as one of two answers. Each stage is covered in turn.</a:t>
            </a:r>
          </a:p>
        </p:txBody>
      </p:sp>
      <p:sp>
        <p:nvSpPr>
          <p:cNvPr id="9" name="Oval 8"/>
          <p:cNvSpPr/>
          <p:nvPr/>
        </p:nvSpPr>
        <p:spPr>
          <a:xfrm>
            <a:off x="630936" y="18196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" y="202996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" y="225856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raw text</a:t>
            </a:r>
          </a:p>
        </p:txBody>
      </p:sp>
      <p:sp>
        <p:nvSpPr>
          <p:cNvPr id="12" name="Oval 11"/>
          <p:cNvSpPr/>
          <p:nvPr/>
        </p:nvSpPr>
        <p:spPr>
          <a:xfrm>
            <a:off x="2368296" y="18196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68296" y="202996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5" y="225856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character runs</a:t>
            </a:r>
          </a:p>
        </p:txBody>
      </p:sp>
      <p:sp>
        <p:nvSpPr>
          <p:cNvPr id="15" name="Oval 14"/>
          <p:cNvSpPr/>
          <p:nvPr/>
        </p:nvSpPr>
        <p:spPr>
          <a:xfrm>
            <a:off x="4105656" y="18196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05656" y="202996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225856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tokens</a:t>
            </a:r>
          </a:p>
        </p:txBody>
      </p:sp>
      <p:sp>
        <p:nvSpPr>
          <p:cNvPr id="18" name="Oval 17"/>
          <p:cNvSpPr/>
          <p:nvPr/>
        </p:nvSpPr>
        <p:spPr>
          <a:xfrm>
            <a:off x="5843016" y="18196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43016" y="202996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225856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verdict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" y="2240280"/>
            <a:ext cx="292607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36192" y="2240280"/>
            <a:ext cx="768096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43000" y="18562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raw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73552" y="2240280"/>
            <a:ext cx="768096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80360" y="18562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character runs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10912" y="2240280"/>
            <a:ext cx="768096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17720" y="18562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tokens</a:t>
            </a:r>
          </a:p>
        </p:txBody>
      </p:sp>
      <p:sp>
        <p:nvSpPr>
          <p:cNvPr id="28" name="Oval 27"/>
          <p:cNvSpPr/>
          <p:nvPr/>
        </p:nvSpPr>
        <p:spPr>
          <a:xfrm>
            <a:off x="7397495" y="996696"/>
            <a:ext cx="969264" cy="969264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61503" y="1060704"/>
            <a:ext cx="841248" cy="841248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61503" y="136245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Segoe UI"/>
              </a:rPr>
              <a:t>accept</a:t>
            </a:r>
          </a:p>
        </p:txBody>
      </p:sp>
      <p:sp>
        <p:nvSpPr>
          <p:cNvPr id="31" name="Oval 30"/>
          <p:cNvSpPr/>
          <p:nvPr/>
        </p:nvSpPr>
        <p:spPr>
          <a:xfrm>
            <a:off x="7397495" y="2578608"/>
            <a:ext cx="969264" cy="969264"/>
          </a:xfrm>
          <a:prstGeom prst="ellipse">
            <a:avLst/>
          </a:prstGeom>
          <a:noFill/>
          <a:ln w="19050">
            <a:solidFill>
              <a:srgbClr val="AD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461503" y="2642616"/>
            <a:ext cx="841248" cy="841248"/>
          </a:xfrm>
          <a:prstGeom prst="ellipse">
            <a:avLst/>
          </a:prstGeom>
          <a:solidFill>
            <a:srgbClr val="FBECEF"/>
          </a:solidFill>
          <a:ln w="25400">
            <a:solidFill>
              <a:srgbClr val="AD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61503" y="2944368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AD3546"/>
                </a:solidFill>
                <a:latin typeface="Segoe UI"/>
              </a:rPr>
              <a:t>reject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711696" y="1563624"/>
            <a:ext cx="731520" cy="475488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50408" y="138988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nothing left to read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11696" y="2441448"/>
            <a:ext cx="731520" cy="438912"/>
          </a:xfrm>
          <a:prstGeom prst="line">
            <a:avLst/>
          </a:prstGeom>
          <a:ln w="25400">
            <a:solidFill>
              <a:srgbClr val="AD35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550408" y="31272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AD3546"/>
                </a:solidFill>
                <a:latin typeface="Segoe UI"/>
              </a:rPr>
              <a:t>no table entry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822191"/>
            <a:ext cx="257860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" y="393192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3D2E"/>
                </a:solidFill>
                <a:latin typeface="Segoe UI"/>
              </a:rPr>
              <a:t>Stage 1 · Scanning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4169663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Cut the text into runs: words, numbers, punctuation, spaces.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4408" y="3822191"/>
            <a:ext cx="257860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10712" y="393192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3D2E"/>
                </a:solidFill>
                <a:latin typeface="Segoe UI"/>
              </a:rPr>
              <a:t>Stage 2 · Lexing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10712" y="4169663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Look each word up. Give it a class: NOUN, VERB, DET…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25896" y="3822191"/>
            <a:ext cx="257860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72200" y="393192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3D2E"/>
                </a:solidFill>
                <a:latin typeface="Segoe UI"/>
              </a:rPr>
              <a:t>Stage 3 · Parsing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169663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Check the classes form a legal sentence shape.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LEXICAL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Step 1 — Scanning: cut the text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65A50"/>
                </a:solidFill>
                <a:latin typeface="Segoe UI"/>
              </a:rPr>
              <a:t>Five regular expressions decide where one piece of text ends and the next begins.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41605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64008" cy="438912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536192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Consolas"/>
              </a:rPr>
              <a:t>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55448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letters, accents, apostrophes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3619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3D2E"/>
                </a:solidFill>
                <a:latin typeface="Consolas"/>
              </a:rPr>
              <a:t>taximan, ça, j'ai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11680"/>
            <a:ext cx="41605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011680"/>
            <a:ext cx="64008" cy="438912"/>
          </a:xfrm>
          <a:prstGeom prst="rect">
            <a:avLst/>
          </a:prstGeom>
          <a:solidFill>
            <a:srgbClr val="2E5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2066544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Consolas"/>
              </a:rPr>
              <a:t>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08483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a run of digits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6654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3D2E"/>
                </a:solidFill>
                <a:latin typeface="Consolas"/>
              </a:rPr>
              <a:t>500, 2026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42032"/>
            <a:ext cx="41605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542032"/>
            <a:ext cx="64008" cy="438912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2596896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Consolas"/>
              </a:rPr>
              <a:t>SEPARATOR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6151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comma, semicolon, colon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59689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3D2E"/>
                </a:solidFill>
                <a:latin typeface="Consolas"/>
              </a:rPr>
              <a:t>, ; 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072384"/>
            <a:ext cx="41605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072384"/>
            <a:ext cx="64008" cy="438912"/>
          </a:xfrm>
          <a:prstGeom prst="rect">
            <a:avLst/>
          </a:prstGeom>
          <a:solidFill>
            <a:srgbClr val="46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127248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Consolas"/>
              </a:rPr>
              <a:t>PUNCTUATION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14553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sentence 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12724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3D2E"/>
                </a:solidFill>
                <a:latin typeface="Consolas"/>
              </a:rPr>
              <a:t>. !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602736"/>
            <a:ext cx="41605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64008" cy="438912"/>
          </a:xfrm>
          <a:prstGeom prst="rect">
            <a:avLst/>
          </a:prstGeom>
          <a:solidFill>
            <a:srgbClr val="8A9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3657600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Consolas"/>
              </a:rPr>
              <a:t>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367588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gaps and line breaks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65760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3D2E"/>
                </a:solidFill>
                <a:latin typeface="Consolas"/>
              </a:rPr>
              <a:t>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1481328"/>
            <a:ext cx="3657600" cy="2084831"/>
          </a:xfrm>
          <a:prstGeom prst="roundRect">
            <a:avLst>
              <a:gd name="adj" fmla="val 12000"/>
            </a:avLst>
          </a:prstGeom>
          <a:solidFill>
            <a:srgbClr val="16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93792" y="162763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2BC58"/>
                </a:solidFill>
                <a:latin typeface="Segoe UI"/>
              </a:rPr>
              <a:t>ONE SENTENCE, SCANNED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19202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Combi, va au kwatt.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93792" y="2395728"/>
            <a:ext cx="1014984" cy="457200"/>
          </a:xfrm>
          <a:prstGeom prst="roundRect">
            <a:avLst>
              <a:gd name="adj" fmla="val 12000"/>
            </a:avLst>
          </a:prstGeom>
          <a:solidFill>
            <a:srgbClr val="1F2C38"/>
          </a:solidFill>
          <a:ln w="12700">
            <a:solidFill>
              <a:srgbClr val="2E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93792" y="2432304"/>
            <a:ext cx="1014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Combi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2633472"/>
            <a:ext cx="1014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E2BC58"/>
                </a:solidFill>
                <a:latin typeface="Segoe UI"/>
              </a:rPr>
              <a:t>WORD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2395728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1F2C38"/>
          </a:solidFill>
          <a:ln w="12700">
            <a:solidFill>
              <a:srgbClr val="2E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0216" y="2432304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2633472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E2BC58"/>
                </a:solidFill>
                <a:latin typeface="Segoe UI"/>
              </a:rPr>
              <a:t>SEP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67144" y="2395728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F2C38"/>
          </a:solidFill>
          <a:ln w="12700">
            <a:solidFill>
              <a:srgbClr val="2E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67144" y="243230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67144" y="263347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E2BC58"/>
                </a:solidFill>
                <a:latin typeface="Segoe UI"/>
              </a:rPr>
              <a:t>WORD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223" y="2395728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1F2C38"/>
          </a:solidFill>
          <a:ln w="12700">
            <a:solidFill>
              <a:srgbClr val="2E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07223" y="243230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au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7223" y="263347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E2BC58"/>
                </a:solidFill>
                <a:latin typeface="Segoe UI"/>
              </a:rPr>
              <a:t>WORD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93792" y="2962656"/>
            <a:ext cx="1014984" cy="457200"/>
          </a:xfrm>
          <a:prstGeom prst="roundRect">
            <a:avLst>
              <a:gd name="adj" fmla="val 12000"/>
            </a:avLst>
          </a:prstGeom>
          <a:solidFill>
            <a:srgbClr val="1F2C38"/>
          </a:solidFill>
          <a:ln w="12700">
            <a:solidFill>
              <a:srgbClr val="2E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93792" y="2999232"/>
            <a:ext cx="1014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kwatt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93792" y="3200400"/>
            <a:ext cx="1014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E2BC58"/>
                </a:solidFill>
                <a:latin typeface="Segoe UI"/>
              </a:rPr>
              <a:t>WORD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0216" y="2962656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1F2C38"/>
          </a:solidFill>
          <a:ln w="12700">
            <a:solidFill>
              <a:srgbClr val="2E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0216" y="2999232"/>
            <a:ext cx="4754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3200400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E2BC58"/>
                </a:solidFill>
                <a:latin typeface="Segoe UI"/>
              </a:rPr>
              <a:t>PUNCT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206240"/>
            <a:ext cx="8138160" cy="65836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2920" y="4206240"/>
            <a:ext cx="50292" cy="658368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4088" y="4334255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Punctuation is not thrown away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4590288"/>
            <a:ext cx="7754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Commas become SEP tokens, because in speech a comma is a real clause boundary that the grammar needs to see. Full stops stay invisible.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LEXICAL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Segoe UI"/>
              </a:rPr>
              <a:t>N</a:t>
            </a:r>
            <a:r>
              <a:rPr sz="2100" b="1" dirty="0">
                <a:solidFill>
                  <a:srgbClr val="FFFFFF"/>
                </a:solidFill>
                <a:latin typeface="Segoe UI"/>
              </a:rPr>
              <a:t>FA 1 — deciding what a run of characters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3977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Each accepting state loops on its own symbol only, so a run ends the moment the character class changes.</a:t>
            </a:r>
          </a:p>
        </p:txBody>
      </p:sp>
      <p:sp>
        <p:nvSpPr>
          <p:cNvPr id="9" name="Oval 8"/>
          <p:cNvSpPr/>
          <p:nvPr/>
        </p:nvSpPr>
        <p:spPr>
          <a:xfrm>
            <a:off x="749807" y="2587752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" y="2770632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q0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2889504"/>
            <a:ext cx="329184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" y="248716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start</a:t>
            </a:r>
          </a:p>
        </p:txBody>
      </p:sp>
      <p:sp>
        <p:nvSpPr>
          <p:cNvPr id="13" name="Oval 12"/>
          <p:cNvSpPr/>
          <p:nvPr/>
        </p:nvSpPr>
        <p:spPr>
          <a:xfrm>
            <a:off x="2514600" y="1435607"/>
            <a:ext cx="640080" cy="640080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78608" y="1499616"/>
            <a:ext cx="512064" cy="512064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78608" y="1636776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Segoe UI"/>
              </a:rPr>
              <a:t>qW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66420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word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89888" y="1755648"/>
            <a:ext cx="1152144" cy="1133856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3090672" y="1600200"/>
            <a:ext cx="237743" cy="310895"/>
          </a:xfrm>
          <a:custGeom>
            <a:avLst/>
            <a:gdLst/>
            <a:ahLst/>
            <a:cxnLst/>
            <a:rect l="l" t="t" r="r" b="b"/>
            <a:pathLst>
              <a:path w="237743" h="310895">
                <a:moveTo>
                  <a:pt x="0" y="0"/>
                </a:moveTo>
                <a:lnTo>
                  <a:pt x="237743" y="0"/>
                </a:lnTo>
                <a:lnTo>
                  <a:pt x="237743" y="310895"/>
                </a:lnTo>
                <a:lnTo>
                  <a:pt x="0" y="310895"/>
                </a:lnTo>
              </a:path>
            </a:pathLst>
          </a:custGeom>
          <a:noFill/>
          <a:ln w="22225">
            <a:solidFill>
              <a:srgbClr val="1766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208483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Consolas"/>
              </a:rPr>
              <a:t>ℓ</a:t>
            </a:r>
          </a:p>
        </p:txBody>
      </p:sp>
      <p:sp>
        <p:nvSpPr>
          <p:cNvPr id="20" name="Oval 19"/>
          <p:cNvSpPr/>
          <p:nvPr/>
        </p:nvSpPr>
        <p:spPr>
          <a:xfrm>
            <a:off x="2514600" y="2002536"/>
            <a:ext cx="640080" cy="640080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578608" y="2066543"/>
            <a:ext cx="512064" cy="512064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78608" y="2203704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Segoe UI"/>
              </a:rPr>
              <a:t>qN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22311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number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389888" y="2322576"/>
            <a:ext cx="1152144" cy="566928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090672" y="2167128"/>
            <a:ext cx="237743" cy="310896"/>
          </a:xfrm>
          <a:custGeom>
            <a:avLst/>
            <a:gdLst/>
            <a:ahLst/>
            <a:cxnLst/>
            <a:rect l="l" t="t" r="r" b="b"/>
            <a:pathLst>
              <a:path w="237743" h="310896">
                <a:moveTo>
                  <a:pt x="0" y="0"/>
                </a:moveTo>
                <a:lnTo>
                  <a:pt x="237743" y="0"/>
                </a:lnTo>
                <a:lnTo>
                  <a:pt x="237743" y="310896"/>
                </a:lnTo>
                <a:lnTo>
                  <a:pt x="0" y="310896"/>
                </a:lnTo>
              </a:path>
            </a:pathLst>
          </a:custGeom>
          <a:noFill/>
          <a:ln w="22225">
            <a:solidFill>
              <a:srgbClr val="1766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37360" y="236829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dirty="0">
                <a:solidFill>
                  <a:srgbClr val="0F3D2E"/>
                </a:solidFill>
                <a:latin typeface="Consolas"/>
              </a:rPr>
              <a:t>d</a:t>
            </a:r>
          </a:p>
        </p:txBody>
      </p:sp>
      <p:sp>
        <p:nvSpPr>
          <p:cNvPr id="27" name="Oval 26"/>
          <p:cNvSpPr/>
          <p:nvPr/>
        </p:nvSpPr>
        <p:spPr>
          <a:xfrm>
            <a:off x="2514600" y="2569464"/>
            <a:ext cx="640080" cy="640080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78608" y="2633472"/>
            <a:ext cx="512064" cy="512064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78608" y="2770632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Segoe UI"/>
              </a:rPr>
              <a:t>qS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27980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space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89888" y="2889504"/>
            <a:ext cx="1152144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3090672" y="2734056"/>
            <a:ext cx="237743" cy="310896"/>
          </a:xfrm>
          <a:custGeom>
            <a:avLst/>
            <a:gdLst/>
            <a:ahLst/>
            <a:cxnLst/>
            <a:rect l="l" t="t" r="r" b="b"/>
            <a:pathLst>
              <a:path w="237743" h="310896">
                <a:moveTo>
                  <a:pt x="0" y="0"/>
                </a:moveTo>
                <a:lnTo>
                  <a:pt x="237743" y="0"/>
                </a:lnTo>
                <a:lnTo>
                  <a:pt x="237743" y="310896"/>
                </a:lnTo>
                <a:lnTo>
                  <a:pt x="0" y="310896"/>
                </a:lnTo>
              </a:path>
            </a:pathLst>
          </a:custGeom>
          <a:noFill/>
          <a:ln w="22225">
            <a:solidFill>
              <a:srgbClr val="1766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37360" y="265176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Consolas"/>
              </a:rPr>
              <a:t>␣</a:t>
            </a:r>
          </a:p>
        </p:txBody>
      </p:sp>
      <p:sp>
        <p:nvSpPr>
          <p:cNvPr id="34" name="Oval 33"/>
          <p:cNvSpPr/>
          <p:nvPr/>
        </p:nvSpPr>
        <p:spPr>
          <a:xfrm>
            <a:off x="2514600" y="3136392"/>
            <a:ext cx="640080" cy="640080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578608" y="3200400"/>
            <a:ext cx="512064" cy="512064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78608" y="3337560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Segoe UI"/>
              </a:rPr>
              <a:t>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8144" y="3364991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newline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89888" y="2889504"/>
            <a:ext cx="1152144" cy="566928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3090672" y="3300984"/>
            <a:ext cx="237743" cy="310895"/>
          </a:xfrm>
          <a:custGeom>
            <a:avLst/>
            <a:gdLst/>
            <a:ahLst/>
            <a:cxnLst/>
            <a:rect l="l" t="t" r="r" b="b"/>
            <a:pathLst>
              <a:path w="237743" h="310895">
                <a:moveTo>
                  <a:pt x="0" y="0"/>
                </a:moveTo>
                <a:lnTo>
                  <a:pt x="237743" y="0"/>
                </a:lnTo>
                <a:lnTo>
                  <a:pt x="237743" y="310895"/>
                </a:lnTo>
                <a:lnTo>
                  <a:pt x="0" y="310895"/>
                </a:lnTo>
              </a:path>
            </a:pathLst>
          </a:custGeom>
          <a:noFill/>
          <a:ln w="22225">
            <a:solidFill>
              <a:srgbClr val="1766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37360" y="3200399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Consolas"/>
              </a:rPr>
              <a:t>⏎</a:t>
            </a:r>
          </a:p>
        </p:txBody>
      </p:sp>
      <p:sp>
        <p:nvSpPr>
          <p:cNvPr id="41" name="Oval 40"/>
          <p:cNvSpPr/>
          <p:nvPr/>
        </p:nvSpPr>
        <p:spPr>
          <a:xfrm>
            <a:off x="2514600" y="3703320"/>
            <a:ext cx="640080" cy="640080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578608" y="3767328"/>
            <a:ext cx="512064" cy="512064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78608" y="3904488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Segoe UI"/>
              </a:rPr>
              <a:t>qP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8144" y="39319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punct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89888" y="2889504"/>
            <a:ext cx="1152144" cy="1133856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3090672" y="3867912"/>
            <a:ext cx="237743" cy="310896"/>
          </a:xfrm>
          <a:custGeom>
            <a:avLst/>
            <a:gdLst/>
            <a:ahLst/>
            <a:cxnLst/>
            <a:rect l="l" t="t" r="r" b="b"/>
            <a:pathLst>
              <a:path w="237743" h="310896">
                <a:moveTo>
                  <a:pt x="0" y="0"/>
                </a:moveTo>
                <a:lnTo>
                  <a:pt x="237743" y="0"/>
                </a:lnTo>
                <a:lnTo>
                  <a:pt x="237743" y="310896"/>
                </a:lnTo>
                <a:lnTo>
                  <a:pt x="0" y="310896"/>
                </a:lnTo>
              </a:path>
            </a:pathLst>
          </a:custGeom>
          <a:noFill/>
          <a:ln w="22225">
            <a:solidFill>
              <a:srgbClr val="1766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37360" y="348386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Consolas"/>
              </a:rPr>
              <a:t>▪</a:t>
            </a:r>
          </a:p>
        </p:txBody>
      </p:sp>
      <p:sp>
        <p:nvSpPr>
          <p:cNvPr id="48" name="Oval 47"/>
          <p:cNvSpPr/>
          <p:nvPr/>
        </p:nvSpPr>
        <p:spPr>
          <a:xfrm>
            <a:off x="786383" y="3922776"/>
            <a:ext cx="530352" cy="530352"/>
          </a:xfrm>
          <a:prstGeom prst="ellipse">
            <a:avLst/>
          </a:prstGeom>
          <a:solidFill>
            <a:srgbClr val="FBECEF"/>
          </a:solidFill>
          <a:ln w="25400">
            <a:solidFill>
              <a:srgbClr val="AD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3" y="3977640"/>
            <a:ext cx="530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AD3546"/>
                </a:solidFill>
                <a:latin typeface="Segoe UI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3" y="420624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dead</a:t>
            </a:r>
          </a:p>
        </p:txBody>
      </p:sp>
      <p:sp>
        <p:nvSpPr>
          <p:cNvPr id="51" name="Freeform 50"/>
          <p:cNvSpPr/>
          <p:nvPr/>
        </p:nvSpPr>
        <p:spPr>
          <a:xfrm>
            <a:off x="1316736" y="4032504"/>
            <a:ext cx="237744" cy="310896"/>
          </a:xfrm>
          <a:custGeom>
            <a:avLst/>
            <a:gdLst/>
            <a:ahLst/>
            <a:cxnLst/>
            <a:rect l="l" t="t" r="r" b="b"/>
            <a:pathLst>
              <a:path w="237744" h="310896">
                <a:moveTo>
                  <a:pt x="0" y="0"/>
                </a:moveTo>
                <a:lnTo>
                  <a:pt x="237744" y="0"/>
                </a:lnTo>
                <a:lnTo>
                  <a:pt x="237744" y="310896"/>
                </a:lnTo>
                <a:lnTo>
                  <a:pt x="0" y="310896"/>
                </a:lnTo>
              </a:path>
            </a:pathLst>
          </a:custGeom>
          <a:noFill/>
          <a:ln w="22225">
            <a:solidFill>
              <a:srgbClr val="AD3546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51713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AD3546"/>
                </a:solidFill>
                <a:latin typeface="Segoe UI"/>
              </a:rPr>
              <a:t>any other symbol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111556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7664A"/>
                </a:solidFill>
                <a:latin typeface="Segoe UI"/>
              </a:rPr>
              <a:t>TRANSITION FUNCTION δ  (total)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1371600"/>
            <a:ext cx="960120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17720" y="142189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2BC58"/>
                </a:solidFill>
                <a:latin typeface="Segoe UI"/>
              </a:rPr>
              <a:t>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1371600"/>
            <a:ext cx="612648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577840" y="142189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90488" y="1371600"/>
            <a:ext cx="612648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90488" y="142189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3136" y="1371600"/>
            <a:ext cx="612648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03136" y="142189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␣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15783" y="1371600"/>
            <a:ext cx="612648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15783" y="142189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28431" y="1371600"/>
            <a:ext cx="612648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28431" y="142189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▪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1664208"/>
            <a:ext cx="960120" cy="292608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17720" y="1714500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q0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1664208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77840" y="171450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90488" y="1664208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90488" y="171450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03136" y="1664208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03136" y="171450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15783" y="1664208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415783" y="171450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28431" y="1664208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28431" y="171450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1956816"/>
            <a:ext cx="960120" cy="292608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17720" y="200710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qW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1956816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577840" y="200710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90488" y="195681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90488" y="200710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03136" y="195681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803136" y="200710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15783" y="195681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415783" y="200710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28431" y="195681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28431" y="200710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17720" y="2249424"/>
            <a:ext cx="960120" cy="292608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617720" y="2299716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qN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77840" y="2249424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577840" y="2299716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90488" y="2249424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90488" y="2299716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03136" y="2249424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803136" y="2299716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15783" y="2249424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15783" y="2299716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28431" y="2249424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028431" y="2299716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17720" y="2542032"/>
            <a:ext cx="960120" cy="292608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617720" y="259232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qS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77840" y="2542032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577840" y="2592324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90488" y="2542032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190488" y="2592324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03136" y="2542032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803136" y="2592324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15783" y="2542032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415783" y="2592324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28431" y="2542032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28431" y="2592324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617720" y="2834640"/>
            <a:ext cx="960120" cy="292608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617720" y="288493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qL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577840" y="2834640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577840" y="288493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90488" y="2834640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90488" y="288493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803136" y="2834640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803136" y="288493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15783" y="2834640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15783" y="288493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28431" y="2834640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028431" y="288493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617720" y="3127248"/>
            <a:ext cx="960120" cy="292608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617720" y="3177540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qP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577840" y="3127248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577840" y="317754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190488" y="3127248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190488" y="317754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803136" y="3127248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803136" y="317754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15783" y="3127248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415783" y="317754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28431" y="3127248"/>
            <a:ext cx="61264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028431" y="317754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qP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617720" y="3419856"/>
            <a:ext cx="960120" cy="292608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617720" y="347014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577840" y="341985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577840" y="347014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190488" y="341985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190488" y="347014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803136" y="341985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803136" y="347014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415783" y="341985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415783" y="347014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028431" y="3419856"/>
            <a:ext cx="612648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028431" y="347014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17720" y="3913632"/>
            <a:ext cx="4023360" cy="1051560"/>
          </a:xfrm>
          <a:prstGeom prst="roundRect">
            <a:avLst>
              <a:gd name="adj" fmla="val 12000"/>
            </a:avLst>
          </a:prstGeom>
          <a:solidFill>
            <a:srgbClr val="16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800600" y="401421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2BC58"/>
                </a:solidFill>
                <a:latin typeface="Segoe UI"/>
              </a:rPr>
              <a:t>FORMAL DEFINITION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00600" y="424281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Σ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276088" y="4256532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ℓ letter/accent   d digit   ␣ space   ⏎ newline   ▪ punctuation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00600" y="448970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Q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76088" y="4503420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q0, qW, qN, qS, qL, qP, X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00600" y="4736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F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76088" y="4750308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qW, qN, qS, qL, qP   —  X is the dead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LEXICAL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Segoe UI"/>
              </a:rPr>
              <a:t>N</a:t>
            </a:r>
            <a:r>
              <a:rPr sz="2100" b="1">
                <a:solidFill>
                  <a:srgbClr val="FFFFFF"/>
                </a:solidFill>
                <a:latin typeface="Segoe UI"/>
              </a:rPr>
              <a:t>FA </a:t>
            </a:r>
            <a:r>
              <a:rPr sz="2100" b="1" dirty="0">
                <a:solidFill>
                  <a:srgbClr val="FFFFFF"/>
                </a:solidFill>
                <a:latin typeface="Segoe UI"/>
              </a:rPr>
              <a:t>2 — what counts as one 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65A50"/>
                </a:solidFill>
                <a:latin typeface="Segoe UI"/>
              </a:rPr>
              <a:t>State qW above expands into this machine. Double circle = a complete, valid word.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" y="2212848"/>
            <a:ext cx="310896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" y="18105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start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1856231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002536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1" y="223113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no letter yet</a:t>
            </a:r>
          </a:p>
        </p:txBody>
      </p:sp>
      <p:sp>
        <p:nvSpPr>
          <p:cNvPr id="14" name="Oval 13"/>
          <p:cNvSpPr/>
          <p:nvPr/>
        </p:nvSpPr>
        <p:spPr>
          <a:xfrm>
            <a:off x="2596896" y="1792223"/>
            <a:ext cx="841248" cy="841248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60903" y="1856231"/>
            <a:ext cx="713232" cy="713232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60903" y="2002536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3" y="223113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valid word</a:t>
            </a:r>
          </a:p>
        </p:txBody>
      </p:sp>
      <p:sp>
        <p:nvSpPr>
          <p:cNvPr id="18" name="Oval 17"/>
          <p:cNvSpPr/>
          <p:nvPr/>
        </p:nvSpPr>
        <p:spPr>
          <a:xfrm>
            <a:off x="4718304" y="1856231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B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18304" y="2002536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23113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after ' or -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8760" y="2212848"/>
            <a:ext cx="1115568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17903" y="186537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10712" y="2212848"/>
            <a:ext cx="1280160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02151" y="186537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m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596896"/>
            <a:ext cx="2057400" cy="0"/>
          </a:xfrm>
          <a:prstGeom prst="bentConnector3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02151" y="265176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ℓ</a:t>
            </a:r>
          </a:p>
        </p:txBody>
      </p:sp>
      <p:sp>
        <p:nvSpPr>
          <p:cNvPr id="27" name="Freeform 26"/>
          <p:cNvSpPr/>
          <p:nvPr/>
        </p:nvSpPr>
        <p:spPr>
          <a:xfrm>
            <a:off x="2743200" y="1453895"/>
            <a:ext cx="548639" cy="402336"/>
          </a:xfrm>
          <a:custGeom>
            <a:avLst/>
            <a:gdLst/>
            <a:ahLst/>
            <a:cxnLst/>
            <a:rect l="l" t="t" r="r" b="b"/>
            <a:pathLst>
              <a:path w="548639" h="402336">
                <a:moveTo>
                  <a:pt x="0" y="402336"/>
                </a:moveTo>
                <a:lnTo>
                  <a:pt x="0" y="0"/>
                </a:lnTo>
                <a:lnTo>
                  <a:pt x="548639" y="0"/>
                </a:lnTo>
                <a:lnTo>
                  <a:pt x="548639" y="402336"/>
                </a:lnTo>
              </a:path>
            </a:pathLst>
          </a:custGeom>
          <a:noFill/>
          <a:ln w="25400">
            <a:solidFill>
              <a:srgbClr val="17664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79" y="12344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3D2E"/>
                </a:solidFill>
                <a:latin typeface="Segoe UI"/>
              </a:rPr>
              <a:t>ℓ</a:t>
            </a:r>
          </a:p>
        </p:txBody>
      </p:sp>
      <p:sp>
        <p:nvSpPr>
          <p:cNvPr id="29" name="Oval 28"/>
          <p:cNvSpPr/>
          <p:nvPr/>
        </p:nvSpPr>
        <p:spPr>
          <a:xfrm>
            <a:off x="6821424" y="1856231"/>
            <a:ext cx="713232" cy="713232"/>
          </a:xfrm>
          <a:prstGeom prst="ellipse">
            <a:avLst/>
          </a:prstGeom>
          <a:solidFill>
            <a:srgbClr val="FBECEF"/>
          </a:solidFill>
          <a:ln w="25400">
            <a:solidFill>
              <a:srgbClr val="AD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21424" y="2002536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D3546"/>
                </a:solidFill>
                <a:latin typeface="Segoe UI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223113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dead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68112" y="2212848"/>
            <a:ext cx="1325880" cy="0"/>
          </a:xfrm>
          <a:prstGeom prst="line">
            <a:avLst/>
          </a:prstGeom>
          <a:ln w="25400">
            <a:solidFill>
              <a:srgbClr val="AD35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0" y="18653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D3546"/>
                </a:solidFill>
                <a:latin typeface="Segoe UI"/>
              </a:rPr>
              <a:t>m</a:t>
            </a:r>
          </a:p>
        </p:txBody>
      </p:sp>
      <p:sp>
        <p:nvSpPr>
          <p:cNvPr id="34" name="Freeform 33"/>
          <p:cNvSpPr/>
          <p:nvPr/>
        </p:nvSpPr>
        <p:spPr>
          <a:xfrm>
            <a:off x="7552944" y="2029967"/>
            <a:ext cx="274320" cy="365761"/>
          </a:xfrm>
          <a:custGeom>
            <a:avLst/>
            <a:gdLst/>
            <a:ahLst/>
            <a:cxnLst/>
            <a:rect l="l" t="t" r="r" b="b"/>
            <a:pathLst>
              <a:path w="274320" h="365761">
                <a:moveTo>
                  <a:pt x="0" y="0"/>
                </a:moveTo>
                <a:lnTo>
                  <a:pt x="274320" y="0"/>
                </a:lnTo>
                <a:lnTo>
                  <a:pt x="274320" y="365761"/>
                </a:lnTo>
                <a:lnTo>
                  <a:pt x="0" y="365761"/>
                </a:lnTo>
              </a:path>
            </a:pathLst>
          </a:custGeom>
          <a:noFill/>
          <a:ln w="22225">
            <a:solidFill>
              <a:srgbClr val="AD3546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0" y="248716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ℓ,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12724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7664A"/>
                </a:solidFill>
                <a:latin typeface="Segoe UI"/>
              </a:rPr>
              <a:t>TRANSITION FUNCTION δ  (total)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383280"/>
            <a:ext cx="960120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43357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2BC58"/>
                </a:solidFill>
                <a:latin typeface="Segoe UI"/>
              </a:rPr>
              <a:t>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383280"/>
            <a:ext cx="731520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63040" y="34335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383280"/>
            <a:ext cx="731520" cy="29260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94560" y="34335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675888"/>
            <a:ext cx="960120" cy="292608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726180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63040" y="3675888"/>
            <a:ext cx="731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63040" y="372618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94560" y="3675888"/>
            <a:ext cx="731520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94560" y="372618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968496"/>
            <a:ext cx="960120" cy="292608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01878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63040" y="3968496"/>
            <a:ext cx="731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63040" y="401878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94560" y="3968496"/>
            <a:ext cx="731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194560" y="401878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261104"/>
            <a:ext cx="960120" cy="292608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4311396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63040" y="4261104"/>
            <a:ext cx="7315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63040" y="431139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94560" y="4261104"/>
            <a:ext cx="731520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194560" y="431139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553712"/>
            <a:ext cx="960120" cy="292608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46040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63040" y="4553712"/>
            <a:ext cx="731520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63040" y="460400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94560" y="4553712"/>
            <a:ext cx="731520" cy="292608"/>
          </a:xfrm>
          <a:prstGeom prst="rect">
            <a:avLst/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94560" y="460400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D3546"/>
                </a:solidFill>
                <a:latin typeface="Consolas"/>
              </a:rPr>
              <a:t>X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17520" y="3383280"/>
            <a:ext cx="2834640" cy="1298448"/>
          </a:xfrm>
          <a:prstGeom prst="roundRect">
            <a:avLst>
              <a:gd name="adj" fmla="val 12000"/>
            </a:avLst>
          </a:prstGeom>
          <a:solidFill>
            <a:srgbClr val="16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0" y="348386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2BC58"/>
                </a:solidFill>
                <a:latin typeface="Segoe UI"/>
              </a:rPr>
              <a:t>FORMAL 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371246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75887" y="3726180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ℓ = any letter or accent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3959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75887" y="3973068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m = apostrophe ' ’ or hyphen -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0" y="420624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75887" y="4219956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A, B, C, X      q₀ =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0" y="445312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75887" y="4466844"/>
            <a:ext cx="1993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{ B 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80760" y="312724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7664A"/>
                </a:solidFill>
                <a:latin typeface="Segoe UI"/>
              </a:rPr>
              <a:t>TRACES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80760" y="3383280"/>
            <a:ext cx="256032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199632" y="343814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Consolas"/>
              </a:rPr>
              <a:t>taximan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4032" y="3438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Consolas"/>
              </a:rPr>
              <a:t>A B B B B B B B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80760" y="3767328"/>
            <a:ext cx="256032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199632" y="3822191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Consolas"/>
              </a:rPr>
              <a:t>j'ai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14032" y="3822191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Consolas"/>
              </a:rPr>
              <a:t>A B C B B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60" y="4151376"/>
            <a:ext cx="256032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199632" y="420624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Consolas"/>
              </a:rPr>
              <a:t>est-ce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14032" y="420624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Consolas"/>
              </a:rPr>
              <a:t>A B B B C B B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080760" y="4535424"/>
            <a:ext cx="2560320" cy="329184"/>
          </a:xfrm>
          <a:prstGeom prst="roundRect">
            <a:avLst>
              <a:gd name="adj" fmla="val 12000"/>
            </a:avLst>
          </a:prstGeom>
          <a:solidFill>
            <a:srgbClr val="FBECE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199632" y="459028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D3546"/>
                </a:solidFill>
                <a:latin typeface="Consolas"/>
              </a:rPr>
              <a:t>'x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14032" y="459028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65A50"/>
                </a:solidFill>
                <a:latin typeface="Consolas"/>
              </a:rPr>
              <a:t>A X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LEXICAL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Step 2 — Lexing: give every word a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65A50"/>
                </a:solidFill>
                <a:latin typeface="Segoe UI"/>
              </a:rPr>
              <a:t>Each word is looked up in a 688-word lexicon built from the speech we collected.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9319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ONE WORD,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202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02A"/>
                </a:solidFill>
                <a:latin typeface="Consolas"/>
              </a:rPr>
              <a:t>kwatt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9572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Segoe UI"/>
              </a:rPr>
              <a:t>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9572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Segoe UI"/>
              </a:rPr>
              <a:t>NOUN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2491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Segoe UI"/>
              </a:rPr>
              <a:t>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24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Segoe UI"/>
              </a:rPr>
              <a:t>neighbourhood / quartier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05409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Segoe UI"/>
              </a:rPr>
              <a:t>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0540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Segoe UI"/>
              </a:rPr>
              <a:t>Duala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38328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Segoe UI"/>
              </a:rPr>
              <a:t>Slang?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8328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Segoe UI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48132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12 WORD CLASSES THE GRAMMAR USES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179222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182880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NOUN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01168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290 words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79222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182880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VERB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1168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210 words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179222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182880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ADV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1168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35 words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229514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600" y="233172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ADJ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5146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33 words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229514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233172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DET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5146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30 words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229514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52360" y="233172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PRON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51460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23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279806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28346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PREP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01752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22 words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279806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28346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INTJ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01752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19 words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60920" y="279806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52360" y="28346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CONJ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301752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14 words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60" y="330098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33756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FORMULA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352044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7 words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330098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0" y="333756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NEG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52044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5 words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60920" y="3300984"/>
            <a:ext cx="1216152" cy="41148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52360" y="333756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SEP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352044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465A50"/>
                </a:solidFill>
                <a:latin typeface="Segoe UI"/>
              </a:rPr>
              <a:t>— words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4005072"/>
            <a:ext cx="8138160" cy="8412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2920" y="4005072"/>
            <a:ext cx="50292" cy="841248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4088" y="4133087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An unknown word is never dropped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" y="4389120"/>
            <a:ext cx="775411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It becomes an UNKNOWN token that still remembers where it came from — so the parser can point at the exact character, and we can suggest the closest real word.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SYNTACTIC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Step 3 — Writing the grammar, then fixing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65A50"/>
                </a:solidFill>
                <a:latin typeface="Segoe UI"/>
              </a:rPr>
              <a:t>We wrote the rules the natural way first. That version cannot be parsed — so the tool rewrites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886200" cy="1572768"/>
          </a:xfrm>
          <a:prstGeom prst="roundRect">
            <a:avLst>
              <a:gd name="adj" fmla="val 12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2763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D3546"/>
                </a:solidFill>
                <a:latin typeface="Segoe UI"/>
              </a:rPr>
              <a:t>PROBLEM · left recursion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02A"/>
                </a:solidFill>
                <a:latin typeface="Consolas"/>
              </a:rPr>
              <a:t>Seq → Seq CONJ Unit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6202A"/>
                </a:solidFill>
                <a:latin typeface="Consolas"/>
              </a:rPr>
              <a:t>      |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15184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AD3546"/>
                </a:solidFill>
                <a:latin typeface="Segoe UI"/>
              </a:rPr>
              <a:t>Seq starts by asking for Seq. The parser would loop forever.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267712"/>
            <a:ext cx="457200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15968" y="239572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rewrite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1481328"/>
            <a:ext cx="3502152" cy="157276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62763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FIXED · no left recursion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93852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02A"/>
                </a:solidFill>
                <a:latin typeface="Consolas"/>
              </a:rPr>
              <a:t>Seq  → Unit Seq′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6202A"/>
                </a:solidFill>
                <a:latin typeface="Consolas"/>
              </a:rPr>
              <a:t>Seq′ → CONJ Unit Seq′ | 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1518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7664A"/>
                </a:solidFill>
                <a:latin typeface="Segoe UI"/>
              </a:rPr>
              <a:t>Now it reads left to right and always makes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4 RECORDED STEPS  ·  37 → 41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47872"/>
            <a:ext cx="19019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6" y="3675887"/>
            <a:ext cx="292608" cy="292608"/>
          </a:xfrm>
          <a:prstGeom prst="ellipse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3721608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3675887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A"/>
                </a:solidFill>
                <a:latin typeface="Segoe UI"/>
              </a:rPr>
              <a:t>Remove left recursion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387705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Consolas"/>
              </a:rPr>
              <a:t>on Seq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87752" y="3547872"/>
            <a:ext cx="19019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15768" y="3675887"/>
            <a:ext cx="292608" cy="292608"/>
          </a:xfrm>
          <a:prstGeom prst="ellipse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15768" y="3721608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9816" y="3675887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A"/>
                </a:solidFill>
                <a:latin typeface="Segoe UI"/>
              </a:rPr>
              <a:t>Factor SEP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9816" y="387705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Consolas"/>
              </a:rPr>
              <a:t>on Seq′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2583" y="3547872"/>
            <a:ext cx="19019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599" y="3675887"/>
            <a:ext cx="292608" cy="292608"/>
          </a:xfrm>
          <a:prstGeom prst="ellipse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599" y="3721608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3675887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A"/>
                </a:solidFill>
                <a:latin typeface="Segoe UI"/>
              </a:rPr>
              <a:t>Factor INTJ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4648" y="387705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Consolas"/>
              </a:rPr>
              <a:t>on Unit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57416" y="3547872"/>
            <a:ext cx="19019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885431" y="3675887"/>
            <a:ext cx="292608" cy="292608"/>
          </a:xfrm>
          <a:prstGeom prst="ellipse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85431" y="3721608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79" y="3675887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A"/>
                </a:solidFill>
                <a:latin typeface="Segoe UI"/>
              </a:rPr>
              <a:t>Factor DET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79" y="387705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Consolas"/>
              </a:rPr>
              <a:t>on NP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352544"/>
            <a:ext cx="8138160" cy="548640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4352544"/>
            <a:ext cx="50292" cy="548640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4480559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Order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4736592"/>
            <a:ext cx="7754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Removing left recursion CREATES a new clash on SEP. Factoring must come second, or the grammar still isn't LL(1).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SYNTACTIC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Step 4 — The parsing table: a lookup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65A50"/>
                </a:solidFill>
                <a:latin typeface="Segoe UI"/>
              </a:rPr>
              <a:t>Row = what we're expecting. Column = the next word's class. The cell says which rule to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37360" y="1572768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1664208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DET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572768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664208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NOUN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1572768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1664208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VERB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3" y="1572768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58383" y="1664208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INTJ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1572768"/>
            <a:ext cx="120700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64208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1956816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048256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Consolas"/>
              </a:rPr>
              <a:t>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956816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2057400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s1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1956816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44368" y="2057400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s1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51376" y="1956816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51376" y="2057400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s1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8383" y="1956816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58383" y="2057400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s1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2" y="1956816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77240" y="2340864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2432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Consolas"/>
              </a:rPr>
              <a:t>NP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2340864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37360" y="244144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np1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44368" y="2340864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44368" y="2441448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np4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1376" y="2340864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358383" y="2340864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65392" y="2340864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" y="2724912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281635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Consolas"/>
              </a:rPr>
              <a:t>NP′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2724912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944368" y="2724912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44368" y="2825496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np1a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51376" y="2724912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358383" y="2724912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65392" y="2724912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" y="3108960"/>
            <a:ext cx="960120" cy="3840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3200400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Consolas"/>
              </a:rPr>
              <a:t>Unit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3108960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737360" y="3209544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u4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44368" y="3108960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44368" y="3209544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u4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51376" y="3108960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51376" y="3209544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u4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58383" y="3108960"/>
            <a:ext cx="1207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58383" y="3209544"/>
            <a:ext cx="12070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Consolas"/>
              </a:rPr>
              <a:t>u1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3108960"/>
            <a:ext cx="1207008" cy="384048"/>
          </a:xfrm>
          <a:prstGeom prst="rect">
            <a:avLst/>
          </a:prstGeom>
          <a:solidFill>
            <a:srgbClr val="F1F4F2"/>
          </a:solidFill>
          <a:ln w="9525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356616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65A50"/>
                </a:solidFill>
                <a:latin typeface="Segoe UI"/>
              </a:rPr>
              <a:t>Grey = illegal here. That is how errors are caught.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5040" y="3675887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199632" y="3840480"/>
            <a:ext cx="420624" cy="420624"/>
          </a:xfrm>
          <a:prstGeom prst="ellipse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99632" y="3913632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384962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3D2E"/>
                </a:solidFill>
                <a:latin typeface="Segoe UI"/>
              </a:rPr>
              <a:t>Conflict-free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4087368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No cell holds two rules. One word of lookahead is always enough.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3913632"/>
            <a:ext cx="5349240" cy="713232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02920" y="3913632"/>
            <a:ext cx="50292" cy="713232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04088" y="4041648"/>
            <a:ext cx="49651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Built by one rule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" y="4297680"/>
            <a:ext cx="4965192" cy="210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Put rule A → α in cell [A, t] for every word class t that α can start with. If α can vanish, also for everything that can follow 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SYNTACTIC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The parser — a pushdown automaton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65A50"/>
                </a:solidFill>
                <a:latin typeface="Segoe UI"/>
              </a:rPr>
              <a:t>Same idea as the DFAs, plus one thing a finite automaton does not have: a stack.</a:t>
            </a:r>
          </a:p>
        </p:txBody>
      </p:sp>
      <p:sp>
        <p:nvSpPr>
          <p:cNvPr id="9" name="Oval 8"/>
          <p:cNvSpPr/>
          <p:nvPr/>
        </p:nvSpPr>
        <p:spPr>
          <a:xfrm>
            <a:off x="1897380" y="2217420"/>
            <a:ext cx="1143000" cy="1143000"/>
          </a:xfrm>
          <a:prstGeom prst="ellipse">
            <a:avLst/>
          </a:prstGeom>
          <a:solidFill>
            <a:srgbClr val="0F3D2E"/>
          </a:solidFill>
          <a:ln w="25400">
            <a:solidFill>
              <a:srgbClr val="0F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97380" y="2670048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3522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8C8B6"/>
                </a:solidFill>
                <a:latin typeface="Segoe UI"/>
              </a:rPr>
              <a:t>read top of stack
and next class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8" y="2788920"/>
            <a:ext cx="347472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" y="222199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push  S $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2459736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q₀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72768" y="2788920"/>
            <a:ext cx="310896" cy="0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21408" y="1408176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21408" y="1636776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3D2E"/>
                </a:solidFill>
                <a:latin typeface="Segoe UI"/>
              </a:rPr>
              <a:t>match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468880" y="2121408"/>
            <a:ext cx="0" cy="73152"/>
          </a:xfrm>
          <a:prstGeom prst="line">
            <a:avLst/>
          </a:prstGeom>
          <a:ln w="25400">
            <a:solidFill>
              <a:srgbClr val="17664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80944" y="164592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Consolas"/>
              </a:rPr>
              <a:t>δ(q, a, a) = (q, ε)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pop the class, consume the word</a:t>
            </a:r>
          </a:p>
        </p:txBody>
      </p:sp>
      <p:sp>
        <p:nvSpPr>
          <p:cNvPr id="21" name="Oval 20"/>
          <p:cNvSpPr/>
          <p:nvPr/>
        </p:nvSpPr>
        <p:spPr>
          <a:xfrm>
            <a:off x="2121408" y="3511296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21408" y="3739896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F3D2E"/>
                </a:solidFill>
                <a:latin typeface="Segoe UI"/>
              </a:rPr>
              <a:t>predict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3383279"/>
            <a:ext cx="0" cy="109729"/>
          </a:xfrm>
          <a:prstGeom prst="line">
            <a:avLst/>
          </a:prstGeom>
          <a:ln w="25400">
            <a:solidFill>
              <a:srgbClr val="17664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80944" y="3730752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Consolas"/>
              </a:rPr>
              <a:t>δ(q, a, A) = (q, αᴿ)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pop A, push table[A,a] reversed</a:t>
            </a:r>
          </a:p>
        </p:txBody>
      </p:sp>
      <p:sp>
        <p:nvSpPr>
          <p:cNvPr id="25" name="Oval 24"/>
          <p:cNvSpPr/>
          <p:nvPr/>
        </p:nvSpPr>
        <p:spPr>
          <a:xfrm>
            <a:off x="7269479" y="1572768"/>
            <a:ext cx="914400" cy="914400"/>
          </a:xfrm>
          <a:prstGeom prst="ellipse">
            <a:avLst/>
          </a:prstGeom>
          <a:noFill/>
          <a:ln w="1905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33488" y="1636776"/>
            <a:ext cx="786384" cy="786384"/>
          </a:xfrm>
          <a:prstGeom prst="ellipse">
            <a:avLst/>
          </a:prstGeom>
          <a:solidFill>
            <a:srgbClr val="E8F3EC"/>
          </a:solidFill>
          <a:ln w="25400">
            <a:solidFill>
              <a:srgbClr val="17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3488" y="191109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Segoe UI"/>
              </a:rPr>
              <a:t>acc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090672" y="2075688"/>
            <a:ext cx="4224528" cy="475488"/>
          </a:xfrm>
          <a:prstGeom prst="line">
            <a:avLst/>
          </a:prstGeom>
          <a:ln w="25400">
            <a:solidFill>
              <a:srgbClr val="1766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51959" y="184708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δ(q, $, $) = (acc, ε)</a:t>
            </a:r>
          </a:p>
        </p:txBody>
      </p:sp>
      <p:sp>
        <p:nvSpPr>
          <p:cNvPr id="30" name="Oval 29"/>
          <p:cNvSpPr/>
          <p:nvPr/>
        </p:nvSpPr>
        <p:spPr>
          <a:xfrm>
            <a:off x="7269479" y="3182112"/>
            <a:ext cx="914400" cy="914400"/>
          </a:xfrm>
          <a:prstGeom prst="ellipse">
            <a:avLst/>
          </a:prstGeom>
          <a:noFill/>
          <a:ln w="19050">
            <a:solidFill>
              <a:srgbClr val="AD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33488" y="3246120"/>
            <a:ext cx="786384" cy="786384"/>
          </a:xfrm>
          <a:prstGeom prst="ellipse">
            <a:avLst/>
          </a:prstGeom>
          <a:solidFill>
            <a:srgbClr val="FBECEF"/>
          </a:solidFill>
          <a:ln w="25400">
            <a:solidFill>
              <a:srgbClr val="AD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33488" y="3520440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AD3546"/>
                </a:solidFill>
                <a:latin typeface="Segoe UI"/>
              </a:rPr>
              <a:t>rej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90672" y="3026663"/>
            <a:ext cx="4224528" cy="475488"/>
          </a:xfrm>
          <a:prstGeom prst="line">
            <a:avLst/>
          </a:prstGeom>
          <a:ln w="25400">
            <a:solidFill>
              <a:srgbClr val="AD35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51959" y="35844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AD3546"/>
                </a:solidFill>
                <a:latin typeface="Segoe UI"/>
              </a:rPr>
              <a:t>δ undefined → error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224528"/>
            <a:ext cx="3794760" cy="804672"/>
          </a:xfrm>
          <a:prstGeom prst="roundRect">
            <a:avLst>
              <a:gd name="adj" fmla="val 12000"/>
            </a:avLst>
          </a:prstGeom>
          <a:solidFill>
            <a:srgbClr val="16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32511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2BC58"/>
                </a:solidFill>
                <a:latin typeface="Segoe UI"/>
              </a:rPr>
              <a:t>PUSHDOWN AUTOMATON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5371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" y="4567428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the 12 word classes, plus 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8006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2BC58"/>
                </a:solidFill>
                <a:latin typeface="Consolas"/>
              </a:rPr>
              <a:t>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" y="4814316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Segoe UI"/>
              </a:rPr>
              <a:t>word classes + rule names + $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6280" y="4224528"/>
            <a:ext cx="4114800" cy="804672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26280" y="4224528"/>
            <a:ext cx="50292" cy="804672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18304" y="4315968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3D2E"/>
                </a:solidFill>
                <a:latin typeface="Segoe UI"/>
              </a:rPr>
              <a:t>Why not a DFA?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8304" y="4535424"/>
            <a:ext cx="382219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65A50"/>
                </a:solidFill>
                <a:latin typeface="Segoe UI"/>
              </a:rPr>
              <a:t>A DFA has finitely many states, so it cannot count nesting. The stack can grow without limit — that is the whole difference.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THE 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Watch it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202A"/>
                </a:solidFill>
                <a:latin typeface="Segoe UI"/>
              </a:rPr>
              <a:t>“le taximan a une voiture”  →  DET NOUN VERB DET NOUN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566160" cy="36576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563624"/>
            <a:ext cx="33832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Stack (top first)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48132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4528" y="15636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Next 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481328"/>
            <a:ext cx="3200400" cy="36576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41848" y="156362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Move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883664"/>
            <a:ext cx="356616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0" y="1883664"/>
            <a:ext cx="13716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32120" y="1883664"/>
            <a:ext cx="32004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192024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S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92024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192024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Segoe UI"/>
              </a:rPr>
              <a:t>expand S → Seq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85416"/>
            <a:ext cx="356616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0" y="2185416"/>
            <a:ext cx="137160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2120" y="2185416"/>
            <a:ext cx="320040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222199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NP ClauseTail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22199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DET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222199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Segoe UI"/>
              </a:rPr>
              <a:t>expand NP → DET NP′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487168"/>
            <a:ext cx="356616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2487168"/>
            <a:ext cx="13716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32120" y="2487168"/>
            <a:ext cx="32004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2523744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DET NP′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25237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DET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252374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5BCC"/>
                </a:solidFill>
                <a:latin typeface="Segoe UI"/>
              </a:rPr>
              <a:t>match “le”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788920"/>
            <a:ext cx="356616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0" y="2788920"/>
            <a:ext cx="137160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532120" y="2788920"/>
            <a:ext cx="320040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2825496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NP′ 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28254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NOUN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282549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7664A"/>
                </a:solidFill>
                <a:latin typeface="Segoe UI"/>
              </a:rPr>
              <a:t>expand NP′ → NOUN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090672"/>
            <a:ext cx="356616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14800" y="3090672"/>
            <a:ext cx="13716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532120" y="3090672"/>
            <a:ext cx="32004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312724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NOUN 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312724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NOUN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7568" y="312724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5BCC"/>
                </a:solidFill>
                <a:latin typeface="Segoe UI"/>
              </a:rPr>
              <a:t>match “taximan”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392424"/>
            <a:ext cx="356616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114800" y="3392424"/>
            <a:ext cx="137160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32120" y="3392424"/>
            <a:ext cx="3200400" cy="283464"/>
          </a:xfrm>
          <a:prstGeom prst="rect">
            <a:avLst/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" y="342900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Predicate 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42900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VERB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7568" y="342900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5BCC"/>
                </a:solidFill>
                <a:latin typeface="Segoe UI"/>
              </a:rPr>
              <a:t>expand, then match “a”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694176"/>
            <a:ext cx="356616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114800" y="3694176"/>
            <a:ext cx="13716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532120" y="3694176"/>
            <a:ext cx="320040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2648" y="373075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6202A"/>
                </a:solidFill>
                <a:latin typeface="Consolas"/>
              </a:rPr>
              <a:t>Comps Seq′ $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7307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$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87568" y="373075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both vanish (ε)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995928"/>
            <a:ext cx="3566160" cy="283464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114800" y="3995928"/>
            <a:ext cx="1371600" cy="283464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532120" y="3995928"/>
            <a:ext cx="3200400" cy="283464"/>
          </a:xfrm>
          <a:prstGeom prst="rect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8" y="4032504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F3D2E"/>
                </a:solidFill>
                <a:latin typeface="Consolas"/>
              </a:rPr>
              <a:t>$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40325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65A50"/>
                </a:solidFill>
                <a:latin typeface="Consolas"/>
              </a:rPr>
              <a:t>$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87568" y="403250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ACCEPT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4407408"/>
            <a:ext cx="8138160" cy="65836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2920" y="4407408"/>
            <a:ext cx="50292" cy="658368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04088" y="4535424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The ε steps are the clever part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" y="4791456"/>
            <a:ext cx="7754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“Comps” and “Seq′” are allowed to match nothing — which is exactly what FOLLOW sets tell the parser.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Results: 20 of our 22 sentences parse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7664A"/>
                </a:solidFill>
                <a:latin typeface="Segoe UI"/>
              </a:rPr>
              <a:t>OUR COLLECTED SENTENCES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4206240" cy="566928"/>
          </a:xfrm>
          <a:prstGeom prst="roundRect">
            <a:avLst>
              <a:gd name="adj" fmla="val 12000"/>
            </a:avLst>
          </a:prstGeom>
          <a:solidFill>
            <a:srgbClr val="F1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3823854" cy="566928"/>
          </a:xfrm>
          <a:prstGeom prst="roundRect">
            <a:avLst>
              <a:gd name="adj" fmla="val 12000"/>
            </a:avLst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 accepted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162763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AD3546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31136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3D2E"/>
                </a:solidFill>
                <a:latin typeface="Segoe UI"/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5915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acceptance — every one with a full derivation showing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18872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D3546"/>
                </a:solidFill>
                <a:latin typeface="Segoe UI"/>
              </a:rPr>
              <a:t>THE TWO WE REJECT — ON PURPOSE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481328"/>
            <a:ext cx="3520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1481328"/>
            <a:ext cx="50292" cy="822960"/>
          </a:xfrm>
          <a:prstGeom prst="rect">
            <a:avLst/>
          </a:prstGeom>
          <a:solidFill>
            <a:srgbClr val="AD3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159105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Segoe UI"/>
              </a:rPr>
              <a:t>Adverb after the 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828800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“…tchop le poisson ici” — our rules only allow adverbs before the verb.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414016"/>
            <a:ext cx="35204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0" y="2414016"/>
            <a:ext cx="50292" cy="822960"/>
          </a:xfrm>
          <a:prstGeom prst="rect">
            <a:avLst/>
          </a:prstGeom>
          <a:solidFill>
            <a:srgbClr val="AD3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0" y="2523744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A"/>
                </a:solidFill>
                <a:latin typeface="Segoe UI"/>
              </a:rPr>
              <a:t>Pronoun stuck after the verb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61488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“va me bring” — fixing it would create a conflict in the table.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66160"/>
            <a:ext cx="8138160" cy="749808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566160"/>
            <a:ext cx="50292" cy="74980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694176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We left them failing on 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950208"/>
            <a:ext cx="7754112" cy="246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We could widen the grammar until everything passed. But a grammar that accepts every sentence proves nothing — so we report the limit instead of hiding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43984"/>
            <a:ext cx="1901952" cy="493776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" y="45079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2E"/>
                </a:solidFill>
                <a:latin typeface="Segoe UI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57200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sentences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87752" y="4443984"/>
            <a:ext cx="1901952" cy="493776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15768" y="45079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2E"/>
                </a:solidFill>
                <a:latin typeface="Segoe UI"/>
              </a:rPr>
              <a:t>688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lexicon words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72583" y="4443984"/>
            <a:ext cx="1901952" cy="493776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0599" y="45079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2E"/>
                </a:solidFill>
                <a:latin typeface="Segoe UI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5271" y="457200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donor languages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7416" y="4443984"/>
            <a:ext cx="1901952" cy="493776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85431" y="45079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3D2E"/>
                </a:solidFill>
                <a:latin typeface="Segoe UI"/>
              </a:rPr>
              <a:t>158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0104" y="457200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65A50"/>
                </a:solidFill>
                <a:latin typeface="Segoe UI"/>
              </a:rPr>
              <a:t>tests passing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4114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2BC58"/>
                </a:solidFill>
                <a:latin typeface="Segoe U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Segoe UI"/>
              </a:rPr>
              <a:t>Why this language is hard to 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60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E2BC58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07008"/>
            <a:ext cx="39776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07008"/>
            <a:ext cx="54864" cy="1234440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37160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700" b="1">
                <a:solidFill>
                  <a:srgbClr val="0F3D2E"/>
                </a:solidFill>
                <a:latin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38988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languages in one lexicon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2880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No single dictionary would recognise even half of a normal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1207008"/>
            <a:ext cx="39776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59" y="1207008"/>
            <a:ext cx="54864" cy="1234440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0327" y="137160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700" b="1">
                <a:solidFill>
                  <a:srgbClr val="0F3D2E"/>
                </a:solidFill>
                <a:latin typeface="Segoe UI"/>
              </a:rPr>
              <a:t>mid-
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138988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switching happens inside a clause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182880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So the language label belongs to each word, not to the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24328"/>
            <a:ext cx="39776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624328"/>
            <a:ext cx="54864" cy="1234440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7889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700" b="1">
                <a:solidFill>
                  <a:srgbClr val="0F3D2E"/>
                </a:solidFill>
                <a:latin typeface="Segoe UI"/>
              </a:rPr>
              <a:t>é =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280720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spelling is unstable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24612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Typed on phones: accents come and go. We match without them — as a fallback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2624328"/>
            <a:ext cx="3977639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59" y="2624328"/>
            <a:ext cx="54864" cy="1234440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10327" y="27889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700" b="1">
                <a:solidFill>
                  <a:srgbClr val="0F3D2E"/>
                </a:solidFill>
                <a:latin typeface="Segoe UI"/>
              </a:rPr>
              <a:t>à ≠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2807208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202A"/>
                </a:solidFill>
                <a:latin typeface="Segoe UI"/>
              </a:rPr>
              <a:t>but accents carry meaning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246120"/>
            <a:ext cx="24688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65A50"/>
                </a:solidFill>
                <a:latin typeface="Segoe UI"/>
              </a:rPr>
              <a:t>“a” is a verb, “à” is a preposition. Strip them blindly and the sentence changes.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14800"/>
            <a:ext cx="8138160" cy="74980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114800"/>
            <a:ext cx="50292" cy="749808"/>
          </a:xfrm>
          <a:prstGeom prst="rect">
            <a:avLst/>
          </a:prstGeom>
          <a:solidFill>
            <a:srgbClr val="176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4242816"/>
            <a:ext cx="77541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3D2E"/>
                </a:solidFill>
                <a:latin typeface="Segoe UI"/>
              </a:rPr>
              <a:t>Our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498848"/>
            <a:ext cx="7754112" cy="246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A50"/>
                </a:solidFill>
                <a:latin typeface="Segoe UI"/>
              </a:rPr>
              <a:t>Don't force the speech into a tidier model. Record where every decision came from — the language of each word, the evidence for each lexicon entry, the rule behind each parse step — so any claim can be traced 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2B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749808"/>
            <a:ext cx="1060397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057400"/>
            <a:ext cx="80467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2BC58"/>
                </a:solidFill>
                <a:latin typeface="Segoe UI"/>
              </a:rP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310128"/>
            <a:ext cx="3291840" cy="41148"/>
          </a:xfrm>
          <a:prstGeom prst="rect">
            <a:avLst/>
          </a:prstGeom>
          <a:solidFill>
            <a:srgbClr val="2A5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58444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7DED1"/>
                </a:solidFill>
                <a:latin typeface="Segoe UI"/>
              </a:rPr>
              <a:t>Kamdeu Yamdjeuson Neil Marshall  ·  Eyong Seanna Tabe  ·  Tuheu Tchoubi Pempeme Moussa Fahdil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FB3A2"/>
                </a:solidFill>
                <a:latin typeface="Segoe UI"/>
              </a:rPr>
              <a:t>CS4110 · Compiler Construction  ·  The ICT University, Yaoundé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2BC58"/>
                </a:solidFill>
                <a:latin typeface="Consolas"/>
              </a:rPr>
              <a:t>francanglais.duckdns.org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1646</Words>
  <Application>Microsoft Office PowerPoint</Application>
  <PresentationFormat>On-screen Show (16:9)</PresentationFormat>
  <Paragraphs>428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KAMDEU YAMDJEUSON NEIL MARSHALL</cp:lastModifiedBy>
  <cp:revision>2</cp:revision>
  <dcterms:created xsi:type="dcterms:W3CDTF">2013-01-27T09:14:16Z</dcterms:created>
  <dcterms:modified xsi:type="dcterms:W3CDTF">2026-09-30T14:19:13Z</dcterms:modified>
  <cp:category/>
</cp:coreProperties>
</file>