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3D2E"/>
                </a:solidFill>
                <a:latin typeface="Arial"/>
              </a:defRPr>
            </a:pPr>
            <a:r>
              <a:rPr sz="1200" b="0" i="0" u="none" strike="noStrike">
                <a:solidFill>
                  <a:srgbClr val="0F3D2E"/>
                </a:solidFill>
                <a:latin typeface="Arial"/>
              </a:rPr>
              <a:t>Lexicon entries per terminal (688)</a:t>
            </a:r>
          </a:p>
        </c:rich>
      </c:tx>
      <c:layout/>
      <c:overlay val="0"/>
    </c:title>
    <c:autoTitleDeleted val="0"/>
    <c:plotArea>
      <c:layout/>
      <c:barChart>
        <c:barDir val="col"/>
        <c:grouping val="clustered"/>
        <c:varyColors val="0"/>
        <c:ser>
          <c:idx val="0"/>
          <c:order val="0"/>
          <c:tx>
            <c:strRef>
              <c:f>Sheet1!$B$1</c:f>
              <c:strCache>
                <c:ptCount val="1"/>
                <c:pt idx="0">
                  <c:v>Entries</c:v>
                </c:pt>
              </c:strCache>
            </c:strRef>
          </c:tx>
          <c:spPr>
            <a:solidFill>
              <a:srgbClr val="1B6B4F"/>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Sheet1!$A$2:$A$12</c:f>
              <c:multiLvlStrCache>
                <c:ptCount val="11"/>
                <c:lvl>
                  <c:pt idx="0">
                    <c:v>VERB</c:v>
                  </c:pt>
                  <c:pt idx="1">
                    <c:v>NOUN</c:v>
                  </c:pt>
                  <c:pt idx="2">
                    <c:v>ADV</c:v>
                  </c:pt>
                  <c:pt idx="3">
                    <c:v>ADJ</c:v>
                  </c:pt>
                  <c:pt idx="4">
                    <c:v>DET</c:v>
                  </c:pt>
                  <c:pt idx="5">
                    <c:v>PRON</c:v>
                  </c:pt>
                  <c:pt idx="6">
                    <c:v>PREP</c:v>
                  </c:pt>
                  <c:pt idx="7">
                    <c:v>INTJ</c:v>
                  </c:pt>
                  <c:pt idx="8">
                    <c:v>CONJ</c:v>
                  </c:pt>
                  <c:pt idx="9">
                    <c:v>FORMULA</c:v>
                  </c:pt>
                  <c:pt idx="10">
                    <c:v>NEG</c:v>
                  </c:pt>
                </c:lvl>
              </c:multiLvlStrCache>
            </c:multiLvlStrRef>
          </c:cat>
          <c:val>
            <c:numRef>
              <c:f>Sheet1!$B$2:$B$12</c:f>
              <c:numCache>
                <c:formatCode>General</c:formatCode>
                <c:ptCount val="11"/>
                <c:pt idx="0">
                  <c:v>290</c:v>
                </c:pt>
                <c:pt idx="1">
                  <c:v>210</c:v>
                </c:pt>
                <c:pt idx="2">
                  <c:v>35</c:v>
                </c:pt>
                <c:pt idx="3">
                  <c:v>33</c:v>
                </c:pt>
                <c:pt idx="4">
                  <c:v>30</c:v>
                </c:pt>
                <c:pt idx="5">
                  <c:v>23</c:v>
                </c:pt>
                <c:pt idx="6">
                  <c:v>22</c:v>
                </c:pt>
                <c:pt idx="7">
                  <c:v>19</c:v>
                </c:pt>
                <c:pt idx="8">
                  <c:v>14</c:v>
                </c:pt>
                <c:pt idx="9">
                  <c:v>7</c:v>
                </c:pt>
                <c:pt idx="10">
                  <c:v>5</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F68"/>
                </a:solidFill>
                <a:latin typeface="Arial"/>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3EA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F6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3D2E"/>
                </a:solidFill>
                <a:latin typeface="Arial"/>
              </a:defRPr>
            </a:pPr>
            <a:r>
              <a:rPr sz="1200" b="0" i="0" u="none" strike="noStrike">
                <a:solidFill>
                  <a:srgbClr val="0F3D2E"/>
                </a:solidFill>
                <a:latin typeface="Arial"/>
              </a:rPr>
              <a:t>Top donor languages (15 in total)</a:t>
            </a:r>
          </a:p>
        </c:rich>
      </c:tx>
      <c:layout/>
      <c:overlay val="0"/>
    </c:title>
    <c:autoTitleDeleted val="0"/>
    <c:plotArea>
      <c:layout/>
      <c:barChart>
        <c:barDir val="bar"/>
        <c:grouping val="clustered"/>
        <c:varyColors val="0"/>
        <c:ser>
          <c:idx val="0"/>
          <c:order val="0"/>
          <c:tx>
            <c:strRef>
              <c:f>Sheet1!$B$1</c:f>
              <c:strCache>
                <c:ptCount val="1"/>
                <c:pt idx="0">
                  <c:v>Entries</c:v>
                </c:pt>
              </c:strCache>
            </c:strRef>
          </c:tx>
          <c:spPr>
            <a:solidFill>
              <a:srgbClr val="D9B44A"/>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french</c:v>
                  </c:pt>
                  <c:pt idx="1">
                    <c:v>uncertain</c:v>
                  </c:pt>
                  <c:pt idx="2">
                    <c:v>english</c:v>
                  </c:pt>
                  <c:pt idx="3">
                    <c:v>pidgin</c:v>
                  </c:pt>
                  <c:pt idx="4">
                    <c:v>mixed</c:v>
                  </c:pt>
                  <c:pt idx="5">
                    <c:v>duala</c:v>
                  </c:pt>
                  <c:pt idx="6">
                    <c:v>beti</c:v>
                  </c:pt>
                  <c:pt idx="7">
                    <c:v>bassa</c:v>
                  </c:pt>
                </c:lvl>
              </c:multiLvlStrCache>
            </c:multiLvlStrRef>
          </c:cat>
          <c:val>
            <c:numRef>
              <c:f>Sheet1!$B$2:$B$9</c:f>
              <c:numCache>
                <c:formatCode>General</c:formatCode>
                <c:ptCount val="8"/>
                <c:pt idx="0">
                  <c:v>425</c:v>
                </c:pt>
                <c:pt idx="1">
                  <c:v>132</c:v>
                </c:pt>
                <c:pt idx="2">
                  <c:v>50</c:v>
                </c:pt>
                <c:pt idx="3">
                  <c:v>23</c:v>
                </c:pt>
                <c:pt idx="4">
                  <c:v>14</c:v>
                </c:pt>
                <c:pt idx="5">
                  <c:v>14</c:v>
                </c:pt>
                <c:pt idx="6">
                  <c:v>11</c:v>
                </c:pt>
                <c:pt idx="7">
                  <c:v>6</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5F6F68"/>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Verdict</c:v>
                </c:pt>
              </c:strCache>
            </c:strRef>
          </c:tx>
          <c:spPr>
            <a:solidFill>
              <a:schemeClr val="accent1"/>
            </a:solidFill>
            <a:ln w="9525" cap="flat">
              <a:solidFill>
                <a:srgbClr val="F9F9F9"/>
              </a:solidFill>
              <a:prstDash val="solid"/>
              <a:round/>
            </a:ln>
            <a:effectLst/>
          </c:spPr>
          <c:dPt>
            <c:idx val="0"/>
            <c:bubble3D val="0"/>
            <c:spPr>
              <a:solidFill>
                <a:srgbClr val="1B6B4F"/>
              </a:solidFill>
              <a:effectLst/>
            </c:spPr>
          </c:dPt>
          <c:dPt>
            <c:idx val="1"/>
            <c:bubble3D val="0"/>
            <c:spPr>
              <a:solidFill>
                <a:srgbClr val="B23A3A"/>
              </a:solidFill>
              <a:effectLst/>
            </c:spPr>
          </c:dPt>
          <c:dLbls>
            <c:dLbl>
              <c:idx val="0"/>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Accepted</c:v>
                </c:pt>
                <c:pt idx="1">
                  <c:v>Rejected</c:v>
                </c:pt>
              </c:strCache>
            </c:strRef>
          </c:cat>
          <c:val>
            <c:numRef>
              <c:f>Sheet1!$B$2:$B$3</c:f>
              <c:numCache>
                <c:ptCount val="2"/>
                <c:pt idx="0">
                  <c:v>20</c:v>
                </c:pt>
                <c:pt idx="1">
                  <c:v>2</c:v>
                </c:pt>
              </c:numCache>
            </c:numRef>
          </c:val>
        </c:ser>
        <c:firstSliceAng val="0"/>
        <c:holeSize val="62"/>
      </c:doughnutChart>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hand-written compiler front end (scanner, lexer, LL(1) parser) for Cameroonian Francanglais. Team: Kamdeu Yamdjeuson Neil Marshall, Eyong Seanna Tabe, Tuheu Tchoubi Pempeme Moussa Fahdil. Instructor: Engr. Tanwi Nkiamboh.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taxi ride you hear French grammar carrying English verbs, a Pidgin particle and a Duala or Ewondo noun, all inside a single sentence. Francanglais has no standard orthography and no authoritative dictionary, yet it is the working language of commuting, markets and campus life. Scope: a compiler front end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principle drives every decision: unknown words become UNKNOWN tokens, conflicts are reported, and rejections are documented rather than papered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in the report is exported from the running analyzer by a build script; nothing is transcribed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Actors: Visitor (public analysis), Collector, Reviewer, Instructor. Analysis and browsing are public; corpus editing and evidence export require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compiler core has no knowledge of the web application. core/ depends only on the standard library and pydantic. The database stores corpus records only; every analysis is recomputed from the current grammar and lexicon, so a specification change can never leave stale verdicts.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was shared across the three members over six days in taxis, chop houses, roadside stalls, bendskin ranks and the university. A second member cross-checks every transcription. validate_import rejects any field record without manual_transcription_attested =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additional topics were added because vocabulary kept appearing that none of the ten prescribed themes covered; discarding those statements would have biased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lexical layer is written from scratch, no lex. Pass 1 scans into typed runs with byte offsets; pass 2 resolves each word against the lexicon. The WORD regex is unicode-aware and accepts combining marks so decomposed accents scan like precomposed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terminals. NEG is split from ADV because Francanglais negation is positionally constrained and folding them together introduced conflicts. INTJ covers discourse particles. FORMULA covers frozen multiword expressions. SEP is emitted for comma, semicolon, colon.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Folding is a fallback, not the primary key, because in French it destroys real contrasts. Exact matches always win, so the four attested homograph pairs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Yaoundé speech does not arrive as tidy subject-verb-object sentences. All six phenomena occur in the collected data and each forced a specific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 productions over 12 terminals and 14 nonterminals. It is authored in natural left-recursive form deliberately: pre-factoring by hand would give an empty ledger and hide exactly what this component is assessed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eliminates the direct left recursion on Seq. That immediately creates a common SEP prefix on Seq', which must be factored into Seq''. Two pre-existing conflicts (Unit on INTJ, NP on DET) are factored the same way. Order matters: factoring must come after recursion elimination.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and FOLLOW are computed by fixed-point iteration. The table is built by the standard rule. A second production landing in an occupied cell is a conflict. The constructed table has none, and tests/test_ll1.py asserts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Hand-written, non-recursive, no generated code. Steps 11 and 14 of the trace are epsilon reductions that are legal only because VERB and DET lie in the FOLLOW sets of NegOpt and VerbTail. That is where FOLLOW earns its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rejection is never a bare failure. The table yields the complete expected set and the token's source span gives an exact offset. Suggestions are derived from the parser's error report and the lexicon using difflib over folded forms. No language model is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corpus is reported. Nothing was dropped for failing to parse: a recogniser shown only the inputs it handles has not been evaluated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limitations could be removed by splitting PRON into PRON and CLITIC and adding productions. The team chose not to because it would mean re-annotating pronoun entries on evidence not yet collected. A grammar that accepts every string proves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acceptance criteria are met: at least ten attested field statements (22), each attributable; a conflict-free parsing table; every collected statement with an explicit verdict; and the automated suite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analyzer quantifies exactly the properties that make the problem hard: many source languages, mixing inside the sentence, unstable orthography, looser-than-French syntax, and frozen expressions.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what was achieved, the three lessons, and the limitations and next steps. Emphasise honesty in tooling: two documented rejections instead of a grammar that accepts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Offer to demonstrate the live analyzer, e.g. Combi va au kwatt, and the rejected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2E"/>
        </a:solidFill>
      </p:bgPr>
    </p:bg>
    <p:spTree>
      <p:nvGrpSpPr>
        <p:cNvPr id="1" name=""/>
        <p:cNvGrpSpPr/>
        <p:nvPr/>
      </p:nvGrpSpPr>
      <p:grpSpPr>
        <a:xfrm>
          <a:off x="0" y="0"/>
          <a:ext cx="0" cy="0"/>
          <a:chOff x="0" y="0"/>
          <a:chExt cx="0" cy="0"/>
        </a:xfrm>
      </p:grpSpPr>
      <p:sp>
        <p:nvSpPr>
          <p:cNvPr id="3" name="Text 0"/>
          <p:cNvSpPr txBox="1"/>
          <p:nvPr/>
        </p:nvSpPr>
        <p:spPr>
          <a:xfrm>
            <a:off x="548640" y="502920"/>
            <a:ext cx="4754880" cy="274320"/>
          </a:xfrm>
          <a:prstGeom prst="rect">
            <a:avLst/>
          </a:prstGeom>
          <a:noFill/>
          <a:ln/>
        </p:spPr>
        <p:txBody>
          <a:bodyPr wrap="square" lIns="0" tIns="0" rIns="0" bIns="0" rtlCol="0" anchor="t"/>
          <a:lstStyle/>
          <a:p>
            <a:pPr indent="0" marL="0">
              <a:buNone/>
            </a:pPr>
            <a:r>
              <a:rPr lang="en-US" sz="1100" b="1" spc="200" kern="0" dirty="0">
                <a:solidFill>
                  <a:srgbClr val="D9B44A"/>
                </a:solidFill>
                <a:latin typeface="Calibri" pitchFamily="34" charset="0"/>
                <a:ea typeface="Calibri" pitchFamily="34" charset="-122"/>
                <a:cs typeface="Calibri" pitchFamily="34" charset="-120"/>
              </a:rPr>
              <a:t>THE ICT UNIVERSITY  ·  YAOUNDÉ, CAMEROON</a:t>
            </a:r>
            <a:endParaRPr lang="en-US" sz="1100" dirty="0"/>
          </a:p>
        </p:txBody>
      </p:sp>
      <p:sp>
        <p:nvSpPr>
          <p:cNvPr id="4" name="Text 1"/>
          <p:cNvSpPr txBox="1"/>
          <p:nvPr/>
        </p:nvSpPr>
        <p:spPr>
          <a:xfrm>
            <a:off x="548640" y="914400"/>
            <a:ext cx="4754880" cy="13716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Francanglais</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Studio</a:t>
            </a:r>
            <a:endParaRPr lang="en-US" sz="4400" dirty="0"/>
          </a:p>
        </p:txBody>
      </p:sp>
      <p:sp>
        <p:nvSpPr>
          <p:cNvPr id="5" name="Text 2"/>
          <p:cNvSpPr txBox="1"/>
          <p:nvPr/>
        </p:nvSpPr>
        <p:spPr>
          <a:xfrm>
            <a:off x="548640" y="2377440"/>
            <a:ext cx="4572000" cy="685800"/>
          </a:xfrm>
          <a:prstGeom prst="rect">
            <a:avLst/>
          </a:prstGeom>
          <a:noFill/>
          <a:ln/>
        </p:spPr>
        <p:txBody>
          <a:bodyPr wrap="square" lIns="0" tIns="0" rIns="0" bIns="0" rtlCol="0" anchor="t"/>
          <a:lstStyle/>
          <a:p>
            <a:pPr indent="0" marL="0">
              <a:buNone/>
            </a:pPr>
            <a:r>
              <a:rPr lang="en-US" sz="1700" dirty="0">
                <a:solidFill>
                  <a:srgbClr val="D9B44A"/>
                </a:solidFill>
                <a:latin typeface="Calibri" pitchFamily="34" charset="0"/>
                <a:ea typeface="Calibri" pitchFamily="34" charset="-122"/>
                <a:cs typeface="Calibri" pitchFamily="34" charset="-120"/>
              </a:rPr>
              <a:t>A Lexical and Syntactic Analyzer for Informal Urban Communication in Yaoundé</a:t>
            </a:r>
            <a:endParaRPr lang="en-US" sz="1700" dirty="0"/>
          </a:p>
        </p:txBody>
      </p:sp>
      <p:sp>
        <p:nvSpPr>
          <p:cNvPr id="6" name="Text 3"/>
          <p:cNvSpPr txBox="1"/>
          <p:nvPr/>
        </p:nvSpPr>
        <p:spPr>
          <a:xfrm>
            <a:off x="548640" y="3246120"/>
            <a:ext cx="475488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CS4110 – Compiler Construction  ·  Final Examination</a:t>
            </a:r>
            <a:endParaRPr lang="en-US" sz="1300" dirty="0"/>
          </a:p>
        </p:txBody>
      </p:sp>
      <p:sp>
        <p:nvSpPr>
          <p:cNvPr id="7" name="Text 4"/>
          <p:cNvSpPr txBox="1"/>
          <p:nvPr/>
        </p:nvSpPr>
        <p:spPr>
          <a:xfrm>
            <a:off x="548640" y="3611880"/>
            <a:ext cx="4754880" cy="685800"/>
          </a:xfrm>
          <a:prstGeom prst="rect">
            <a:avLst/>
          </a:prstGeom>
          <a:noFill/>
          <a:ln/>
        </p:spPr>
        <p:txBody>
          <a:bodyPr wrap="square" lIns="0" tIns="0" rIns="0" bIns="0" rtlCol="0" anchor="t"/>
          <a:lstStyle/>
          <a:p>
            <a:pPr indent="0" marL="0">
              <a:buNone/>
            </a:pPr>
            <a:r>
              <a:rPr lang="en-US" sz="1200" dirty="0">
                <a:solidFill>
                  <a:srgbClr val="CFE3D9"/>
                </a:solidFill>
                <a:latin typeface="Calibri" pitchFamily="34" charset="0"/>
                <a:ea typeface="Calibri" pitchFamily="34" charset="-122"/>
                <a:cs typeface="Calibri" pitchFamily="34" charset="-120"/>
              </a:rPr>
              <a:t>Kamdeu Yamdjeuson Neil Marshall</a:t>
            </a:r>
            <a:endParaRPr lang="en-US" sz="1200" dirty="0"/>
          </a:p>
          <a:p>
            <a:pPr indent="0" marL="0">
              <a:buNone/>
            </a:pPr>
            <a:r>
              <a:rPr lang="en-US" sz="1200" dirty="0">
                <a:solidFill>
                  <a:srgbClr val="CFE3D9"/>
                </a:solidFill>
                <a:latin typeface="Calibri" pitchFamily="34" charset="0"/>
                <a:ea typeface="Calibri" pitchFamily="34" charset="-122"/>
                <a:cs typeface="Calibri" pitchFamily="34" charset="-120"/>
              </a:rPr>
              <a:t>Eyong Seanna Tabe</a:t>
            </a:r>
            <a:endParaRPr lang="en-US" sz="1200" dirty="0"/>
          </a:p>
          <a:p>
            <a:pPr indent="0" marL="0">
              <a:buNone/>
            </a:pPr>
            <a:r>
              <a:rPr lang="en-US" sz="1200" dirty="0">
                <a:solidFill>
                  <a:srgbClr val="CFE3D9"/>
                </a:solidFill>
                <a:latin typeface="Calibri" pitchFamily="34" charset="0"/>
                <a:ea typeface="Calibri" pitchFamily="34" charset="-122"/>
                <a:cs typeface="Calibri" pitchFamily="34" charset="-120"/>
              </a:rPr>
              <a:t>Tuheu Tchoubi Pempeme Moussa Fahdil</a:t>
            </a:r>
            <a:endParaRPr lang="en-US" sz="1200" dirty="0"/>
          </a:p>
        </p:txBody>
      </p:sp>
      <p:sp>
        <p:nvSpPr>
          <p:cNvPr id="8" name="Text 5"/>
          <p:cNvSpPr txBox="1"/>
          <p:nvPr/>
        </p:nvSpPr>
        <p:spPr>
          <a:xfrm>
            <a:off x="548640" y="4434840"/>
            <a:ext cx="4754880" cy="274320"/>
          </a:xfrm>
          <a:prstGeom prst="rect">
            <a:avLst/>
          </a:prstGeom>
          <a:noFill/>
          <a:ln/>
        </p:spPr>
        <p:txBody>
          <a:bodyPr wrap="square" lIns="0" tIns="0" rIns="0" bIns="0" rtlCol="0" anchor="t"/>
          <a:lstStyle/>
          <a:p>
            <a:pPr indent="0" marL="0">
              <a:buNone/>
            </a:pPr>
            <a:r>
              <a:rPr lang="en-US" sz="1100" dirty="0">
                <a:solidFill>
                  <a:srgbClr val="9DB8AB"/>
                </a:solidFill>
                <a:latin typeface="Calibri" pitchFamily="34" charset="0"/>
                <a:ea typeface="Calibri" pitchFamily="34" charset="-122"/>
                <a:cs typeface="Calibri" pitchFamily="34" charset="-120"/>
              </a:rPr>
              <a:t>Instructor: Engr. Tanwi Nkiamboh  ·  29 September 2026</a:t>
            </a:r>
            <a:endParaRPr lang="en-US" sz="1100" dirty="0"/>
          </a:p>
        </p:txBody>
      </p:sp>
      <p:sp>
        <p:nvSpPr>
          <p:cNvPr id="9" name="Shape 6"/>
          <p:cNvSpPr/>
          <p:nvPr/>
        </p:nvSpPr>
        <p:spPr>
          <a:xfrm>
            <a:off x="5486400" y="914400"/>
            <a:ext cx="3200400" cy="3291840"/>
          </a:xfrm>
          <a:prstGeom prst="roundRect">
            <a:avLst>
              <a:gd name="adj" fmla="val 2286"/>
            </a:avLst>
          </a:prstGeom>
          <a:solidFill>
            <a:srgbClr val="17503C"/>
          </a:solidFill>
          <a:ln w="12700">
            <a:solidFill>
              <a:srgbClr val="17503C"/>
            </a:solidFill>
            <a:prstDash val="solid"/>
          </a:ln>
        </p:spPr>
      </p:sp>
      <p:sp>
        <p:nvSpPr>
          <p:cNvPr id="10" name="Text 7"/>
          <p:cNvSpPr txBox="1"/>
          <p:nvPr/>
        </p:nvSpPr>
        <p:spPr>
          <a:xfrm>
            <a:off x="5715000" y="1097280"/>
            <a:ext cx="2743200" cy="228600"/>
          </a:xfrm>
          <a:prstGeom prst="rect">
            <a:avLst/>
          </a:prstGeom>
          <a:noFill/>
          <a:ln/>
        </p:spPr>
        <p:txBody>
          <a:bodyPr wrap="square" lIns="0" tIns="0" rIns="0" bIns="0" rtlCol="0" anchor="t"/>
          <a:lstStyle/>
          <a:p>
            <a:pPr indent="0" marL="0">
              <a:buNone/>
            </a:pPr>
            <a:r>
              <a:rPr lang="en-US" sz="1000" b="1" spc="200" kern="0" dirty="0">
                <a:solidFill>
                  <a:srgbClr val="D9B44A"/>
                </a:solidFill>
                <a:latin typeface="Calibri" pitchFamily="34" charset="0"/>
                <a:ea typeface="Calibri" pitchFamily="34" charset="-122"/>
                <a:cs typeface="Calibri" pitchFamily="34" charset="-120"/>
              </a:rPr>
              <a:t>LIVE ANALYZER OUTPUT</a:t>
            </a:r>
            <a:endParaRPr lang="en-US" sz="1000" dirty="0"/>
          </a:p>
        </p:txBody>
      </p:sp>
      <p:sp>
        <p:nvSpPr>
          <p:cNvPr id="11" name="Text 8"/>
          <p:cNvSpPr txBox="1"/>
          <p:nvPr/>
        </p:nvSpPr>
        <p:spPr>
          <a:xfrm>
            <a:off x="5715000" y="1417320"/>
            <a:ext cx="2743200" cy="365760"/>
          </a:xfrm>
          <a:prstGeom prst="rect">
            <a:avLst/>
          </a:prstGeom>
          <a:noFill/>
          <a:ln/>
        </p:spPr>
        <p:txBody>
          <a:bodyPr wrap="square" lIns="0" tIns="0" rIns="0" bIns="0" rtlCol="0" anchor="t"/>
          <a:lstStyle/>
          <a:p>
            <a:pPr indent="0" marL="0">
              <a:buNone/>
            </a:pPr>
            <a:r>
              <a:rPr lang="en-US" sz="1700" b="1" dirty="0">
                <a:solidFill>
                  <a:srgbClr val="FFFFFF"/>
                </a:solidFill>
                <a:latin typeface="Courier New" pitchFamily="34" charset="0"/>
                <a:ea typeface="Courier New" pitchFamily="34" charset="-122"/>
                <a:cs typeface="Courier New" pitchFamily="34" charset="-120"/>
              </a:rPr>
              <a:t>Combi va au kwatt.</a:t>
            </a:r>
            <a:endParaRPr lang="en-US" sz="1700" dirty="0"/>
          </a:p>
        </p:txBody>
      </p:sp>
      <p:sp>
        <p:nvSpPr>
          <p:cNvPr id="12" name="Shape 9"/>
          <p:cNvSpPr/>
          <p:nvPr/>
        </p:nvSpPr>
        <p:spPr>
          <a:xfrm>
            <a:off x="5715000" y="2011680"/>
            <a:ext cx="1280160" cy="548640"/>
          </a:xfrm>
          <a:prstGeom prst="roundRect">
            <a:avLst>
              <a:gd name="adj" fmla="val 13333"/>
            </a:avLst>
          </a:prstGeom>
          <a:solidFill>
            <a:srgbClr val="0F3D2E"/>
          </a:solidFill>
          <a:ln w="12700">
            <a:solidFill>
              <a:srgbClr val="D9B44A"/>
            </a:solidFill>
            <a:prstDash val="solid"/>
          </a:ln>
        </p:spPr>
      </p:sp>
      <p:sp>
        <p:nvSpPr>
          <p:cNvPr id="13" name="Text 10"/>
          <p:cNvSpPr txBox="1"/>
          <p:nvPr/>
        </p:nvSpPr>
        <p:spPr>
          <a:xfrm>
            <a:off x="5715000" y="2066544"/>
            <a:ext cx="1280160" cy="256032"/>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Combi</a:t>
            </a:r>
            <a:endParaRPr lang="en-US" sz="1300" dirty="0"/>
          </a:p>
        </p:txBody>
      </p:sp>
      <p:sp>
        <p:nvSpPr>
          <p:cNvPr id="14" name="Text 11"/>
          <p:cNvSpPr txBox="1"/>
          <p:nvPr/>
        </p:nvSpPr>
        <p:spPr>
          <a:xfrm>
            <a:off x="5715000" y="2322576"/>
            <a:ext cx="1280160" cy="182880"/>
          </a:xfrm>
          <a:prstGeom prst="rect">
            <a:avLst/>
          </a:prstGeom>
          <a:noFill/>
          <a:ln/>
        </p:spPr>
        <p:txBody>
          <a:bodyPr wrap="square" lIns="0" tIns="0" rIns="0" bIns="0" rtlCol="0" anchor="t"/>
          <a:lstStyle/>
          <a:p>
            <a:pPr algn="ctr" indent="0" marL="0">
              <a:buNone/>
            </a:pPr>
            <a:r>
              <a:rPr lang="en-US" sz="1000" dirty="0">
                <a:solidFill>
                  <a:srgbClr val="D9B44A"/>
                </a:solidFill>
                <a:latin typeface="Courier New" pitchFamily="34" charset="0"/>
                <a:ea typeface="Courier New" pitchFamily="34" charset="-122"/>
                <a:cs typeface="Courier New" pitchFamily="34" charset="-120"/>
              </a:rPr>
              <a:t>NOUN</a:t>
            </a:r>
            <a:endParaRPr lang="en-US" sz="1000" dirty="0"/>
          </a:p>
        </p:txBody>
      </p:sp>
      <p:sp>
        <p:nvSpPr>
          <p:cNvPr id="15" name="Shape 12"/>
          <p:cNvSpPr/>
          <p:nvPr/>
        </p:nvSpPr>
        <p:spPr>
          <a:xfrm>
            <a:off x="7132320" y="2011680"/>
            <a:ext cx="1280160" cy="548640"/>
          </a:xfrm>
          <a:prstGeom prst="roundRect">
            <a:avLst>
              <a:gd name="adj" fmla="val 13333"/>
            </a:avLst>
          </a:prstGeom>
          <a:solidFill>
            <a:srgbClr val="0F3D2E"/>
          </a:solidFill>
          <a:ln w="12700">
            <a:solidFill>
              <a:srgbClr val="7FC8A9"/>
            </a:solidFill>
            <a:prstDash val="solid"/>
          </a:ln>
        </p:spPr>
      </p:sp>
      <p:sp>
        <p:nvSpPr>
          <p:cNvPr id="16" name="Text 13"/>
          <p:cNvSpPr txBox="1"/>
          <p:nvPr/>
        </p:nvSpPr>
        <p:spPr>
          <a:xfrm>
            <a:off x="7132320" y="2066544"/>
            <a:ext cx="1280160" cy="256032"/>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va</a:t>
            </a:r>
            <a:endParaRPr lang="en-US" sz="1300" dirty="0"/>
          </a:p>
        </p:txBody>
      </p:sp>
      <p:sp>
        <p:nvSpPr>
          <p:cNvPr id="17" name="Text 14"/>
          <p:cNvSpPr txBox="1"/>
          <p:nvPr/>
        </p:nvSpPr>
        <p:spPr>
          <a:xfrm>
            <a:off x="7132320" y="2322576"/>
            <a:ext cx="1280160" cy="182880"/>
          </a:xfrm>
          <a:prstGeom prst="rect">
            <a:avLst/>
          </a:prstGeom>
          <a:noFill/>
          <a:ln/>
        </p:spPr>
        <p:txBody>
          <a:bodyPr wrap="square" lIns="0" tIns="0" rIns="0" bIns="0" rtlCol="0" anchor="t"/>
          <a:lstStyle/>
          <a:p>
            <a:pPr algn="ctr" indent="0" marL="0">
              <a:buNone/>
            </a:pPr>
            <a:r>
              <a:rPr lang="en-US" sz="1000" dirty="0">
                <a:solidFill>
                  <a:srgbClr val="7FC8A9"/>
                </a:solidFill>
                <a:latin typeface="Courier New" pitchFamily="34" charset="0"/>
                <a:ea typeface="Courier New" pitchFamily="34" charset="-122"/>
                <a:cs typeface="Courier New" pitchFamily="34" charset="-120"/>
              </a:rPr>
              <a:t>VERB</a:t>
            </a:r>
            <a:endParaRPr lang="en-US" sz="1000" dirty="0"/>
          </a:p>
        </p:txBody>
      </p:sp>
      <p:sp>
        <p:nvSpPr>
          <p:cNvPr id="18" name="Shape 15"/>
          <p:cNvSpPr/>
          <p:nvPr/>
        </p:nvSpPr>
        <p:spPr>
          <a:xfrm>
            <a:off x="5715000" y="2697480"/>
            <a:ext cx="1280160" cy="548640"/>
          </a:xfrm>
          <a:prstGeom prst="roundRect">
            <a:avLst>
              <a:gd name="adj" fmla="val 13333"/>
            </a:avLst>
          </a:prstGeom>
          <a:solidFill>
            <a:srgbClr val="0F3D2E"/>
          </a:solidFill>
          <a:ln w="12700">
            <a:solidFill>
              <a:srgbClr val="9DB8E8"/>
            </a:solidFill>
            <a:prstDash val="solid"/>
          </a:ln>
        </p:spPr>
      </p:sp>
      <p:sp>
        <p:nvSpPr>
          <p:cNvPr id="19" name="Text 16"/>
          <p:cNvSpPr txBox="1"/>
          <p:nvPr/>
        </p:nvSpPr>
        <p:spPr>
          <a:xfrm>
            <a:off x="5715000" y="2752344"/>
            <a:ext cx="1280160" cy="256032"/>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au</a:t>
            </a:r>
            <a:endParaRPr lang="en-US" sz="1300" dirty="0"/>
          </a:p>
        </p:txBody>
      </p:sp>
      <p:sp>
        <p:nvSpPr>
          <p:cNvPr id="20" name="Text 17"/>
          <p:cNvSpPr txBox="1"/>
          <p:nvPr/>
        </p:nvSpPr>
        <p:spPr>
          <a:xfrm>
            <a:off x="5715000" y="3008376"/>
            <a:ext cx="1280160" cy="182880"/>
          </a:xfrm>
          <a:prstGeom prst="rect">
            <a:avLst/>
          </a:prstGeom>
          <a:noFill/>
          <a:ln/>
        </p:spPr>
        <p:txBody>
          <a:bodyPr wrap="square" lIns="0" tIns="0" rIns="0" bIns="0" rtlCol="0" anchor="t"/>
          <a:lstStyle/>
          <a:p>
            <a:pPr algn="ctr" indent="0" marL="0">
              <a:buNone/>
            </a:pPr>
            <a:r>
              <a:rPr lang="en-US" sz="1000" dirty="0">
                <a:solidFill>
                  <a:srgbClr val="9DB8E8"/>
                </a:solidFill>
                <a:latin typeface="Courier New" pitchFamily="34" charset="0"/>
                <a:ea typeface="Courier New" pitchFamily="34" charset="-122"/>
                <a:cs typeface="Courier New" pitchFamily="34" charset="-120"/>
              </a:rPr>
              <a:t>PREP</a:t>
            </a:r>
            <a:endParaRPr lang="en-US" sz="1000" dirty="0"/>
          </a:p>
        </p:txBody>
      </p:sp>
      <p:sp>
        <p:nvSpPr>
          <p:cNvPr id="21" name="Shape 18"/>
          <p:cNvSpPr/>
          <p:nvPr/>
        </p:nvSpPr>
        <p:spPr>
          <a:xfrm>
            <a:off x="7132320" y="2697480"/>
            <a:ext cx="1280160" cy="548640"/>
          </a:xfrm>
          <a:prstGeom prst="roundRect">
            <a:avLst>
              <a:gd name="adj" fmla="val 13333"/>
            </a:avLst>
          </a:prstGeom>
          <a:solidFill>
            <a:srgbClr val="0F3D2E"/>
          </a:solidFill>
          <a:ln w="12700">
            <a:solidFill>
              <a:srgbClr val="D9B44A"/>
            </a:solidFill>
            <a:prstDash val="solid"/>
          </a:ln>
        </p:spPr>
      </p:sp>
      <p:sp>
        <p:nvSpPr>
          <p:cNvPr id="22" name="Text 19"/>
          <p:cNvSpPr txBox="1"/>
          <p:nvPr/>
        </p:nvSpPr>
        <p:spPr>
          <a:xfrm>
            <a:off x="7132320" y="2752344"/>
            <a:ext cx="1280160" cy="256032"/>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kwatt</a:t>
            </a:r>
            <a:endParaRPr lang="en-US" sz="1300" dirty="0"/>
          </a:p>
        </p:txBody>
      </p:sp>
      <p:sp>
        <p:nvSpPr>
          <p:cNvPr id="23" name="Text 20"/>
          <p:cNvSpPr txBox="1"/>
          <p:nvPr/>
        </p:nvSpPr>
        <p:spPr>
          <a:xfrm>
            <a:off x="7132320" y="3008376"/>
            <a:ext cx="1280160" cy="182880"/>
          </a:xfrm>
          <a:prstGeom prst="rect">
            <a:avLst/>
          </a:prstGeom>
          <a:noFill/>
          <a:ln/>
        </p:spPr>
        <p:txBody>
          <a:bodyPr wrap="square" lIns="0" tIns="0" rIns="0" bIns="0" rtlCol="0" anchor="t"/>
          <a:lstStyle/>
          <a:p>
            <a:pPr algn="ctr" indent="0" marL="0">
              <a:buNone/>
            </a:pPr>
            <a:r>
              <a:rPr lang="en-US" sz="1000" dirty="0">
                <a:solidFill>
                  <a:srgbClr val="D9B44A"/>
                </a:solidFill>
                <a:latin typeface="Courier New" pitchFamily="34" charset="0"/>
                <a:ea typeface="Courier New" pitchFamily="34" charset="-122"/>
                <a:cs typeface="Courier New" pitchFamily="34" charset="-120"/>
              </a:rPr>
              <a:t>NOUN</a:t>
            </a:r>
            <a:endParaRPr lang="en-US" sz="1000" dirty="0"/>
          </a:p>
        </p:txBody>
      </p:sp>
      <p:sp>
        <p:nvSpPr>
          <p:cNvPr id="24" name="Text 21"/>
          <p:cNvSpPr txBox="1"/>
          <p:nvPr/>
        </p:nvSpPr>
        <p:spPr>
          <a:xfrm>
            <a:off x="5715000" y="3474720"/>
            <a:ext cx="2743200" cy="256032"/>
          </a:xfrm>
          <a:prstGeom prst="rect">
            <a:avLst/>
          </a:prstGeom>
          <a:noFill/>
          <a:ln/>
        </p:spPr>
        <p:txBody>
          <a:bodyPr wrap="square" lIns="0" tIns="0" rIns="0" bIns="0" rtlCol="0" anchor="t"/>
          <a:lstStyle/>
          <a:p>
            <a:pPr indent="0" marL="0">
              <a:buNone/>
            </a:pPr>
            <a:r>
              <a:rPr lang="en-US" sz="1200" b="1" dirty="0">
                <a:solidFill>
                  <a:srgbClr val="7FE0B0"/>
                </a:solidFill>
                <a:latin typeface="Calibri" pitchFamily="34" charset="0"/>
                <a:ea typeface="Calibri" pitchFamily="34" charset="-122"/>
                <a:cs typeface="Calibri" pitchFamily="34" charset="-120"/>
              </a:rPr>
              <a:t>✓ Grammatically accepted</a:t>
            </a:r>
            <a:endParaRPr lang="en-US" sz="1200" dirty="0"/>
          </a:p>
        </p:txBody>
      </p:sp>
      <p:sp>
        <p:nvSpPr>
          <p:cNvPr id="25" name="Text 22"/>
          <p:cNvSpPr txBox="1"/>
          <p:nvPr/>
        </p:nvSpPr>
        <p:spPr>
          <a:xfrm>
            <a:off x="5715000" y="3749040"/>
            <a:ext cx="2743200" cy="228600"/>
          </a:xfrm>
          <a:prstGeom prst="rect">
            <a:avLst/>
          </a:prstGeom>
          <a:noFill/>
          <a:ln/>
        </p:spPr>
        <p:txBody>
          <a:bodyPr wrap="square" lIns="0" tIns="0" rIns="0" bIns="0" rtlCol="0" anchor="t"/>
          <a:lstStyle/>
          <a:p>
            <a:pPr indent="0" marL="0">
              <a:buNone/>
            </a:pPr>
            <a:r>
              <a:rPr lang="en-US" sz="1100" dirty="0">
                <a:solidFill>
                  <a:srgbClr val="CFE3D9"/>
                </a:solidFill>
                <a:latin typeface="Calibri" pitchFamily="34" charset="0"/>
                <a:ea typeface="Calibri" pitchFamily="34" charset="-122"/>
                <a:cs typeface="Calibri" pitchFamily="34" charset="-120"/>
              </a:rPr>
              <a:t>Topic: commuting (triggered by “va”)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Why Yaoundé speech is a compiler problem</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2</a:t>
            </a:r>
            <a:endParaRPr lang="en-US" sz="900" dirty="0"/>
          </a:p>
        </p:txBody>
      </p:sp>
      <p:sp>
        <p:nvSpPr>
          <p:cNvPr id="6" name="Text 3"/>
          <p:cNvSpPr txBox="1"/>
          <p:nvPr/>
        </p:nvSpPr>
        <p:spPr>
          <a:xfrm>
            <a:off x="457200" y="1143000"/>
            <a:ext cx="4023360" cy="274320"/>
          </a:xfrm>
          <a:prstGeom prst="rect">
            <a:avLst/>
          </a:prstGeom>
          <a:noFill/>
          <a:ln/>
        </p:spPr>
        <p:txBody>
          <a:bodyPr wrap="square" lIns="0" tIns="0" rIns="0" bIns="0" rtlCol="0" anchor="t"/>
          <a:lstStyle/>
          <a:p>
            <a:pPr indent="0" marL="0">
              <a:buNone/>
            </a:pPr>
            <a:r>
              <a:rPr lang="en-US" sz="1800" b="1" dirty="0">
                <a:solidFill>
                  <a:srgbClr val="1B6B4F"/>
                </a:solidFill>
                <a:latin typeface="Cambria" pitchFamily="34" charset="0"/>
                <a:ea typeface="Cambria" pitchFamily="34" charset="-122"/>
                <a:cs typeface="Cambria" pitchFamily="34" charset="-120"/>
              </a:rPr>
              <a:t>Objective</a:t>
            </a:r>
            <a:endParaRPr lang="en-US" sz="1800" dirty="0"/>
          </a:p>
        </p:txBody>
      </p:sp>
      <p:sp>
        <p:nvSpPr>
          <p:cNvPr id="7" name="Text 4"/>
          <p:cNvSpPr txBox="1"/>
          <p:nvPr/>
        </p:nvSpPr>
        <p:spPr>
          <a:xfrm>
            <a:off x="457200" y="1463040"/>
            <a:ext cx="4023360" cy="1188720"/>
          </a:xfrm>
          <a:prstGeom prst="rect">
            <a:avLst/>
          </a:prstGeom>
          <a:noFill/>
          <a:ln/>
        </p:spPr>
        <p:txBody>
          <a:bodyPr wrap="square" lIns="0" tIns="0" rIns="0" bIns="0" rtlCol="0" anchor="t"/>
          <a:lstStyle/>
          <a:p>
            <a:pPr indent="0" marL="0">
              <a:buNone/>
            </a:pPr>
            <a:r>
              <a:rPr lang="en-US" sz="1300" dirty="0">
                <a:solidFill>
                  <a:srgbClr val="1F2A26"/>
                </a:solidFill>
                <a:latin typeface="Calibri" pitchFamily="34" charset="0"/>
                <a:ea typeface="Calibri" pitchFamily="34" charset="-122"/>
                <a:cs typeface="Calibri" pitchFamily="34" charset="-120"/>
              </a:rPr>
              <a:t>Design and implement a mini-language analyzer that performs lexical and syntactic analysis on real spoken expressions collected in Yaoundé, and detect patterns in commuting, markets, security, weather, transport and electricity.</a:t>
            </a:r>
            <a:endParaRPr lang="en-US" sz="1300" dirty="0"/>
          </a:p>
        </p:txBody>
      </p:sp>
      <p:sp>
        <p:nvSpPr>
          <p:cNvPr id="8" name="Text 5"/>
          <p:cNvSpPr txBox="1"/>
          <p:nvPr/>
        </p:nvSpPr>
        <p:spPr>
          <a:xfrm>
            <a:off x="457200" y="2743200"/>
            <a:ext cx="4023360" cy="274320"/>
          </a:xfrm>
          <a:prstGeom prst="rect">
            <a:avLst/>
          </a:prstGeom>
          <a:noFill/>
          <a:ln/>
        </p:spPr>
        <p:txBody>
          <a:bodyPr wrap="square" lIns="0" tIns="0" rIns="0" bIns="0" rtlCol="0" anchor="t"/>
          <a:lstStyle/>
          <a:p>
            <a:pPr indent="0" marL="0">
              <a:buNone/>
            </a:pPr>
            <a:r>
              <a:rPr lang="en-US" sz="1800" b="1" dirty="0">
                <a:solidFill>
                  <a:srgbClr val="1B6B4F"/>
                </a:solidFill>
                <a:latin typeface="Cambria" pitchFamily="34" charset="0"/>
                <a:ea typeface="Cambria" pitchFamily="34" charset="-122"/>
                <a:cs typeface="Cambria" pitchFamily="34" charset="-120"/>
              </a:rPr>
              <a:t>Scope</a:t>
            </a:r>
            <a:endParaRPr lang="en-US" sz="1800" dirty="0"/>
          </a:p>
        </p:txBody>
      </p:sp>
      <p:sp>
        <p:nvSpPr>
          <p:cNvPr id="9" name="Text 6"/>
          <p:cNvSpPr txBox="1"/>
          <p:nvPr/>
        </p:nvSpPr>
        <p:spPr>
          <a:xfrm>
            <a:off x="457200" y="3063240"/>
            <a:ext cx="402336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A26"/>
                </a:solidFill>
                <a:latin typeface="Calibri" pitchFamily="34" charset="0"/>
                <a:ea typeface="Calibri" pitchFamily="34" charset="-122"/>
                <a:cs typeface="Calibri" pitchFamily="34" charset="-120"/>
              </a:rPr>
              <a:t>In: scanner, lexer, grammar prep, LL(1) table, predictive parser, web app</a:t>
            </a:r>
            <a:endParaRPr lang="en-US" sz="1300" dirty="0"/>
          </a:p>
          <a:p>
            <a:pPr marL="342900" indent="-342900">
              <a:spcAft>
                <a:spcPts val="600"/>
              </a:spcAft>
              <a:buSzPct val="100000"/>
              <a:buChar char="•"/>
            </a:pPr>
            <a:r>
              <a:rPr lang="en-US" sz="1300" dirty="0">
                <a:solidFill>
                  <a:srgbClr val="1F2A26"/>
                </a:solidFill>
                <a:latin typeface="Calibri" pitchFamily="34" charset="0"/>
                <a:ea typeface="Calibri" pitchFamily="34" charset="-122"/>
                <a:cs typeface="Calibri" pitchFamily="34" charset="-120"/>
              </a:rPr>
              <a:t>Out: semantics, code generation, machine translation, statistical models</a:t>
            </a:r>
            <a:endParaRPr lang="en-US" sz="1300" dirty="0"/>
          </a:p>
        </p:txBody>
      </p:sp>
      <p:sp>
        <p:nvSpPr>
          <p:cNvPr id="10" name="Shape 7"/>
          <p:cNvSpPr/>
          <p:nvPr/>
        </p:nvSpPr>
        <p:spPr>
          <a:xfrm>
            <a:off x="4846320" y="1188720"/>
            <a:ext cx="2011680" cy="621792"/>
          </a:xfrm>
          <a:prstGeom prst="roundRect">
            <a:avLst>
              <a:gd name="adj" fmla="val 11765"/>
            </a:avLst>
          </a:prstGeom>
          <a:solidFill>
            <a:srgbClr val="EEF3F0"/>
          </a:solidFill>
          <a:ln w="12700">
            <a:solidFill>
              <a:srgbClr val="EEF3F0"/>
            </a:solidFill>
            <a:prstDash val="solid"/>
          </a:ln>
        </p:spPr>
      </p:sp>
      <p:sp>
        <p:nvSpPr>
          <p:cNvPr id="11" name="Text 8"/>
          <p:cNvSpPr txBox="1"/>
          <p:nvPr/>
        </p:nvSpPr>
        <p:spPr>
          <a:xfrm>
            <a:off x="4956048" y="1271016"/>
            <a:ext cx="1828800" cy="237744"/>
          </a:xfrm>
          <a:prstGeom prst="rect">
            <a:avLst/>
          </a:prstGeom>
          <a:noFill/>
          <a:ln/>
        </p:spPr>
        <p:txBody>
          <a:bodyPr wrap="square" lIns="0" tIns="0" rIns="0" bIns="0" rtlCol="0" anchor="t"/>
          <a:lstStyle/>
          <a:p>
            <a:pPr indent="0" marL="0">
              <a:buNone/>
            </a:pPr>
            <a:r>
              <a:rPr lang="en-US" sz="1200" b="1" dirty="0">
                <a:solidFill>
                  <a:srgbClr val="0F3D2E"/>
                </a:solidFill>
                <a:latin typeface="Calibri" pitchFamily="34" charset="0"/>
                <a:ea typeface="Calibri" pitchFamily="34" charset="-122"/>
                <a:cs typeface="Calibri" pitchFamily="34" charset="-120"/>
              </a:rPr>
              <a:t>French grammar</a:t>
            </a:r>
            <a:endParaRPr lang="en-US" sz="1200" dirty="0"/>
          </a:p>
        </p:txBody>
      </p:sp>
      <p:sp>
        <p:nvSpPr>
          <p:cNvPr id="12" name="Text 9"/>
          <p:cNvSpPr txBox="1"/>
          <p:nvPr/>
        </p:nvSpPr>
        <p:spPr>
          <a:xfrm>
            <a:off x="4956048" y="1527048"/>
            <a:ext cx="1828800" cy="219456"/>
          </a:xfrm>
          <a:prstGeom prst="rect">
            <a:avLst/>
          </a:prstGeom>
          <a:noFill/>
          <a:ln/>
        </p:spPr>
        <p:txBody>
          <a:bodyPr wrap="square" lIns="0" tIns="0" rIns="0" bIns="0" rtlCol="0" anchor="t"/>
          <a:lstStyle/>
          <a:p>
            <a:pPr indent="0" marL="0">
              <a:buNone/>
            </a:pPr>
            <a:r>
              <a:rPr lang="en-US" sz="1050" dirty="0">
                <a:solidFill>
                  <a:srgbClr val="5F6F68"/>
                </a:solidFill>
                <a:latin typeface="Courier New" pitchFamily="34" charset="0"/>
                <a:ea typeface="Courier New" pitchFamily="34" charset="-122"/>
                <a:cs typeface="Courier New" pitchFamily="34" charset="-120"/>
              </a:rPr>
              <a:t>le taximan, au, les…</a:t>
            </a:r>
            <a:endParaRPr lang="en-US" sz="1050" dirty="0"/>
          </a:p>
        </p:txBody>
      </p:sp>
      <p:sp>
        <p:nvSpPr>
          <p:cNvPr id="13" name="Shape 10"/>
          <p:cNvSpPr/>
          <p:nvPr/>
        </p:nvSpPr>
        <p:spPr>
          <a:xfrm>
            <a:off x="6903720" y="1499616"/>
            <a:ext cx="320040" cy="0"/>
          </a:xfrm>
          <a:prstGeom prst="line">
            <a:avLst/>
          </a:prstGeom>
          <a:noFill/>
          <a:ln w="19050">
            <a:solidFill>
              <a:srgbClr val="5F6F68"/>
            </a:solidFill>
            <a:prstDash val="solid"/>
            <a:tailEnd type="triangle"/>
          </a:ln>
        </p:spPr>
      </p:sp>
      <p:sp>
        <p:nvSpPr>
          <p:cNvPr id="14" name="Shape 11"/>
          <p:cNvSpPr/>
          <p:nvPr/>
        </p:nvSpPr>
        <p:spPr>
          <a:xfrm>
            <a:off x="4846320" y="1965960"/>
            <a:ext cx="2011680" cy="621792"/>
          </a:xfrm>
          <a:prstGeom prst="roundRect">
            <a:avLst>
              <a:gd name="adj" fmla="val 11765"/>
            </a:avLst>
          </a:prstGeom>
          <a:solidFill>
            <a:srgbClr val="EEF3F0"/>
          </a:solidFill>
          <a:ln w="12700">
            <a:solidFill>
              <a:srgbClr val="EEF3F0"/>
            </a:solidFill>
            <a:prstDash val="solid"/>
          </a:ln>
        </p:spPr>
      </p:sp>
      <p:sp>
        <p:nvSpPr>
          <p:cNvPr id="15" name="Text 12"/>
          <p:cNvSpPr txBox="1"/>
          <p:nvPr/>
        </p:nvSpPr>
        <p:spPr>
          <a:xfrm>
            <a:off x="4956048" y="2048256"/>
            <a:ext cx="1828800" cy="237744"/>
          </a:xfrm>
          <a:prstGeom prst="rect">
            <a:avLst/>
          </a:prstGeom>
          <a:noFill/>
          <a:ln/>
        </p:spPr>
        <p:txBody>
          <a:bodyPr wrap="square" lIns="0" tIns="0" rIns="0" bIns="0" rtlCol="0" anchor="t"/>
          <a:lstStyle/>
          <a:p>
            <a:pPr indent="0" marL="0">
              <a:buNone/>
            </a:pPr>
            <a:r>
              <a:rPr lang="en-US" sz="1200" b="1" dirty="0">
                <a:solidFill>
                  <a:srgbClr val="0F3D2E"/>
                </a:solidFill>
                <a:latin typeface="Calibri" pitchFamily="34" charset="0"/>
                <a:ea typeface="Calibri" pitchFamily="34" charset="-122"/>
                <a:cs typeface="Calibri" pitchFamily="34" charset="-120"/>
              </a:rPr>
              <a:t>English verbs</a:t>
            </a:r>
            <a:endParaRPr lang="en-US" sz="1200" dirty="0"/>
          </a:p>
        </p:txBody>
      </p:sp>
      <p:sp>
        <p:nvSpPr>
          <p:cNvPr id="16" name="Text 13"/>
          <p:cNvSpPr txBox="1"/>
          <p:nvPr/>
        </p:nvSpPr>
        <p:spPr>
          <a:xfrm>
            <a:off x="4956048" y="2304288"/>
            <a:ext cx="1828800" cy="219456"/>
          </a:xfrm>
          <a:prstGeom prst="rect">
            <a:avLst/>
          </a:prstGeom>
          <a:noFill/>
          <a:ln/>
        </p:spPr>
        <p:txBody>
          <a:bodyPr wrap="square" lIns="0" tIns="0" rIns="0" bIns="0" rtlCol="0" anchor="t"/>
          <a:lstStyle/>
          <a:p>
            <a:pPr indent="0" marL="0">
              <a:buNone/>
            </a:pPr>
            <a:r>
              <a:rPr lang="en-US" sz="1050" dirty="0">
                <a:solidFill>
                  <a:srgbClr val="5F6F68"/>
                </a:solidFill>
                <a:latin typeface="Courier New" pitchFamily="34" charset="0"/>
                <a:ea typeface="Courier New" pitchFamily="34" charset="-122"/>
                <a:cs typeface="Courier New" pitchFamily="34" charset="-120"/>
              </a:rPr>
              <a:t>bring, send, wait…</a:t>
            </a:r>
            <a:endParaRPr lang="en-US" sz="1050" dirty="0"/>
          </a:p>
        </p:txBody>
      </p:sp>
      <p:sp>
        <p:nvSpPr>
          <p:cNvPr id="17" name="Shape 14"/>
          <p:cNvSpPr/>
          <p:nvPr/>
        </p:nvSpPr>
        <p:spPr>
          <a:xfrm>
            <a:off x="6903720" y="2276856"/>
            <a:ext cx="320040" cy="0"/>
          </a:xfrm>
          <a:prstGeom prst="line">
            <a:avLst/>
          </a:prstGeom>
          <a:noFill/>
          <a:ln w="19050">
            <a:solidFill>
              <a:srgbClr val="5F6F68"/>
            </a:solidFill>
            <a:prstDash val="solid"/>
            <a:tailEnd type="triangle"/>
          </a:ln>
        </p:spPr>
      </p:sp>
      <p:sp>
        <p:nvSpPr>
          <p:cNvPr id="18" name="Shape 15"/>
          <p:cNvSpPr/>
          <p:nvPr/>
        </p:nvSpPr>
        <p:spPr>
          <a:xfrm>
            <a:off x="4846320" y="2743200"/>
            <a:ext cx="2011680" cy="621792"/>
          </a:xfrm>
          <a:prstGeom prst="roundRect">
            <a:avLst>
              <a:gd name="adj" fmla="val 11765"/>
            </a:avLst>
          </a:prstGeom>
          <a:solidFill>
            <a:srgbClr val="EEF3F0"/>
          </a:solidFill>
          <a:ln w="12700">
            <a:solidFill>
              <a:srgbClr val="EEF3F0"/>
            </a:solidFill>
            <a:prstDash val="solid"/>
          </a:ln>
        </p:spPr>
      </p:sp>
      <p:sp>
        <p:nvSpPr>
          <p:cNvPr id="19" name="Text 16"/>
          <p:cNvSpPr txBox="1"/>
          <p:nvPr/>
        </p:nvSpPr>
        <p:spPr>
          <a:xfrm>
            <a:off x="4956048" y="2825496"/>
            <a:ext cx="1828800" cy="237744"/>
          </a:xfrm>
          <a:prstGeom prst="rect">
            <a:avLst/>
          </a:prstGeom>
          <a:noFill/>
          <a:ln/>
        </p:spPr>
        <p:txBody>
          <a:bodyPr wrap="square" lIns="0" tIns="0" rIns="0" bIns="0" rtlCol="0" anchor="t"/>
          <a:lstStyle/>
          <a:p>
            <a:pPr indent="0" marL="0">
              <a:buNone/>
            </a:pPr>
            <a:r>
              <a:rPr lang="en-US" sz="1200" b="1" dirty="0">
                <a:solidFill>
                  <a:srgbClr val="0F3D2E"/>
                </a:solidFill>
                <a:latin typeface="Calibri" pitchFamily="34" charset="0"/>
                <a:ea typeface="Calibri" pitchFamily="34" charset="-122"/>
                <a:cs typeface="Calibri" pitchFamily="34" charset="-120"/>
              </a:rPr>
              <a:t>Pidgin particles</a:t>
            </a:r>
            <a:endParaRPr lang="en-US" sz="1200" dirty="0"/>
          </a:p>
        </p:txBody>
      </p:sp>
      <p:sp>
        <p:nvSpPr>
          <p:cNvPr id="20" name="Text 17"/>
          <p:cNvSpPr txBox="1"/>
          <p:nvPr/>
        </p:nvSpPr>
        <p:spPr>
          <a:xfrm>
            <a:off x="4956048" y="3081528"/>
            <a:ext cx="1828800" cy="219456"/>
          </a:xfrm>
          <a:prstGeom prst="rect">
            <a:avLst/>
          </a:prstGeom>
          <a:noFill/>
          <a:ln/>
        </p:spPr>
        <p:txBody>
          <a:bodyPr wrap="square" lIns="0" tIns="0" rIns="0" bIns="0" rtlCol="0" anchor="t"/>
          <a:lstStyle/>
          <a:p>
            <a:pPr indent="0" marL="0">
              <a:buNone/>
            </a:pPr>
            <a:r>
              <a:rPr lang="en-US" sz="1050" dirty="0">
                <a:solidFill>
                  <a:srgbClr val="5F6F68"/>
                </a:solidFill>
                <a:latin typeface="Courier New" pitchFamily="34" charset="0"/>
                <a:ea typeface="Courier New" pitchFamily="34" charset="-122"/>
                <a:cs typeface="Courier New" pitchFamily="34" charset="-120"/>
              </a:rPr>
              <a:t>ashia, wah, waka…</a:t>
            </a:r>
            <a:endParaRPr lang="en-US" sz="1050" dirty="0"/>
          </a:p>
        </p:txBody>
      </p:sp>
      <p:sp>
        <p:nvSpPr>
          <p:cNvPr id="21" name="Shape 18"/>
          <p:cNvSpPr/>
          <p:nvPr/>
        </p:nvSpPr>
        <p:spPr>
          <a:xfrm>
            <a:off x="6903720" y="3054096"/>
            <a:ext cx="320040" cy="0"/>
          </a:xfrm>
          <a:prstGeom prst="line">
            <a:avLst/>
          </a:prstGeom>
          <a:noFill/>
          <a:ln w="19050">
            <a:solidFill>
              <a:srgbClr val="5F6F68"/>
            </a:solidFill>
            <a:prstDash val="solid"/>
            <a:tailEnd type="triangle"/>
          </a:ln>
        </p:spPr>
      </p:sp>
      <p:sp>
        <p:nvSpPr>
          <p:cNvPr id="22" name="Shape 19"/>
          <p:cNvSpPr/>
          <p:nvPr/>
        </p:nvSpPr>
        <p:spPr>
          <a:xfrm>
            <a:off x="4846320" y="3520440"/>
            <a:ext cx="2011680" cy="621792"/>
          </a:xfrm>
          <a:prstGeom prst="roundRect">
            <a:avLst>
              <a:gd name="adj" fmla="val 11765"/>
            </a:avLst>
          </a:prstGeom>
          <a:solidFill>
            <a:srgbClr val="EEF3F0"/>
          </a:solidFill>
          <a:ln w="12700">
            <a:solidFill>
              <a:srgbClr val="EEF3F0"/>
            </a:solidFill>
            <a:prstDash val="solid"/>
          </a:ln>
        </p:spPr>
      </p:sp>
      <p:sp>
        <p:nvSpPr>
          <p:cNvPr id="23" name="Text 20"/>
          <p:cNvSpPr txBox="1"/>
          <p:nvPr/>
        </p:nvSpPr>
        <p:spPr>
          <a:xfrm>
            <a:off x="4956048" y="3602736"/>
            <a:ext cx="1828800" cy="237744"/>
          </a:xfrm>
          <a:prstGeom prst="rect">
            <a:avLst/>
          </a:prstGeom>
          <a:noFill/>
          <a:ln/>
        </p:spPr>
        <p:txBody>
          <a:bodyPr wrap="square" lIns="0" tIns="0" rIns="0" bIns="0" rtlCol="0" anchor="t"/>
          <a:lstStyle/>
          <a:p>
            <a:pPr indent="0" marL="0">
              <a:buNone/>
            </a:pPr>
            <a:r>
              <a:rPr lang="en-US" sz="1200" b="1" dirty="0">
                <a:solidFill>
                  <a:srgbClr val="0F3D2E"/>
                </a:solidFill>
                <a:latin typeface="Calibri" pitchFamily="34" charset="0"/>
                <a:ea typeface="Calibri" pitchFamily="34" charset="-122"/>
                <a:cs typeface="Calibri" pitchFamily="34" charset="-120"/>
              </a:rPr>
              <a:t>Duala / Ewondo nouns</a:t>
            </a:r>
            <a:endParaRPr lang="en-US" sz="1200" dirty="0"/>
          </a:p>
        </p:txBody>
      </p:sp>
      <p:sp>
        <p:nvSpPr>
          <p:cNvPr id="24" name="Text 21"/>
          <p:cNvSpPr txBox="1"/>
          <p:nvPr/>
        </p:nvSpPr>
        <p:spPr>
          <a:xfrm>
            <a:off x="4956048" y="3858768"/>
            <a:ext cx="1828800" cy="219456"/>
          </a:xfrm>
          <a:prstGeom prst="rect">
            <a:avLst/>
          </a:prstGeom>
          <a:noFill/>
          <a:ln/>
        </p:spPr>
        <p:txBody>
          <a:bodyPr wrap="square" lIns="0" tIns="0" rIns="0" bIns="0" rtlCol="0" anchor="t"/>
          <a:lstStyle/>
          <a:p>
            <a:pPr indent="0" marL="0">
              <a:buNone/>
            </a:pPr>
            <a:r>
              <a:rPr lang="en-US" sz="1050" dirty="0">
                <a:solidFill>
                  <a:srgbClr val="5F6F68"/>
                </a:solidFill>
                <a:latin typeface="Courier New" pitchFamily="34" charset="0"/>
                <a:ea typeface="Courier New" pitchFamily="34" charset="-122"/>
                <a:cs typeface="Courier New" pitchFamily="34" charset="-120"/>
              </a:rPr>
              <a:t>kwatt, mbom, ngola…</a:t>
            </a:r>
            <a:endParaRPr lang="en-US" sz="1050" dirty="0"/>
          </a:p>
        </p:txBody>
      </p:sp>
      <p:sp>
        <p:nvSpPr>
          <p:cNvPr id="25" name="Shape 22"/>
          <p:cNvSpPr/>
          <p:nvPr/>
        </p:nvSpPr>
        <p:spPr>
          <a:xfrm>
            <a:off x="6903720" y="3831336"/>
            <a:ext cx="320040" cy="0"/>
          </a:xfrm>
          <a:prstGeom prst="line">
            <a:avLst/>
          </a:prstGeom>
          <a:noFill/>
          <a:ln w="19050">
            <a:solidFill>
              <a:srgbClr val="5F6F68"/>
            </a:solidFill>
            <a:prstDash val="solid"/>
            <a:tailEnd type="triangle"/>
          </a:ln>
        </p:spPr>
      </p:sp>
      <p:sp>
        <p:nvSpPr>
          <p:cNvPr id="26" name="Shape 23"/>
          <p:cNvSpPr/>
          <p:nvPr/>
        </p:nvSpPr>
        <p:spPr>
          <a:xfrm>
            <a:off x="7269480" y="1188720"/>
            <a:ext cx="1417320" cy="2953512"/>
          </a:xfrm>
          <a:prstGeom prst="roundRect">
            <a:avLst>
              <a:gd name="adj" fmla="val 6452"/>
            </a:avLst>
          </a:prstGeom>
          <a:solidFill>
            <a:srgbClr val="0F3D2E"/>
          </a:solidFill>
          <a:ln w="12700">
            <a:solidFill>
              <a:srgbClr val="0F3D2E"/>
            </a:solidFill>
            <a:prstDash val="solid"/>
          </a:ln>
        </p:spPr>
      </p:sp>
      <p:sp>
        <p:nvSpPr>
          <p:cNvPr id="27" name="Text 24"/>
          <p:cNvSpPr txBox="1"/>
          <p:nvPr/>
        </p:nvSpPr>
        <p:spPr>
          <a:xfrm>
            <a:off x="7315200" y="2103120"/>
            <a:ext cx="1325880" cy="274320"/>
          </a:xfrm>
          <a:prstGeom prst="rect">
            <a:avLst/>
          </a:prstGeom>
          <a:noFill/>
          <a:ln/>
        </p:spPr>
        <p:txBody>
          <a:bodyPr wrap="square" lIns="0" tIns="0" rIns="0" bIns="0" rtlCol="0" anchor="t"/>
          <a:lstStyle/>
          <a:p>
            <a:pPr algn="ctr" indent="0" marL="0">
              <a:buNone/>
            </a:pPr>
            <a:r>
              <a:rPr lang="en-US" sz="1200" b="1" dirty="0">
                <a:solidFill>
                  <a:srgbClr val="D9B44A"/>
                </a:solidFill>
                <a:latin typeface="Calibri" pitchFamily="34" charset="0"/>
                <a:ea typeface="Calibri" pitchFamily="34" charset="-122"/>
                <a:cs typeface="Calibri" pitchFamily="34" charset="-120"/>
              </a:rPr>
              <a:t>One sentence</a:t>
            </a:r>
            <a:endParaRPr lang="en-US" sz="1200" dirty="0"/>
          </a:p>
        </p:txBody>
      </p:sp>
      <p:sp>
        <p:nvSpPr>
          <p:cNvPr id="28" name="Text 25"/>
          <p:cNvSpPr txBox="1"/>
          <p:nvPr/>
        </p:nvSpPr>
        <p:spPr>
          <a:xfrm>
            <a:off x="7315200" y="2423160"/>
            <a:ext cx="132588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Francanglais</a:t>
            </a:r>
            <a:endParaRPr lang="en-US" sz="1400" dirty="0"/>
          </a:p>
        </p:txBody>
      </p:sp>
      <p:sp>
        <p:nvSpPr>
          <p:cNvPr id="29" name="Text 26"/>
          <p:cNvSpPr txBox="1"/>
          <p:nvPr/>
        </p:nvSpPr>
        <p:spPr>
          <a:xfrm>
            <a:off x="7315200" y="2788920"/>
            <a:ext cx="1325880" cy="274320"/>
          </a:xfrm>
          <a:prstGeom prst="rect">
            <a:avLst/>
          </a:prstGeom>
          <a:noFill/>
          <a:ln/>
        </p:spPr>
        <p:txBody>
          <a:bodyPr wrap="square" lIns="0" tIns="0" rIns="0" bIns="0" rtlCol="0" anchor="t"/>
          <a:lstStyle/>
          <a:p>
            <a:pPr algn="ctr" indent="0" marL="0">
              <a:buNone/>
            </a:pPr>
            <a:r>
              <a:rPr lang="en-US" sz="1050" dirty="0">
                <a:solidFill>
                  <a:srgbClr val="CFE3D9"/>
                </a:solidFill>
                <a:latin typeface="Calibri" pitchFamily="34" charset="0"/>
                <a:ea typeface="Calibri" pitchFamily="34" charset="-122"/>
                <a:cs typeface="Calibri" pitchFamily="34" charset="-120"/>
              </a:rPr>
              <a:t>no standard form</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Guiding design principle</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3</a:t>
            </a:r>
            <a:endParaRPr lang="en-US" sz="900" dirty="0"/>
          </a:p>
        </p:txBody>
      </p:sp>
      <p:sp>
        <p:nvSpPr>
          <p:cNvPr id="6" name="Text 3"/>
          <p:cNvSpPr txBox="1"/>
          <p:nvPr/>
        </p:nvSpPr>
        <p:spPr>
          <a:xfrm>
            <a:off x="457200" y="1051560"/>
            <a:ext cx="8229600" cy="457200"/>
          </a:xfrm>
          <a:prstGeom prst="rect">
            <a:avLst/>
          </a:prstGeom>
          <a:noFill/>
          <a:ln/>
        </p:spPr>
        <p:txBody>
          <a:bodyPr wrap="square" lIns="0" tIns="0" rIns="0" bIns="0" rtlCol="0" anchor="t"/>
          <a:lstStyle/>
          <a:p>
            <a:pPr indent="0" marL="0">
              <a:buNone/>
            </a:pPr>
            <a:r>
              <a:rPr lang="en-US" sz="1600" i="1" dirty="0">
                <a:solidFill>
                  <a:srgbClr val="5F6F68"/>
                </a:solidFill>
                <a:latin typeface="Calibri" pitchFamily="34" charset="0"/>
                <a:ea typeface="Calibri" pitchFamily="34" charset="-122"/>
                <a:cs typeface="Calibri" pitchFamily="34" charset="-120"/>
              </a:rPr>
              <a:t>The analyzer recognises a documented subset of collected speech. It never pretends otherwise.</a:t>
            </a:r>
            <a:endParaRPr lang="en-US" sz="1600" dirty="0"/>
          </a:p>
        </p:txBody>
      </p:sp>
      <p:sp>
        <p:nvSpPr>
          <p:cNvPr id="7" name="Shape 4"/>
          <p:cNvSpPr/>
          <p:nvPr/>
        </p:nvSpPr>
        <p:spPr>
          <a:xfrm>
            <a:off x="457200" y="1691640"/>
            <a:ext cx="2651760" cy="2103120"/>
          </a:xfrm>
          <a:prstGeom prst="roundRect">
            <a:avLst>
              <a:gd name="adj" fmla="val 3478"/>
            </a:avLst>
          </a:prstGeom>
          <a:solidFill>
            <a:srgbClr val="EEF3F0"/>
          </a:solidFill>
          <a:ln w="12700">
            <a:solidFill>
              <a:srgbClr val="EEF3F0"/>
            </a:solidFill>
            <a:prstDash val="solid"/>
          </a:ln>
        </p:spPr>
      </p:sp>
      <p:sp>
        <p:nvSpPr>
          <p:cNvPr id="8" name="Shape 5"/>
          <p:cNvSpPr/>
          <p:nvPr/>
        </p:nvSpPr>
        <p:spPr>
          <a:xfrm>
            <a:off x="685800" y="1874520"/>
            <a:ext cx="457200" cy="457200"/>
          </a:xfrm>
          <a:prstGeom prst="ellipse">
            <a:avLst/>
          </a:prstGeom>
          <a:solidFill>
            <a:srgbClr val="0F3D2E"/>
          </a:solidFill>
          <a:ln w="12700">
            <a:solidFill>
              <a:srgbClr val="0F3D2E"/>
            </a:solidFill>
            <a:prstDash val="solid"/>
          </a:ln>
        </p:spPr>
      </p:sp>
      <p:sp>
        <p:nvSpPr>
          <p:cNvPr id="9" name="Text 6"/>
          <p:cNvSpPr txBox="1"/>
          <p:nvPr/>
        </p:nvSpPr>
        <p:spPr>
          <a:xfrm>
            <a:off x="685800" y="1874520"/>
            <a:ext cx="457200" cy="457200"/>
          </a:xfrm>
          <a:prstGeom prst="rect">
            <a:avLst/>
          </a:prstGeom>
          <a:noFill/>
          <a:ln/>
        </p:spPr>
        <p:txBody>
          <a:bodyPr wrap="square" lIns="0" tIns="0" rIns="0" bIns="0" rtlCol="0" anchor="ctr"/>
          <a:lstStyle/>
          <a:p>
            <a:pPr algn="ctr" indent="0" marL="0">
              <a:buNone/>
            </a:pPr>
            <a:r>
              <a:rPr lang="en-US" sz="1600" b="1" dirty="0">
                <a:solidFill>
                  <a:srgbClr val="D9B44A"/>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685800" y="2468880"/>
            <a:ext cx="2240280" cy="640080"/>
          </a:xfrm>
          <a:prstGeom prst="rect">
            <a:avLst/>
          </a:prstGeom>
          <a:noFill/>
          <a:ln/>
        </p:spPr>
        <p:txBody>
          <a:bodyPr wrap="square" lIns="0" tIns="0" rIns="0" bIns="0" rtlCol="0" anchor="t"/>
          <a:lstStyle/>
          <a:p>
            <a:pPr indent="0" marL="0">
              <a:buNone/>
            </a:pPr>
            <a:r>
              <a:rPr lang="en-US" sz="1400" b="1" dirty="0">
                <a:solidFill>
                  <a:srgbClr val="0F3D2E"/>
                </a:solidFill>
                <a:latin typeface="Calibri" pitchFamily="34" charset="0"/>
                <a:ea typeface="Calibri" pitchFamily="34" charset="-122"/>
                <a:cs typeface="Calibri" pitchFamily="34" charset="-120"/>
              </a:rPr>
              <a:t>Never pretends to understand every sentence</a:t>
            </a:r>
            <a:endParaRPr lang="en-US" sz="1400" dirty="0"/>
          </a:p>
        </p:txBody>
      </p:sp>
      <p:sp>
        <p:nvSpPr>
          <p:cNvPr id="11" name="Text 8"/>
          <p:cNvSpPr txBox="1"/>
          <p:nvPr/>
        </p:nvSpPr>
        <p:spPr>
          <a:xfrm>
            <a:off x="685800" y="3108960"/>
            <a:ext cx="2240280" cy="640080"/>
          </a:xfrm>
          <a:prstGeom prst="rect">
            <a:avLst/>
          </a:prstGeom>
          <a:noFill/>
          <a:ln/>
        </p:spPr>
        <p:txBody>
          <a:bodyPr wrap="square" lIns="0" tIns="0" rIns="0" bIns="0" rtlCol="0" anchor="t"/>
          <a:lstStyle/>
          <a:p>
            <a:pPr indent="0" marL="0">
              <a:buNone/>
            </a:pPr>
            <a:r>
              <a:rPr lang="en-US" sz="1200" dirty="0">
                <a:solidFill>
                  <a:srgbClr val="1F2A26"/>
                </a:solidFill>
                <a:latin typeface="Calibri" pitchFamily="34" charset="0"/>
                <a:ea typeface="Calibri" pitchFamily="34" charset="-122"/>
                <a:cs typeface="Calibri" pitchFamily="34" charset="-120"/>
              </a:rPr>
              <a:t>It accepts a documented subset and states what falls outside it.</a:t>
            </a:r>
            <a:endParaRPr lang="en-US" sz="1200" dirty="0"/>
          </a:p>
        </p:txBody>
      </p:sp>
      <p:sp>
        <p:nvSpPr>
          <p:cNvPr id="12" name="Shape 9"/>
          <p:cNvSpPr/>
          <p:nvPr/>
        </p:nvSpPr>
        <p:spPr>
          <a:xfrm>
            <a:off x="3246120" y="1691640"/>
            <a:ext cx="2651760" cy="2103120"/>
          </a:xfrm>
          <a:prstGeom prst="roundRect">
            <a:avLst>
              <a:gd name="adj" fmla="val 3478"/>
            </a:avLst>
          </a:prstGeom>
          <a:solidFill>
            <a:srgbClr val="EEF3F0"/>
          </a:solidFill>
          <a:ln w="12700">
            <a:solidFill>
              <a:srgbClr val="EEF3F0"/>
            </a:solidFill>
            <a:prstDash val="solid"/>
          </a:ln>
        </p:spPr>
      </p:sp>
      <p:sp>
        <p:nvSpPr>
          <p:cNvPr id="13" name="Shape 10"/>
          <p:cNvSpPr/>
          <p:nvPr/>
        </p:nvSpPr>
        <p:spPr>
          <a:xfrm>
            <a:off x="3474720" y="1874520"/>
            <a:ext cx="457200" cy="457200"/>
          </a:xfrm>
          <a:prstGeom prst="ellipse">
            <a:avLst/>
          </a:prstGeom>
          <a:solidFill>
            <a:srgbClr val="0F3D2E"/>
          </a:solidFill>
          <a:ln w="12700">
            <a:solidFill>
              <a:srgbClr val="0F3D2E"/>
            </a:solidFill>
            <a:prstDash val="solid"/>
          </a:ln>
        </p:spPr>
      </p:sp>
      <p:sp>
        <p:nvSpPr>
          <p:cNvPr id="14" name="Text 11"/>
          <p:cNvSpPr txBox="1"/>
          <p:nvPr/>
        </p:nvSpPr>
        <p:spPr>
          <a:xfrm>
            <a:off x="3474720" y="1874520"/>
            <a:ext cx="457200" cy="457200"/>
          </a:xfrm>
          <a:prstGeom prst="rect">
            <a:avLst/>
          </a:prstGeom>
          <a:noFill/>
          <a:ln/>
        </p:spPr>
        <p:txBody>
          <a:bodyPr wrap="square" lIns="0" tIns="0" rIns="0" bIns="0" rtlCol="0" anchor="ctr"/>
          <a:lstStyle/>
          <a:p>
            <a:pPr algn="ctr" indent="0" marL="0">
              <a:buNone/>
            </a:pPr>
            <a:r>
              <a:rPr lang="en-US" sz="1600" b="1" dirty="0">
                <a:solidFill>
                  <a:srgbClr val="D9B44A"/>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3474720" y="2468880"/>
            <a:ext cx="2240280" cy="640080"/>
          </a:xfrm>
          <a:prstGeom prst="rect">
            <a:avLst/>
          </a:prstGeom>
          <a:noFill/>
          <a:ln/>
        </p:spPr>
        <p:txBody>
          <a:bodyPr wrap="square" lIns="0" tIns="0" rIns="0" bIns="0" rtlCol="0" anchor="t"/>
          <a:lstStyle/>
          <a:p>
            <a:pPr indent="0" marL="0">
              <a:buNone/>
            </a:pPr>
            <a:r>
              <a:rPr lang="en-US" sz="1400" b="1" dirty="0">
                <a:solidFill>
                  <a:srgbClr val="0F3D2E"/>
                </a:solidFill>
                <a:latin typeface="Calibri" pitchFamily="34" charset="0"/>
                <a:ea typeface="Calibri" pitchFamily="34" charset="-122"/>
                <a:cs typeface="Calibri" pitchFamily="34" charset="-120"/>
              </a:rPr>
              <a:t>Never silently discards an unknown word</a:t>
            </a:r>
            <a:endParaRPr lang="en-US" sz="1400" dirty="0"/>
          </a:p>
        </p:txBody>
      </p:sp>
      <p:sp>
        <p:nvSpPr>
          <p:cNvPr id="16" name="Text 13"/>
          <p:cNvSpPr txBox="1"/>
          <p:nvPr/>
        </p:nvSpPr>
        <p:spPr>
          <a:xfrm>
            <a:off x="3474720" y="3108960"/>
            <a:ext cx="2240280" cy="640080"/>
          </a:xfrm>
          <a:prstGeom prst="rect">
            <a:avLst/>
          </a:prstGeom>
          <a:noFill/>
          <a:ln/>
        </p:spPr>
        <p:txBody>
          <a:bodyPr wrap="square" lIns="0" tIns="0" rIns="0" bIns="0" rtlCol="0" anchor="t"/>
          <a:lstStyle/>
          <a:p>
            <a:pPr indent="0" marL="0">
              <a:buNone/>
            </a:pPr>
            <a:r>
              <a:rPr lang="en-US" sz="1200" dirty="0">
                <a:solidFill>
                  <a:srgbClr val="1F2A26"/>
                </a:solidFill>
                <a:latin typeface="Calibri" pitchFamily="34" charset="0"/>
                <a:ea typeface="Calibri" pitchFamily="34" charset="-122"/>
                <a:cs typeface="Calibri" pitchFamily="34" charset="-120"/>
              </a:rPr>
              <a:t>Unrecognised words are emitted as UNKNOWN tokens with their source span.</a:t>
            </a:r>
            <a:endParaRPr lang="en-US" sz="1200" dirty="0"/>
          </a:p>
        </p:txBody>
      </p:sp>
      <p:sp>
        <p:nvSpPr>
          <p:cNvPr id="17" name="Shape 14"/>
          <p:cNvSpPr/>
          <p:nvPr/>
        </p:nvSpPr>
        <p:spPr>
          <a:xfrm>
            <a:off x="6035040" y="1691640"/>
            <a:ext cx="2651760" cy="2103120"/>
          </a:xfrm>
          <a:prstGeom prst="roundRect">
            <a:avLst>
              <a:gd name="adj" fmla="val 3478"/>
            </a:avLst>
          </a:prstGeom>
          <a:solidFill>
            <a:srgbClr val="EEF3F0"/>
          </a:solidFill>
          <a:ln w="12700">
            <a:solidFill>
              <a:srgbClr val="EEF3F0"/>
            </a:solidFill>
            <a:prstDash val="solid"/>
          </a:ln>
        </p:spPr>
      </p:sp>
      <p:sp>
        <p:nvSpPr>
          <p:cNvPr id="18" name="Shape 15"/>
          <p:cNvSpPr/>
          <p:nvPr/>
        </p:nvSpPr>
        <p:spPr>
          <a:xfrm>
            <a:off x="6263640" y="1874520"/>
            <a:ext cx="457200" cy="457200"/>
          </a:xfrm>
          <a:prstGeom prst="ellipse">
            <a:avLst/>
          </a:prstGeom>
          <a:solidFill>
            <a:srgbClr val="0F3D2E"/>
          </a:solidFill>
          <a:ln w="12700">
            <a:solidFill>
              <a:srgbClr val="0F3D2E"/>
            </a:solidFill>
            <a:prstDash val="solid"/>
          </a:ln>
        </p:spPr>
      </p:sp>
      <p:sp>
        <p:nvSpPr>
          <p:cNvPr id="19" name="Text 16"/>
          <p:cNvSpPr txBox="1"/>
          <p:nvPr/>
        </p:nvSpPr>
        <p:spPr>
          <a:xfrm>
            <a:off x="6263640" y="1874520"/>
            <a:ext cx="457200" cy="457200"/>
          </a:xfrm>
          <a:prstGeom prst="rect">
            <a:avLst/>
          </a:prstGeom>
          <a:noFill/>
          <a:ln/>
        </p:spPr>
        <p:txBody>
          <a:bodyPr wrap="square" lIns="0" tIns="0" rIns="0" bIns="0" rtlCol="0" anchor="ctr"/>
          <a:lstStyle/>
          <a:p>
            <a:pPr algn="ctr" indent="0" marL="0">
              <a:buNone/>
            </a:pPr>
            <a:r>
              <a:rPr lang="en-US" sz="1600" b="1" dirty="0">
                <a:solidFill>
                  <a:srgbClr val="D9B44A"/>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6263640" y="2468880"/>
            <a:ext cx="2240280" cy="640080"/>
          </a:xfrm>
          <a:prstGeom prst="rect">
            <a:avLst/>
          </a:prstGeom>
          <a:noFill/>
          <a:ln/>
        </p:spPr>
        <p:txBody>
          <a:bodyPr wrap="square" lIns="0" tIns="0" rIns="0" bIns="0" rtlCol="0" anchor="t"/>
          <a:lstStyle/>
          <a:p>
            <a:pPr indent="0" marL="0">
              <a:buNone/>
            </a:pPr>
            <a:r>
              <a:rPr lang="en-US" sz="1400" b="1" dirty="0">
                <a:solidFill>
                  <a:srgbClr val="0F3D2E"/>
                </a:solidFill>
                <a:latin typeface="Calibri" pitchFamily="34" charset="0"/>
                <a:ea typeface="Calibri" pitchFamily="34" charset="-122"/>
                <a:cs typeface="Calibri" pitchFamily="34" charset="-120"/>
              </a:rPr>
              <a:t>Never silently resolves an ambiguity</a:t>
            </a:r>
            <a:endParaRPr lang="en-US" sz="1400" dirty="0"/>
          </a:p>
        </p:txBody>
      </p:sp>
      <p:sp>
        <p:nvSpPr>
          <p:cNvPr id="21" name="Text 18"/>
          <p:cNvSpPr txBox="1"/>
          <p:nvPr/>
        </p:nvSpPr>
        <p:spPr>
          <a:xfrm>
            <a:off x="6263640" y="3108960"/>
            <a:ext cx="2240280" cy="640080"/>
          </a:xfrm>
          <a:prstGeom prst="rect">
            <a:avLst/>
          </a:prstGeom>
          <a:noFill/>
          <a:ln/>
        </p:spPr>
        <p:txBody>
          <a:bodyPr wrap="square" lIns="0" tIns="0" rIns="0" bIns="0" rtlCol="0" anchor="t"/>
          <a:lstStyle/>
          <a:p>
            <a:pPr indent="0" marL="0">
              <a:buNone/>
            </a:pPr>
            <a:r>
              <a:rPr lang="en-US" sz="1200" dirty="0">
                <a:solidFill>
                  <a:srgbClr val="1F2A26"/>
                </a:solidFill>
                <a:latin typeface="Calibri" pitchFamily="34" charset="0"/>
                <a:ea typeface="Calibri" pitchFamily="34" charset="-122"/>
                <a:cs typeface="Calibri" pitchFamily="34" charset="-120"/>
              </a:rPr>
              <a:t>Parsing conflicts are reported explicitly, never hidden by heuristics.</a:t>
            </a:r>
            <a:endParaRPr lang="en-US" sz="1200" dirty="0"/>
          </a:p>
        </p:txBody>
      </p:sp>
      <p:sp>
        <p:nvSpPr>
          <p:cNvPr id="22" name="Shape 19"/>
          <p:cNvSpPr/>
          <p:nvPr/>
        </p:nvSpPr>
        <p:spPr>
          <a:xfrm>
            <a:off x="457200" y="4023360"/>
            <a:ext cx="8229600" cy="548640"/>
          </a:xfrm>
          <a:prstGeom prst="roundRect">
            <a:avLst>
              <a:gd name="adj" fmla="val 13333"/>
            </a:avLst>
          </a:prstGeom>
          <a:solidFill>
            <a:srgbClr val="0F3D2E"/>
          </a:solidFill>
          <a:ln w="12700">
            <a:solidFill>
              <a:srgbClr val="0F3D2E"/>
            </a:solidFill>
            <a:prstDash val="solid"/>
          </a:ln>
        </p:spPr>
      </p:sp>
      <p:sp>
        <p:nvSpPr>
          <p:cNvPr id="23" name="Text 20"/>
          <p:cNvSpPr txBox="1"/>
          <p:nvPr/>
        </p:nvSpPr>
        <p:spPr>
          <a:xfrm>
            <a:off x="457200" y="4023360"/>
            <a:ext cx="82296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Rule-based  ·  deterministic  ·  every decision traceable to a lexicon entry or grammar production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The delivered system at a glance</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4</a:t>
            </a:r>
            <a:endParaRPr lang="en-US" sz="900" dirty="0"/>
          </a:p>
        </p:txBody>
      </p:sp>
      <p:sp>
        <p:nvSpPr>
          <p:cNvPr id="6" name="Shape 3"/>
          <p:cNvSpPr/>
          <p:nvPr/>
        </p:nvSpPr>
        <p:spPr>
          <a:xfrm>
            <a:off x="457200" y="1143000"/>
            <a:ext cx="1920240" cy="1508760"/>
          </a:xfrm>
          <a:prstGeom prst="roundRect">
            <a:avLst>
              <a:gd name="adj" fmla="val 4848"/>
            </a:avLst>
          </a:prstGeom>
          <a:solidFill>
            <a:srgbClr val="EEF3F0"/>
          </a:solidFill>
          <a:ln w="12700">
            <a:solidFill>
              <a:srgbClr val="EEF3F0"/>
            </a:solidFill>
            <a:prstDash val="solid"/>
          </a:ln>
        </p:spPr>
      </p:sp>
      <p:sp>
        <p:nvSpPr>
          <p:cNvPr id="7" name="Text 4"/>
          <p:cNvSpPr txBox="1"/>
          <p:nvPr/>
        </p:nvSpPr>
        <p:spPr>
          <a:xfrm>
            <a:off x="457200" y="1234440"/>
            <a:ext cx="1920240" cy="685800"/>
          </a:xfrm>
          <a:prstGeom prst="rect">
            <a:avLst/>
          </a:prstGeom>
          <a:noFill/>
          <a:ln/>
        </p:spPr>
        <p:txBody>
          <a:bodyPr wrap="square" lIns="0" tIns="0" rIns="0" bIns="0" rtlCol="0" anchor="t"/>
          <a:lstStyle/>
          <a:p>
            <a:pPr algn="ctr" indent="0" marL="0">
              <a:buNone/>
            </a:pPr>
            <a:r>
              <a:rPr lang="en-US" sz="4000" b="1" dirty="0">
                <a:solidFill>
                  <a:srgbClr val="1B6B4F"/>
                </a:solidFill>
                <a:latin typeface="Cambria" pitchFamily="34" charset="0"/>
                <a:ea typeface="Cambria" pitchFamily="34" charset="-122"/>
                <a:cs typeface="Cambria" pitchFamily="34" charset="-120"/>
              </a:rPr>
              <a:t>22</a:t>
            </a:r>
            <a:endParaRPr lang="en-US" sz="4000" dirty="0"/>
          </a:p>
        </p:txBody>
      </p:sp>
      <p:sp>
        <p:nvSpPr>
          <p:cNvPr id="8" name="Text 5"/>
          <p:cNvSpPr txBox="1"/>
          <p:nvPr/>
        </p:nvSpPr>
        <p:spPr>
          <a:xfrm>
            <a:off x="548640" y="1965960"/>
            <a:ext cx="1737360" cy="594360"/>
          </a:xfrm>
          <a:prstGeom prst="rect">
            <a:avLst/>
          </a:prstGeom>
          <a:noFill/>
          <a:ln/>
        </p:spPr>
        <p:txBody>
          <a:bodyPr wrap="square" lIns="0" tIns="0" rIns="0" bIns="0" rtlCol="0" anchor="t"/>
          <a:lstStyle/>
          <a:p>
            <a:pPr algn="ctr" indent="0" marL="0">
              <a:buNone/>
            </a:pPr>
            <a:r>
              <a:rPr lang="en-US" sz="1100" dirty="0">
                <a:solidFill>
                  <a:srgbClr val="5F6F68"/>
                </a:solidFill>
                <a:latin typeface="Calibri" pitchFamily="34" charset="0"/>
                <a:ea typeface="Calibri" pitchFamily="34" charset="-122"/>
                <a:cs typeface="Calibri" pitchFamily="34" charset="-120"/>
              </a:rPr>
              <a:t>statements collected</a:t>
            </a:r>
            <a:endParaRPr lang="en-US" sz="1100" dirty="0"/>
          </a:p>
          <a:p>
            <a:pPr algn="ctr" indent="0" marL="0">
              <a:buNone/>
            </a:pPr>
            <a:r>
              <a:rPr lang="en-US" sz="1100" dirty="0">
                <a:solidFill>
                  <a:srgbClr val="5F6F68"/>
                </a:solidFill>
                <a:latin typeface="Calibri" pitchFamily="34" charset="0"/>
                <a:ea typeface="Calibri" pitchFamily="34" charset="-122"/>
                <a:cs typeface="Calibri" pitchFamily="34" charset="-120"/>
              </a:rPr>
              <a:t>20 accepted · 2 rejected</a:t>
            </a:r>
            <a:endParaRPr lang="en-US" sz="1100" dirty="0"/>
          </a:p>
        </p:txBody>
      </p:sp>
      <p:sp>
        <p:nvSpPr>
          <p:cNvPr id="9" name="Shape 6"/>
          <p:cNvSpPr/>
          <p:nvPr/>
        </p:nvSpPr>
        <p:spPr>
          <a:xfrm>
            <a:off x="2560320" y="1143000"/>
            <a:ext cx="1920240" cy="1508760"/>
          </a:xfrm>
          <a:prstGeom prst="roundRect">
            <a:avLst>
              <a:gd name="adj" fmla="val 4848"/>
            </a:avLst>
          </a:prstGeom>
          <a:solidFill>
            <a:srgbClr val="EEF3F0"/>
          </a:solidFill>
          <a:ln w="12700">
            <a:solidFill>
              <a:srgbClr val="EEF3F0"/>
            </a:solidFill>
            <a:prstDash val="solid"/>
          </a:ln>
        </p:spPr>
      </p:sp>
      <p:sp>
        <p:nvSpPr>
          <p:cNvPr id="10" name="Text 7"/>
          <p:cNvSpPr txBox="1"/>
          <p:nvPr/>
        </p:nvSpPr>
        <p:spPr>
          <a:xfrm>
            <a:off x="2560320" y="1234440"/>
            <a:ext cx="1920240" cy="685800"/>
          </a:xfrm>
          <a:prstGeom prst="rect">
            <a:avLst/>
          </a:prstGeom>
          <a:noFill/>
          <a:ln/>
        </p:spPr>
        <p:txBody>
          <a:bodyPr wrap="square" lIns="0" tIns="0" rIns="0" bIns="0" rtlCol="0" anchor="t"/>
          <a:lstStyle/>
          <a:p>
            <a:pPr algn="ctr" indent="0" marL="0">
              <a:buNone/>
            </a:pPr>
            <a:r>
              <a:rPr lang="en-US" sz="4000" b="1" dirty="0">
                <a:solidFill>
                  <a:srgbClr val="1B6B4F"/>
                </a:solidFill>
                <a:latin typeface="Cambria" pitchFamily="34" charset="0"/>
                <a:ea typeface="Cambria" pitchFamily="34" charset="-122"/>
                <a:cs typeface="Cambria" pitchFamily="34" charset="-120"/>
              </a:rPr>
              <a:t>688</a:t>
            </a:r>
            <a:endParaRPr lang="en-US" sz="4000" dirty="0"/>
          </a:p>
        </p:txBody>
      </p:sp>
      <p:sp>
        <p:nvSpPr>
          <p:cNvPr id="11" name="Text 8"/>
          <p:cNvSpPr txBox="1"/>
          <p:nvPr/>
        </p:nvSpPr>
        <p:spPr>
          <a:xfrm>
            <a:off x="2651760" y="1965960"/>
            <a:ext cx="1737360" cy="594360"/>
          </a:xfrm>
          <a:prstGeom prst="rect">
            <a:avLst/>
          </a:prstGeom>
          <a:noFill/>
          <a:ln/>
        </p:spPr>
        <p:txBody>
          <a:bodyPr wrap="square" lIns="0" tIns="0" rIns="0" bIns="0" rtlCol="0" anchor="t"/>
          <a:lstStyle/>
          <a:p>
            <a:pPr algn="ctr" indent="0" marL="0">
              <a:buNone/>
            </a:pPr>
            <a:r>
              <a:rPr lang="en-US" sz="1100" dirty="0">
                <a:solidFill>
                  <a:srgbClr val="5F6F68"/>
                </a:solidFill>
                <a:latin typeface="Calibri" pitchFamily="34" charset="0"/>
                <a:ea typeface="Calibri" pitchFamily="34" charset="-122"/>
                <a:cs typeface="Calibri" pitchFamily="34" charset="-120"/>
              </a:rPr>
              <a:t>lexicon entries</a:t>
            </a:r>
            <a:endParaRPr lang="en-US" sz="1100" dirty="0"/>
          </a:p>
          <a:p>
            <a:pPr algn="ctr" indent="0" marL="0">
              <a:buNone/>
            </a:pPr>
            <a:r>
              <a:rPr lang="en-US" sz="1100" dirty="0">
                <a:solidFill>
                  <a:srgbClr val="5F6F68"/>
                </a:solidFill>
                <a:latin typeface="Calibri" pitchFamily="34" charset="0"/>
                <a:ea typeface="Calibri" pitchFamily="34" charset="-122"/>
                <a:cs typeface="Calibri" pitchFamily="34" charset="-120"/>
              </a:rPr>
              <a:t>106 attested · 582 dictionary</a:t>
            </a:r>
            <a:endParaRPr lang="en-US" sz="1100" dirty="0"/>
          </a:p>
        </p:txBody>
      </p:sp>
      <p:sp>
        <p:nvSpPr>
          <p:cNvPr id="12" name="Shape 9"/>
          <p:cNvSpPr/>
          <p:nvPr/>
        </p:nvSpPr>
        <p:spPr>
          <a:xfrm>
            <a:off x="4663440" y="1143000"/>
            <a:ext cx="1920240" cy="1508760"/>
          </a:xfrm>
          <a:prstGeom prst="roundRect">
            <a:avLst>
              <a:gd name="adj" fmla="val 4848"/>
            </a:avLst>
          </a:prstGeom>
          <a:solidFill>
            <a:srgbClr val="EEF3F0"/>
          </a:solidFill>
          <a:ln w="12700">
            <a:solidFill>
              <a:srgbClr val="EEF3F0"/>
            </a:solidFill>
            <a:prstDash val="solid"/>
          </a:ln>
        </p:spPr>
      </p:sp>
      <p:sp>
        <p:nvSpPr>
          <p:cNvPr id="13" name="Text 10"/>
          <p:cNvSpPr txBox="1"/>
          <p:nvPr/>
        </p:nvSpPr>
        <p:spPr>
          <a:xfrm>
            <a:off x="4663440" y="1234440"/>
            <a:ext cx="1920240" cy="685800"/>
          </a:xfrm>
          <a:prstGeom prst="rect">
            <a:avLst/>
          </a:prstGeom>
          <a:noFill/>
          <a:ln/>
        </p:spPr>
        <p:txBody>
          <a:bodyPr wrap="square" lIns="0" tIns="0" rIns="0" bIns="0" rtlCol="0" anchor="t"/>
          <a:lstStyle/>
          <a:p>
            <a:pPr algn="ctr" indent="0" marL="0">
              <a:buNone/>
            </a:pPr>
            <a:r>
              <a:rPr lang="en-US" sz="4000" b="1" dirty="0">
                <a:solidFill>
                  <a:srgbClr val="1B6B4F"/>
                </a:solidFill>
                <a:latin typeface="Cambria" pitchFamily="34" charset="0"/>
                <a:ea typeface="Cambria" pitchFamily="34" charset="-122"/>
                <a:cs typeface="Cambria" pitchFamily="34" charset="-120"/>
              </a:rPr>
              <a:t>41</a:t>
            </a:r>
            <a:endParaRPr lang="en-US" sz="4000" dirty="0"/>
          </a:p>
        </p:txBody>
      </p:sp>
      <p:sp>
        <p:nvSpPr>
          <p:cNvPr id="14" name="Text 11"/>
          <p:cNvSpPr txBox="1"/>
          <p:nvPr/>
        </p:nvSpPr>
        <p:spPr>
          <a:xfrm>
            <a:off x="4754880" y="1965960"/>
            <a:ext cx="1737360" cy="594360"/>
          </a:xfrm>
          <a:prstGeom prst="rect">
            <a:avLst/>
          </a:prstGeom>
          <a:noFill/>
          <a:ln/>
        </p:spPr>
        <p:txBody>
          <a:bodyPr wrap="square" lIns="0" tIns="0" rIns="0" bIns="0" rtlCol="0" anchor="t"/>
          <a:lstStyle/>
          <a:p>
            <a:pPr algn="ctr" indent="0" marL="0">
              <a:buNone/>
            </a:pPr>
            <a:r>
              <a:rPr lang="en-US" sz="1100" dirty="0">
                <a:solidFill>
                  <a:srgbClr val="5F6F68"/>
                </a:solidFill>
                <a:latin typeface="Calibri" pitchFamily="34" charset="0"/>
                <a:ea typeface="Calibri" pitchFamily="34" charset="-122"/>
                <a:cs typeface="Calibri" pitchFamily="34" charset="-120"/>
              </a:rPr>
              <a:t>LL(1) productions</a:t>
            </a:r>
            <a:endParaRPr lang="en-US" sz="1100" dirty="0"/>
          </a:p>
          <a:p>
            <a:pPr algn="ctr" indent="0" marL="0">
              <a:buNone/>
            </a:pPr>
            <a:r>
              <a:rPr lang="en-US" sz="1100" dirty="0">
                <a:solidFill>
                  <a:srgbClr val="5F6F68"/>
                </a:solidFill>
                <a:latin typeface="Calibri" pitchFamily="34" charset="0"/>
                <a:ea typeface="Calibri" pitchFamily="34" charset="-122"/>
                <a:cs typeface="Calibri" pitchFamily="34" charset="-120"/>
              </a:rPr>
              <a:t>from 37 authored</a:t>
            </a:r>
            <a:endParaRPr lang="en-US" sz="1100" dirty="0"/>
          </a:p>
        </p:txBody>
      </p:sp>
      <p:sp>
        <p:nvSpPr>
          <p:cNvPr id="15" name="Shape 12"/>
          <p:cNvSpPr/>
          <p:nvPr/>
        </p:nvSpPr>
        <p:spPr>
          <a:xfrm>
            <a:off x="6766560" y="1143000"/>
            <a:ext cx="1920240" cy="1508760"/>
          </a:xfrm>
          <a:prstGeom prst="roundRect">
            <a:avLst>
              <a:gd name="adj" fmla="val 4848"/>
            </a:avLst>
          </a:prstGeom>
          <a:solidFill>
            <a:srgbClr val="EEF3F0"/>
          </a:solidFill>
          <a:ln w="12700">
            <a:solidFill>
              <a:srgbClr val="EEF3F0"/>
            </a:solidFill>
            <a:prstDash val="solid"/>
          </a:ln>
        </p:spPr>
      </p:sp>
      <p:sp>
        <p:nvSpPr>
          <p:cNvPr id="16" name="Text 13"/>
          <p:cNvSpPr txBox="1"/>
          <p:nvPr/>
        </p:nvSpPr>
        <p:spPr>
          <a:xfrm>
            <a:off x="6766560" y="1234440"/>
            <a:ext cx="1920240" cy="685800"/>
          </a:xfrm>
          <a:prstGeom prst="rect">
            <a:avLst/>
          </a:prstGeom>
          <a:noFill/>
          <a:ln/>
        </p:spPr>
        <p:txBody>
          <a:bodyPr wrap="square" lIns="0" tIns="0" rIns="0" bIns="0" rtlCol="0" anchor="t"/>
          <a:lstStyle/>
          <a:p>
            <a:pPr algn="ctr" indent="0" marL="0">
              <a:buNone/>
            </a:pPr>
            <a:r>
              <a:rPr lang="en-US" sz="4000" b="1" dirty="0">
                <a:solidFill>
                  <a:srgbClr val="1B6B4F"/>
                </a:solidFill>
                <a:latin typeface="Cambria" pitchFamily="34" charset="0"/>
                <a:ea typeface="Cambria" pitchFamily="34" charset="-122"/>
                <a:cs typeface="Cambria" pitchFamily="34" charset="-120"/>
              </a:rPr>
              <a:t>158</a:t>
            </a:r>
            <a:endParaRPr lang="en-US" sz="4000" dirty="0"/>
          </a:p>
        </p:txBody>
      </p:sp>
      <p:sp>
        <p:nvSpPr>
          <p:cNvPr id="17" name="Text 14"/>
          <p:cNvSpPr txBox="1"/>
          <p:nvPr/>
        </p:nvSpPr>
        <p:spPr>
          <a:xfrm>
            <a:off x="6858000" y="1965960"/>
            <a:ext cx="1737360" cy="594360"/>
          </a:xfrm>
          <a:prstGeom prst="rect">
            <a:avLst/>
          </a:prstGeom>
          <a:noFill/>
          <a:ln/>
        </p:spPr>
        <p:txBody>
          <a:bodyPr wrap="square" lIns="0" tIns="0" rIns="0" bIns="0" rtlCol="0" anchor="t"/>
          <a:lstStyle/>
          <a:p>
            <a:pPr algn="ctr" indent="0" marL="0">
              <a:buNone/>
            </a:pPr>
            <a:r>
              <a:rPr lang="en-US" sz="1100" dirty="0">
                <a:solidFill>
                  <a:srgbClr val="5F6F68"/>
                </a:solidFill>
                <a:latin typeface="Calibri" pitchFamily="34" charset="0"/>
                <a:ea typeface="Calibri" pitchFamily="34" charset="-122"/>
                <a:cs typeface="Calibri" pitchFamily="34" charset="-120"/>
              </a:rPr>
              <a:t>backend tests</a:t>
            </a:r>
            <a:endParaRPr lang="en-US" sz="1100" dirty="0"/>
          </a:p>
          <a:p>
            <a:pPr algn="ctr" indent="0" marL="0">
              <a:buNone/>
            </a:pPr>
            <a:r>
              <a:rPr lang="en-US" sz="1100" dirty="0">
                <a:solidFill>
                  <a:srgbClr val="5F6F68"/>
                </a:solidFill>
                <a:latin typeface="Calibri" pitchFamily="34" charset="0"/>
                <a:ea typeface="Calibri" pitchFamily="34" charset="-122"/>
                <a:cs typeface="Calibri" pitchFamily="34" charset="-120"/>
              </a:rPr>
              <a:t>84 end-to-end scenarios</a:t>
            </a:r>
            <a:endParaRPr lang="en-US" sz="1100" dirty="0"/>
          </a:p>
        </p:txBody>
      </p:sp>
      <p:sp>
        <p:nvSpPr>
          <p:cNvPr id="18" name="Shape 15"/>
          <p:cNvSpPr/>
          <p:nvPr/>
        </p:nvSpPr>
        <p:spPr>
          <a:xfrm>
            <a:off x="457200" y="2880360"/>
            <a:ext cx="2651760" cy="1691640"/>
          </a:xfrm>
          <a:prstGeom prst="roundRect">
            <a:avLst>
              <a:gd name="adj" fmla="val 4324"/>
            </a:avLst>
          </a:prstGeom>
          <a:solidFill>
            <a:srgbClr val="FFFFFF"/>
          </a:solidFill>
          <a:ln w="12700">
            <a:solidFill>
              <a:srgbClr val="FFFFFF"/>
            </a:solidFill>
            <a:prstDash val="solid"/>
          </a:ln>
        </p:spPr>
      </p:sp>
      <p:sp>
        <p:nvSpPr>
          <p:cNvPr id="19" name="Shape 16"/>
          <p:cNvSpPr/>
          <p:nvPr/>
        </p:nvSpPr>
        <p:spPr>
          <a:xfrm>
            <a:off x="457200" y="2880360"/>
            <a:ext cx="2651760" cy="1691640"/>
          </a:xfrm>
          <a:prstGeom prst="roundRect">
            <a:avLst>
              <a:gd name="adj" fmla="val 4324"/>
            </a:avLst>
          </a:prstGeom>
          <a:solidFill>
            <a:srgbClr val="FFFFFF"/>
          </a:solidFill>
          <a:ln w="12700">
            <a:solidFill>
              <a:srgbClr val="CBD8D2"/>
            </a:solidFill>
            <a:prstDash val="solid"/>
          </a:ln>
        </p:spPr>
      </p:sp>
      <p:sp>
        <p:nvSpPr>
          <p:cNvPr id="20" name="Text 17"/>
          <p:cNvSpPr txBox="1"/>
          <p:nvPr/>
        </p:nvSpPr>
        <p:spPr>
          <a:xfrm>
            <a:off x="640080" y="3017520"/>
            <a:ext cx="2286000" cy="457200"/>
          </a:xfrm>
          <a:prstGeom prst="rect">
            <a:avLst/>
          </a:prstGeom>
          <a:noFill/>
          <a:ln/>
        </p:spPr>
        <p:txBody>
          <a:bodyPr wrap="square" lIns="0" tIns="0" rIns="0" bIns="0" rtlCol="0" anchor="t"/>
          <a:lstStyle/>
          <a:p>
            <a:pPr indent="0" marL="0">
              <a:buNone/>
            </a:pPr>
            <a:r>
              <a:rPr lang="en-US" sz="1250" b="1" dirty="0">
                <a:solidFill>
                  <a:srgbClr val="0F3D2E"/>
                </a:solidFill>
                <a:latin typeface="Calibri" pitchFamily="34" charset="0"/>
                <a:ea typeface="Calibri" pitchFamily="34" charset="-122"/>
                <a:cs typeface="Calibri" pitchFamily="34" charset="-120"/>
              </a:rPr>
              <a:t>Kamdeu Yamdjeuson Neil Marshall</a:t>
            </a:r>
            <a:endParaRPr lang="en-US" sz="1250" dirty="0"/>
          </a:p>
        </p:txBody>
      </p:sp>
      <p:sp>
        <p:nvSpPr>
          <p:cNvPr id="21" name="Text 18"/>
          <p:cNvSpPr txBox="1"/>
          <p:nvPr/>
        </p:nvSpPr>
        <p:spPr>
          <a:xfrm>
            <a:off x="640080" y="3520440"/>
            <a:ext cx="2286000" cy="201168"/>
          </a:xfrm>
          <a:prstGeom prst="rect">
            <a:avLst/>
          </a:prstGeom>
          <a:noFill/>
          <a:ln/>
        </p:spPr>
        <p:txBody>
          <a:bodyPr wrap="square" lIns="0" tIns="0" rIns="0" bIns="0" rtlCol="0" anchor="t"/>
          <a:lstStyle/>
          <a:p>
            <a:pPr indent="0" marL="0">
              <a:buNone/>
            </a:pPr>
            <a:r>
              <a:rPr lang="en-US" sz="1000" dirty="0">
                <a:solidFill>
                  <a:srgbClr val="5F6F68"/>
                </a:solidFill>
                <a:latin typeface="Courier New" pitchFamily="34" charset="0"/>
                <a:ea typeface="Courier New" pitchFamily="34" charset="-122"/>
                <a:cs typeface="Courier New" pitchFamily="34" charset="-120"/>
              </a:rPr>
              <a:t>ICTU20241386</a:t>
            </a:r>
            <a:endParaRPr lang="en-US" sz="1000" dirty="0"/>
          </a:p>
        </p:txBody>
      </p:sp>
      <p:sp>
        <p:nvSpPr>
          <p:cNvPr id="22" name="Text 19"/>
          <p:cNvSpPr txBox="1"/>
          <p:nvPr/>
        </p:nvSpPr>
        <p:spPr>
          <a:xfrm>
            <a:off x="640080" y="3794760"/>
            <a:ext cx="2286000" cy="685800"/>
          </a:xfrm>
          <a:prstGeom prst="rect">
            <a:avLst/>
          </a:prstGeom>
          <a:noFill/>
          <a:ln/>
        </p:spPr>
        <p:txBody>
          <a:bodyPr wrap="square" lIns="0" tIns="0" rIns="0" bIns="0" rtlCol="0" anchor="t"/>
          <a:lstStyle/>
          <a:p>
            <a:pPr indent="0" marL="0">
              <a:buNone/>
            </a:pPr>
            <a:r>
              <a:rPr lang="en-US" sz="1150" dirty="0">
                <a:solidFill>
                  <a:srgbClr val="1F2A26"/>
                </a:solidFill>
                <a:latin typeface="Calibri" pitchFamily="34" charset="0"/>
                <a:ea typeface="Calibri" pitchFamily="34" charset="-122"/>
                <a:cs typeface="Calibri" pitchFamily="34" charset="-120"/>
              </a:rPr>
              <a:t>Grammar design, LL(1) transformation, parser, architecture</a:t>
            </a:r>
            <a:endParaRPr lang="en-US" sz="1150" dirty="0"/>
          </a:p>
        </p:txBody>
      </p:sp>
      <p:sp>
        <p:nvSpPr>
          <p:cNvPr id="23" name="Shape 20"/>
          <p:cNvSpPr/>
          <p:nvPr/>
        </p:nvSpPr>
        <p:spPr>
          <a:xfrm>
            <a:off x="3246120" y="2880360"/>
            <a:ext cx="2651760" cy="1691640"/>
          </a:xfrm>
          <a:prstGeom prst="roundRect">
            <a:avLst>
              <a:gd name="adj" fmla="val 4324"/>
            </a:avLst>
          </a:prstGeom>
          <a:solidFill>
            <a:srgbClr val="FFFFFF"/>
          </a:solidFill>
          <a:ln w="12700">
            <a:solidFill>
              <a:srgbClr val="FFFFFF"/>
            </a:solidFill>
            <a:prstDash val="solid"/>
          </a:ln>
        </p:spPr>
      </p:sp>
      <p:sp>
        <p:nvSpPr>
          <p:cNvPr id="24" name="Shape 21"/>
          <p:cNvSpPr/>
          <p:nvPr/>
        </p:nvSpPr>
        <p:spPr>
          <a:xfrm>
            <a:off x="3246120" y="2880360"/>
            <a:ext cx="2651760" cy="1691640"/>
          </a:xfrm>
          <a:prstGeom prst="roundRect">
            <a:avLst>
              <a:gd name="adj" fmla="val 4324"/>
            </a:avLst>
          </a:prstGeom>
          <a:solidFill>
            <a:srgbClr val="FFFFFF"/>
          </a:solidFill>
          <a:ln w="12700">
            <a:solidFill>
              <a:srgbClr val="CBD8D2"/>
            </a:solidFill>
            <a:prstDash val="solid"/>
          </a:ln>
        </p:spPr>
      </p:sp>
      <p:sp>
        <p:nvSpPr>
          <p:cNvPr id="25" name="Text 22"/>
          <p:cNvSpPr txBox="1"/>
          <p:nvPr/>
        </p:nvSpPr>
        <p:spPr>
          <a:xfrm>
            <a:off x="3429000" y="3017520"/>
            <a:ext cx="2286000" cy="457200"/>
          </a:xfrm>
          <a:prstGeom prst="rect">
            <a:avLst/>
          </a:prstGeom>
          <a:noFill/>
          <a:ln/>
        </p:spPr>
        <p:txBody>
          <a:bodyPr wrap="square" lIns="0" tIns="0" rIns="0" bIns="0" rtlCol="0" anchor="t"/>
          <a:lstStyle/>
          <a:p>
            <a:pPr indent="0" marL="0">
              <a:buNone/>
            </a:pPr>
            <a:r>
              <a:rPr lang="en-US" sz="1250" b="1" dirty="0">
                <a:solidFill>
                  <a:srgbClr val="0F3D2E"/>
                </a:solidFill>
                <a:latin typeface="Calibri" pitchFamily="34" charset="0"/>
                <a:ea typeface="Calibri" pitchFamily="34" charset="-122"/>
                <a:cs typeface="Calibri" pitchFamily="34" charset="-120"/>
              </a:rPr>
              <a:t>Eyong Seanna Tabe</a:t>
            </a:r>
            <a:endParaRPr lang="en-US" sz="1250" dirty="0"/>
          </a:p>
        </p:txBody>
      </p:sp>
      <p:sp>
        <p:nvSpPr>
          <p:cNvPr id="26" name="Text 23"/>
          <p:cNvSpPr txBox="1"/>
          <p:nvPr/>
        </p:nvSpPr>
        <p:spPr>
          <a:xfrm>
            <a:off x="3429000" y="3520440"/>
            <a:ext cx="2286000" cy="201168"/>
          </a:xfrm>
          <a:prstGeom prst="rect">
            <a:avLst/>
          </a:prstGeom>
          <a:noFill/>
          <a:ln/>
        </p:spPr>
        <p:txBody>
          <a:bodyPr wrap="square" lIns="0" tIns="0" rIns="0" bIns="0" rtlCol="0" anchor="t"/>
          <a:lstStyle/>
          <a:p>
            <a:pPr indent="0" marL="0">
              <a:buNone/>
            </a:pPr>
            <a:r>
              <a:rPr lang="en-US" sz="1000" dirty="0">
                <a:solidFill>
                  <a:srgbClr val="5F6F68"/>
                </a:solidFill>
                <a:latin typeface="Courier New" pitchFamily="34" charset="0"/>
                <a:ea typeface="Courier New" pitchFamily="34" charset="-122"/>
                <a:cs typeface="Courier New" pitchFamily="34" charset="-120"/>
              </a:rPr>
              <a:t>ICTU20241297</a:t>
            </a:r>
            <a:endParaRPr lang="en-US" sz="1000" dirty="0"/>
          </a:p>
        </p:txBody>
      </p:sp>
      <p:sp>
        <p:nvSpPr>
          <p:cNvPr id="27" name="Text 24"/>
          <p:cNvSpPr txBox="1"/>
          <p:nvPr/>
        </p:nvSpPr>
        <p:spPr>
          <a:xfrm>
            <a:off x="3429000" y="3794760"/>
            <a:ext cx="2286000" cy="685800"/>
          </a:xfrm>
          <a:prstGeom prst="rect">
            <a:avLst/>
          </a:prstGeom>
          <a:noFill/>
          <a:ln/>
        </p:spPr>
        <p:txBody>
          <a:bodyPr wrap="square" lIns="0" tIns="0" rIns="0" bIns="0" rtlCol="0" anchor="t"/>
          <a:lstStyle/>
          <a:p>
            <a:pPr indent="0" marL="0">
              <a:buNone/>
            </a:pPr>
            <a:r>
              <a:rPr lang="en-US" sz="1150" dirty="0">
                <a:solidFill>
                  <a:srgbClr val="1F2A26"/>
                </a:solidFill>
                <a:latin typeface="Calibri" pitchFamily="34" charset="0"/>
                <a:ea typeface="Calibri" pitchFamily="34" charset="-122"/>
                <a:cs typeface="Calibri" pitchFamily="34" charset="-120"/>
              </a:rPr>
              <a:t>Lexicon curation, token classification, frequency analysis</a:t>
            </a:r>
            <a:endParaRPr lang="en-US" sz="1150" dirty="0"/>
          </a:p>
        </p:txBody>
      </p:sp>
      <p:sp>
        <p:nvSpPr>
          <p:cNvPr id="28" name="Shape 25"/>
          <p:cNvSpPr/>
          <p:nvPr/>
        </p:nvSpPr>
        <p:spPr>
          <a:xfrm>
            <a:off x="6035040" y="2880360"/>
            <a:ext cx="2651760" cy="1691640"/>
          </a:xfrm>
          <a:prstGeom prst="roundRect">
            <a:avLst>
              <a:gd name="adj" fmla="val 4324"/>
            </a:avLst>
          </a:prstGeom>
          <a:solidFill>
            <a:srgbClr val="FFFFFF"/>
          </a:solidFill>
          <a:ln w="12700">
            <a:solidFill>
              <a:srgbClr val="FFFFFF"/>
            </a:solidFill>
            <a:prstDash val="solid"/>
          </a:ln>
        </p:spPr>
      </p:sp>
      <p:sp>
        <p:nvSpPr>
          <p:cNvPr id="29" name="Shape 26"/>
          <p:cNvSpPr/>
          <p:nvPr/>
        </p:nvSpPr>
        <p:spPr>
          <a:xfrm>
            <a:off x="6035040" y="2880360"/>
            <a:ext cx="2651760" cy="1691640"/>
          </a:xfrm>
          <a:prstGeom prst="roundRect">
            <a:avLst>
              <a:gd name="adj" fmla="val 4324"/>
            </a:avLst>
          </a:prstGeom>
          <a:solidFill>
            <a:srgbClr val="FFFFFF"/>
          </a:solidFill>
          <a:ln w="12700">
            <a:solidFill>
              <a:srgbClr val="CBD8D2"/>
            </a:solidFill>
            <a:prstDash val="solid"/>
          </a:ln>
        </p:spPr>
      </p:sp>
      <p:sp>
        <p:nvSpPr>
          <p:cNvPr id="30" name="Text 27"/>
          <p:cNvSpPr txBox="1"/>
          <p:nvPr/>
        </p:nvSpPr>
        <p:spPr>
          <a:xfrm>
            <a:off x="6217920" y="3017520"/>
            <a:ext cx="2286000" cy="457200"/>
          </a:xfrm>
          <a:prstGeom prst="rect">
            <a:avLst/>
          </a:prstGeom>
          <a:noFill/>
          <a:ln/>
        </p:spPr>
        <p:txBody>
          <a:bodyPr wrap="square" lIns="0" tIns="0" rIns="0" bIns="0" rtlCol="0" anchor="t"/>
          <a:lstStyle/>
          <a:p>
            <a:pPr indent="0" marL="0">
              <a:buNone/>
            </a:pPr>
            <a:r>
              <a:rPr lang="en-US" sz="1250" b="1" dirty="0">
                <a:solidFill>
                  <a:srgbClr val="0F3D2E"/>
                </a:solidFill>
                <a:latin typeface="Calibri" pitchFamily="34" charset="0"/>
                <a:ea typeface="Calibri" pitchFamily="34" charset="-122"/>
                <a:cs typeface="Calibri" pitchFamily="34" charset="-120"/>
              </a:rPr>
              <a:t>Tuheu Tchoubi Pempeme Moussa Fahdil</a:t>
            </a:r>
            <a:endParaRPr lang="en-US" sz="1250" dirty="0"/>
          </a:p>
        </p:txBody>
      </p:sp>
      <p:sp>
        <p:nvSpPr>
          <p:cNvPr id="31" name="Text 28"/>
          <p:cNvSpPr txBox="1"/>
          <p:nvPr/>
        </p:nvSpPr>
        <p:spPr>
          <a:xfrm>
            <a:off x="6217920" y="3520440"/>
            <a:ext cx="2286000" cy="201168"/>
          </a:xfrm>
          <a:prstGeom prst="rect">
            <a:avLst/>
          </a:prstGeom>
          <a:noFill/>
          <a:ln/>
        </p:spPr>
        <p:txBody>
          <a:bodyPr wrap="square" lIns="0" tIns="0" rIns="0" bIns="0" rtlCol="0" anchor="t"/>
          <a:lstStyle/>
          <a:p>
            <a:pPr indent="0" marL="0">
              <a:buNone/>
            </a:pPr>
            <a:r>
              <a:rPr lang="en-US" sz="1000" dirty="0">
                <a:solidFill>
                  <a:srgbClr val="5F6F68"/>
                </a:solidFill>
                <a:latin typeface="Courier New" pitchFamily="34" charset="0"/>
                <a:ea typeface="Courier New" pitchFamily="34" charset="-122"/>
                <a:cs typeface="Courier New" pitchFamily="34" charset="-120"/>
              </a:rPr>
              <a:t>ICTU20241393</a:t>
            </a:r>
            <a:endParaRPr lang="en-US" sz="1000" dirty="0"/>
          </a:p>
        </p:txBody>
      </p:sp>
      <p:sp>
        <p:nvSpPr>
          <p:cNvPr id="32" name="Text 29"/>
          <p:cNvSpPr txBox="1"/>
          <p:nvPr/>
        </p:nvSpPr>
        <p:spPr>
          <a:xfrm>
            <a:off x="6217920" y="3794760"/>
            <a:ext cx="2286000" cy="685800"/>
          </a:xfrm>
          <a:prstGeom prst="rect">
            <a:avLst/>
          </a:prstGeom>
          <a:noFill/>
          <a:ln/>
        </p:spPr>
        <p:txBody>
          <a:bodyPr wrap="square" lIns="0" tIns="0" rIns="0" bIns="0" rtlCol="0" anchor="t"/>
          <a:lstStyle/>
          <a:p>
            <a:pPr indent="0" marL="0">
              <a:buNone/>
            </a:pPr>
            <a:r>
              <a:rPr lang="en-US" sz="1150" dirty="0">
                <a:solidFill>
                  <a:srgbClr val="1F2A26"/>
                </a:solidFill>
                <a:latin typeface="Calibri" pitchFamily="34" charset="0"/>
                <a:ea typeface="Calibri" pitchFamily="34" charset="-122"/>
                <a:cs typeface="Calibri" pitchFamily="34" charset="-120"/>
              </a:rPr>
              <a:t>Corpus tooling, provenance validation, web interface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Requirements: 4 actors, 32 FR, 8 NFR</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5</a:t>
            </a:r>
            <a:endParaRPr lang="en-US" sz="900" dirty="0"/>
          </a:p>
        </p:txBody>
      </p:sp>
      <p:sp>
        <p:nvSpPr>
          <p:cNvPr id="6" name="Shape 3"/>
          <p:cNvSpPr/>
          <p:nvPr/>
        </p:nvSpPr>
        <p:spPr>
          <a:xfrm>
            <a:off x="457200" y="1143000"/>
            <a:ext cx="4023360" cy="731520"/>
          </a:xfrm>
          <a:prstGeom prst="roundRect">
            <a:avLst>
              <a:gd name="adj" fmla="val 10000"/>
            </a:avLst>
          </a:prstGeom>
          <a:solidFill>
            <a:srgbClr val="EEF3F0"/>
          </a:solidFill>
          <a:ln w="12700">
            <a:solidFill>
              <a:srgbClr val="EEF3F0"/>
            </a:solidFill>
            <a:prstDash val="solid"/>
          </a:ln>
        </p:spPr>
      </p:sp>
      <p:sp>
        <p:nvSpPr>
          <p:cNvPr id="7" name="Shape 4"/>
          <p:cNvSpPr/>
          <p:nvPr/>
        </p:nvSpPr>
        <p:spPr>
          <a:xfrm>
            <a:off x="594360" y="1325880"/>
            <a:ext cx="365760" cy="365760"/>
          </a:xfrm>
          <a:prstGeom prst="ellipse">
            <a:avLst/>
          </a:prstGeom>
          <a:solidFill>
            <a:srgbClr val="0F3D2E"/>
          </a:solidFill>
          <a:ln w="12700">
            <a:solidFill>
              <a:srgbClr val="0F3D2E"/>
            </a:solidFill>
            <a:prstDash val="solid"/>
          </a:ln>
        </p:spPr>
      </p:sp>
      <p:sp>
        <p:nvSpPr>
          <p:cNvPr id="8" name="Text 5"/>
          <p:cNvSpPr txBox="1"/>
          <p:nvPr/>
        </p:nvSpPr>
        <p:spPr>
          <a:xfrm>
            <a:off x="594360" y="1325880"/>
            <a:ext cx="365760" cy="365760"/>
          </a:xfrm>
          <a:prstGeom prst="rect">
            <a:avLst/>
          </a:prstGeom>
          <a:noFill/>
          <a:ln/>
        </p:spPr>
        <p:txBody>
          <a:bodyPr wrap="square" lIns="0" tIns="0" rIns="0" bIns="0" rtlCol="0" anchor="ctr"/>
          <a:lstStyle/>
          <a:p>
            <a:pPr algn="ctr" indent="0" marL="0">
              <a:buNone/>
            </a:pPr>
            <a:r>
              <a:rPr lang="en-US" sz="1400" b="1" dirty="0">
                <a:solidFill>
                  <a:srgbClr val="D9B44A"/>
                </a:solidFill>
                <a:latin typeface="Calibri" pitchFamily="34" charset="0"/>
                <a:ea typeface="Calibri" pitchFamily="34" charset="-122"/>
                <a:cs typeface="Calibri" pitchFamily="34" charset="-120"/>
              </a:rPr>
              <a:t>V</a:t>
            </a:r>
            <a:endParaRPr lang="en-US" sz="1400" dirty="0"/>
          </a:p>
        </p:txBody>
      </p:sp>
      <p:sp>
        <p:nvSpPr>
          <p:cNvPr id="9" name="Text 6"/>
          <p:cNvSpPr txBox="1"/>
          <p:nvPr/>
        </p:nvSpPr>
        <p:spPr>
          <a:xfrm>
            <a:off x="1097280" y="1234440"/>
            <a:ext cx="3200400" cy="256032"/>
          </a:xfrm>
          <a:prstGeom prst="rect">
            <a:avLst/>
          </a:prstGeom>
          <a:noFill/>
          <a:ln/>
        </p:spPr>
        <p:txBody>
          <a:bodyPr wrap="square" lIns="0" tIns="0" rIns="0" bIns="0" rtlCol="0" anchor="t"/>
          <a:lstStyle/>
          <a:p>
            <a:pPr indent="0" marL="0">
              <a:buNone/>
            </a:pPr>
            <a:r>
              <a:rPr lang="en-US" sz="1400" b="1" dirty="0">
                <a:solidFill>
                  <a:srgbClr val="0F3D2E"/>
                </a:solidFill>
                <a:latin typeface="Calibri" pitchFamily="34" charset="0"/>
                <a:ea typeface="Calibri" pitchFamily="34" charset="-122"/>
                <a:cs typeface="Calibri" pitchFamily="34" charset="-120"/>
              </a:rPr>
              <a:t>Visitor</a:t>
            </a:r>
            <a:endParaRPr lang="en-US" sz="1400" dirty="0"/>
          </a:p>
        </p:txBody>
      </p:sp>
      <p:sp>
        <p:nvSpPr>
          <p:cNvPr id="10" name="Text 7"/>
          <p:cNvSpPr txBox="1"/>
          <p:nvPr/>
        </p:nvSpPr>
        <p:spPr>
          <a:xfrm>
            <a:off x="1097280" y="1508760"/>
            <a:ext cx="3291840" cy="320040"/>
          </a:xfrm>
          <a:prstGeom prst="rect">
            <a:avLst/>
          </a:prstGeom>
          <a:noFill/>
          <a:ln/>
        </p:spPr>
        <p:txBody>
          <a:bodyPr wrap="square" lIns="0" tIns="0" rIns="0" bIns="0" rtlCol="0" anchor="t"/>
          <a:lstStyle/>
          <a:p>
            <a:pPr indent="0" marL="0">
              <a:buNone/>
            </a:pPr>
            <a:r>
              <a:rPr lang="en-US" sz="1100" dirty="0">
                <a:solidFill>
                  <a:srgbClr val="1F2A26"/>
                </a:solidFill>
                <a:latin typeface="Calibri" pitchFamily="34" charset="0"/>
                <a:ea typeface="Calibri" pitchFamily="34" charset="-122"/>
                <a:cs typeface="Calibri" pitchFamily="34" charset="-120"/>
              </a:rPr>
              <a:t>Analyse free text, read meanings, request repair hints</a:t>
            </a:r>
            <a:endParaRPr lang="en-US" sz="1100" dirty="0"/>
          </a:p>
        </p:txBody>
      </p:sp>
      <p:sp>
        <p:nvSpPr>
          <p:cNvPr id="11" name="Shape 8"/>
          <p:cNvSpPr/>
          <p:nvPr/>
        </p:nvSpPr>
        <p:spPr>
          <a:xfrm>
            <a:off x="457200" y="1984248"/>
            <a:ext cx="4023360" cy="731520"/>
          </a:xfrm>
          <a:prstGeom prst="roundRect">
            <a:avLst>
              <a:gd name="adj" fmla="val 10000"/>
            </a:avLst>
          </a:prstGeom>
          <a:solidFill>
            <a:srgbClr val="EEF3F0"/>
          </a:solidFill>
          <a:ln w="12700">
            <a:solidFill>
              <a:srgbClr val="EEF3F0"/>
            </a:solidFill>
            <a:prstDash val="solid"/>
          </a:ln>
        </p:spPr>
      </p:sp>
      <p:sp>
        <p:nvSpPr>
          <p:cNvPr id="12" name="Shape 9"/>
          <p:cNvSpPr/>
          <p:nvPr/>
        </p:nvSpPr>
        <p:spPr>
          <a:xfrm>
            <a:off x="594360" y="2167128"/>
            <a:ext cx="365760" cy="365760"/>
          </a:xfrm>
          <a:prstGeom prst="ellipse">
            <a:avLst/>
          </a:prstGeom>
          <a:solidFill>
            <a:srgbClr val="0F3D2E"/>
          </a:solidFill>
          <a:ln w="12700">
            <a:solidFill>
              <a:srgbClr val="0F3D2E"/>
            </a:solidFill>
            <a:prstDash val="solid"/>
          </a:ln>
        </p:spPr>
      </p:sp>
      <p:sp>
        <p:nvSpPr>
          <p:cNvPr id="13" name="Text 10"/>
          <p:cNvSpPr txBox="1"/>
          <p:nvPr/>
        </p:nvSpPr>
        <p:spPr>
          <a:xfrm>
            <a:off x="594360" y="2167128"/>
            <a:ext cx="365760" cy="365760"/>
          </a:xfrm>
          <a:prstGeom prst="rect">
            <a:avLst/>
          </a:prstGeom>
          <a:noFill/>
          <a:ln/>
        </p:spPr>
        <p:txBody>
          <a:bodyPr wrap="square" lIns="0" tIns="0" rIns="0" bIns="0" rtlCol="0" anchor="ctr"/>
          <a:lstStyle/>
          <a:p>
            <a:pPr algn="ctr" indent="0" marL="0">
              <a:buNone/>
            </a:pPr>
            <a:r>
              <a:rPr lang="en-US" sz="1400" b="1" dirty="0">
                <a:solidFill>
                  <a:srgbClr val="D9B44A"/>
                </a:solidFill>
                <a:latin typeface="Calibri" pitchFamily="34" charset="0"/>
                <a:ea typeface="Calibri" pitchFamily="34" charset="-122"/>
                <a:cs typeface="Calibri" pitchFamily="34" charset="-120"/>
              </a:rPr>
              <a:t>C</a:t>
            </a:r>
            <a:endParaRPr lang="en-US" sz="1400" dirty="0"/>
          </a:p>
        </p:txBody>
      </p:sp>
      <p:sp>
        <p:nvSpPr>
          <p:cNvPr id="14" name="Text 11"/>
          <p:cNvSpPr txBox="1"/>
          <p:nvPr/>
        </p:nvSpPr>
        <p:spPr>
          <a:xfrm>
            <a:off x="1097280" y="2075688"/>
            <a:ext cx="3200400" cy="256032"/>
          </a:xfrm>
          <a:prstGeom prst="rect">
            <a:avLst/>
          </a:prstGeom>
          <a:noFill/>
          <a:ln/>
        </p:spPr>
        <p:txBody>
          <a:bodyPr wrap="square" lIns="0" tIns="0" rIns="0" bIns="0" rtlCol="0" anchor="t"/>
          <a:lstStyle/>
          <a:p>
            <a:pPr indent="0" marL="0">
              <a:buNone/>
            </a:pPr>
            <a:r>
              <a:rPr lang="en-US" sz="1400" b="1" dirty="0">
                <a:solidFill>
                  <a:srgbClr val="0F3D2E"/>
                </a:solidFill>
                <a:latin typeface="Calibri" pitchFamily="34" charset="0"/>
                <a:ea typeface="Calibri" pitchFamily="34" charset="-122"/>
                <a:cs typeface="Calibri" pitchFamily="34" charset="-120"/>
              </a:rPr>
              <a:t>Collector</a:t>
            </a:r>
            <a:endParaRPr lang="en-US" sz="1400" dirty="0"/>
          </a:p>
        </p:txBody>
      </p:sp>
      <p:sp>
        <p:nvSpPr>
          <p:cNvPr id="15" name="Text 12"/>
          <p:cNvSpPr txBox="1"/>
          <p:nvPr/>
        </p:nvSpPr>
        <p:spPr>
          <a:xfrm>
            <a:off x="1097280" y="2350008"/>
            <a:ext cx="3291840" cy="320040"/>
          </a:xfrm>
          <a:prstGeom prst="rect">
            <a:avLst/>
          </a:prstGeom>
          <a:noFill/>
          <a:ln/>
        </p:spPr>
        <p:txBody>
          <a:bodyPr wrap="square" lIns="0" tIns="0" rIns="0" bIns="0" rtlCol="0" anchor="t"/>
          <a:lstStyle/>
          <a:p>
            <a:pPr indent="0" marL="0">
              <a:buNone/>
            </a:pPr>
            <a:r>
              <a:rPr lang="en-US" sz="1100" dirty="0">
                <a:solidFill>
                  <a:srgbClr val="1F2A26"/>
                </a:solidFill>
                <a:latin typeface="Calibri" pitchFamily="34" charset="0"/>
                <a:ea typeface="Calibri" pitchFamily="34" charset="-122"/>
                <a:cs typeface="Calibri" pitchFamily="34" charset="-120"/>
              </a:rPr>
              <a:t>Submit collected statements, edit revisions</a:t>
            </a:r>
            <a:endParaRPr lang="en-US" sz="1100" dirty="0"/>
          </a:p>
        </p:txBody>
      </p:sp>
      <p:sp>
        <p:nvSpPr>
          <p:cNvPr id="16" name="Shape 13"/>
          <p:cNvSpPr/>
          <p:nvPr/>
        </p:nvSpPr>
        <p:spPr>
          <a:xfrm>
            <a:off x="457200" y="2825496"/>
            <a:ext cx="4023360" cy="731520"/>
          </a:xfrm>
          <a:prstGeom prst="roundRect">
            <a:avLst>
              <a:gd name="adj" fmla="val 10000"/>
            </a:avLst>
          </a:prstGeom>
          <a:solidFill>
            <a:srgbClr val="EEF3F0"/>
          </a:solidFill>
          <a:ln w="12700">
            <a:solidFill>
              <a:srgbClr val="EEF3F0"/>
            </a:solidFill>
            <a:prstDash val="solid"/>
          </a:ln>
        </p:spPr>
      </p:sp>
      <p:sp>
        <p:nvSpPr>
          <p:cNvPr id="17" name="Shape 14"/>
          <p:cNvSpPr/>
          <p:nvPr/>
        </p:nvSpPr>
        <p:spPr>
          <a:xfrm>
            <a:off x="594360" y="3008376"/>
            <a:ext cx="365760" cy="365760"/>
          </a:xfrm>
          <a:prstGeom prst="ellipse">
            <a:avLst/>
          </a:prstGeom>
          <a:solidFill>
            <a:srgbClr val="0F3D2E"/>
          </a:solidFill>
          <a:ln w="12700">
            <a:solidFill>
              <a:srgbClr val="0F3D2E"/>
            </a:solidFill>
            <a:prstDash val="solid"/>
          </a:ln>
        </p:spPr>
      </p:sp>
      <p:sp>
        <p:nvSpPr>
          <p:cNvPr id="18" name="Text 15"/>
          <p:cNvSpPr txBox="1"/>
          <p:nvPr/>
        </p:nvSpPr>
        <p:spPr>
          <a:xfrm>
            <a:off x="594360" y="3008376"/>
            <a:ext cx="365760" cy="365760"/>
          </a:xfrm>
          <a:prstGeom prst="rect">
            <a:avLst/>
          </a:prstGeom>
          <a:noFill/>
          <a:ln/>
        </p:spPr>
        <p:txBody>
          <a:bodyPr wrap="square" lIns="0" tIns="0" rIns="0" bIns="0" rtlCol="0" anchor="ctr"/>
          <a:lstStyle/>
          <a:p>
            <a:pPr algn="ctr" indent="0" marL="0">
              <a:buNone/>
            </a:pPr>
            <a:r>
              <a:rPr lang="en-US" sz="1400" b="1" dirty="0">
                <a:solidFill>
                  <a:srgbClr val="D9B44A"/>
                </a:solidFill>
                <a:latin typeface="Calibri" pitchFamily="34" charset="0"/>
                <a:ea typeface="Calibri" pitchFamily="34" charset="-122"/>
                <a:cs typeface="Calibri" pitchFamily="34" charset="-120"/>
              </a:rPr>
              <a:t>R</a:t>
            </a:r>
            <a:endParaRPr lang="en-US" sz="1400" dirty="0"/>
          </a:p>
        </p:txBody>
      </p:sp>
      <p:sp>
        <p:nvSpPr>
          <p:cNvPr id="19" name="Text 16"/>
          <p:cNvSpPr txBox="1"/>
          <p:nvPr/>
        </p:nvSpPr>
        <p:spPr>
          <a:xfrm>
            <a:off x="1097280" y="2916936"/>
            <a:ext cx="3200400" cy="256032"/>
          </a:xfrm>
          <a:prstGeom prst="rect">
            <a:avLst/>
          </a:prstGeom>
          <a:noFill/>
          <a:ln/>
        </p:spPr>
        <p:txBody>
          <a:bodyPr wrap="square" lIns="0" tIns="0" rIns="0" bIns="0" rtlCol="0" anchor="t"/>
          <a:lstStyle/>
          <a:p>
            <a:pPr indent="0" marL="0">
              <a:buNone/>
            </a:pPr>
            <a:r>
              <a:rPr lang="en-US" sz="1400" b="1" dirty="0">
                <a:solidFill>
                  <a:srgbClr val="0F3D2E"/>
                </a:solidFill>
                <a:latin typeface="Calibri" pitchFamily="34" charset="0"/>
                <a:ea typeface="Calibri" pitchFamily="34" charset="-122"/>
                <a:cs typeface="Calibri" pitchFamily="34" charset="-120"/>
              </a:rPr>
              <a:t>Reviewer</a:t>
            </a:r>
            <a:endParaRPr lang="en-US" sz="1400" dirty="0"/>
          </a:p>
        </p:txBody>
      </p:sp>
      <p:sp>
        <p:nvSpPr>
          <p:cNvPr id="20" name="Text 17"/>
          <p:cNvSpPr txBox="1"/>
          <p:nvPr/>
        </p:nvSpPr>
        <p:spPr>
          <a:xfrm>
            <a:off x="1097280" y="3191256"/>
            <a:ext cx="3291840" cy="320040"/>
          </a:xfrm>
          <a:prstGeom prst="rect">
            <a:avLst/>
          </a:prstGeom>
          <a:noFill/>
          <a:ln/>
        </p:spPr>
        <p:txBody>
          <a:bodyPr wrap="square" lIns="0" tIns="0" rIns="0" bIns="0" rtlCol="0" anchor="t"/>
          <a:lstStyle/>
          <a:p>
            <a:pPr indent="0" marL="0">
              <a:buNone/>
            </a:pPr>
            <a:r>
              <a:rPr lang="en-US" sz="1100" dirty="0">
                <a:solidFill>
                  <a:srgbClr val="1F2A26"/>
                </a:solidFill>
                <a:latin typeface="Calibri" pitchFamily="34" charset="0"/>
                <a:ea typeface="Calibri" pitchFamily="34" charset="-122"/>
                <a:cs typeface="Calibri" pitchFamily="34" charset="-120"/>
              </a:rPr>
              <a:t>Review and publish revisions, view statistics</a:t>
            </a:r>
            <a:endParaRPr lang="en-US" sz="1100" dirty="0"/>
          </a:p>
        </p:txBody>
      </p:sp>
      <p:sp>
        <p:nvSpPr>
          <p:cNvPr id="21" name="Shape 18"/>
          <p:cNvSpPr/>
          <p:nvPr/>
        </p:nvSpPr>
        <p:spPr>
          <a:xfrm>
            <a:off x="457200" y="3666744"/>
            <a:ext cx="4023360" cy="731520"/>
          </a:xfrm>
          <a:prstGeom prst="roundRect">
            <a:avLst>
              <a:gd name="adj" fmla="val 10000"/>
            </a:avLst>
          </a:prstGeom>
          <a:solidFill>
            <a:srgbClr val="EEF3F0"/>
          </a:solidFill>
          <a:ln w="12700">
            <a:solidFill>
              <a:srgbClr val="EEF3F0"/>
            </a:solidFill>
            <a:prstDash val="solid"/>
          </a:ln>
        </p:spPr>
      </p:sp>
      <p:sp>
        <p:nvSpPr>
          <p:cNvPr id="22" name="Shape 19"/>
          <p:cNvSpPr/>
          <p:nvPr/>
        </p:nvSpPr>
        <p:spPr>
          <a:xfrm>
            <a:off x="594360" y="3849624"/>
            <a:ext cx="365760" cy="365760"/>
          </a:xfrm>
          <a:prstGeom prst="ellipse">
            <a:avLst/>
          </a:prstGeom>
          <a:solidFill>
            <a:srgbClr val="0F3D2E"/>
          </a:solidFill>
          <a:ln w="12700">
            <a:solidFill>
              <a:srgbClr val="0F3D2E"/>
            </a:solidFill>
            <a:prstDash val="solid"/>
          </a:ln>
        </p:spPr>
      </p:sp>
      <p:sp>
        <p:nvSpPr>
          <p:cNvPr id="23" name="Text 20"/>
          <p:cNvSpPr txBox="1"/>
          <p:nvPr/>
        </p:nvSpPr>
        <p:spPr>
          <a:xfrm>
            <a:off x="594360" y="3849624"/>
            <a:ext cx="365760" cy="365760"/>
          </a:xfrm>
          <a:prstGeom prst="rect">
            <a:avLst/>
          </a:prstGeom>
          <a:noFill/>
          <a:ln/>
        </p:spPr>
        <p:txBody>
          <a:bodyPr wrap="square" lIns="0" tIns="0" rIns="0" bIns="0" rtlCol="0" anchor="ctr"/>
          <a:lstStyle/>
          <a:p>
            <a:pPr algn="ctr" indent="0" marL="0">
              <a:buNone/>
            </a:pPr>
            <a:r>
              <a:rPr lang="en-US" sz="1400" b="1" dirty="0">
                <a:solidFill>
                  <a:srgbClr val="D9B44A"/>
                </a:solidFill>
                <a:latin typeface="Calibri" pitchFamily="34" charset="0"/>
                <a:ea typeface="Calibri" pitchFamily="34" charset="-122"/>
                <a:cs typeface="Calibri" pitchFamily="34" charset="-120"/>
              </a:rPr>
              <a:t>I</a:t>
            </a:r>
            <a:endParaRPr lang="en-US" sz="1400" dirty="0"/>
          </a:p>
        </p:txBody>
      </p:sp>
      <p:sp>
        <p:nvSpPr>
          <p:cNvPr id="24" name="Text 21"/>
          <p:cNvSpPr txBox="1"/>
          <p:nvPr/>
        </p:nvSpPr>
        <p:spPr>
          <a:xfrm>
            <a:off x="1097280" y="3758184"/>
            <a:ext cx="3200400" cy="256032"/>
          </a:xfrm>
          <a:prstGeom prst="rect">
            <a:avLst/>
          </a:prstGeom>
          <a:noFill/>
          <a:ln/>
        </p:spPr>
        <p:txBody>
          <a:bodyPr wrap="square" lIns="0" tIns="0" rIns="0" bIns="0" rtlCol="0" anchor="t"/>
          <a:lstStyle/>
          <a:p>
            <a:pPr indent="0" marL="0">
              <a:buNone/>
            </a:pPr>
            <a:r>
              <a:rPr lang="en-US" sz="1400" b="1" dirty="0">
                <a:solidFill>
                  <a:srgbClr val="0F3D2E"/>
                </a:solidFill>
                <a:latin typeface="Calibri" pitchFamily="34" charset="0"/>
                <a:ea typeface="Calibri" pitchFamily="34" charset="-122"/>
                <a:cs typeface="Calibri" pitchFamily="34" charset="-120"/>
              </a:rPr>
              <a:t>Instructor</a:t>
            </a:r>
            <a:endParaRPr lang="en-US" sz="1400" dirty="0"/>
          </a:p>
        </p:txBody>
      </p:sp>
      <p:sp>
        <p:nvSpPr>
          <p:cNvPr id="25" name="Text 22"/>
          <p:cNvSpPr txBox="1"/>
          <p:nvPr/>
        </p:nvSpPr>
        <p:spPr>
          <a:xfrm>
            <a:off x="1097280" y="4032504"/>
            <a:ext cx="3291840" cy="320040"/>
          </a:xfrm>
          <a:prstGeom prst="rect">
            <a:avLst/>
          </a:prstGeom>
          <a:noFill/>
          <a:ln/>
        </p:spPr>
        <p:txBody>
          <a:bodyPr wrap="square" lIns="0" tIns="0" rIns="0" bIns="0" rtlCol="0" anchor="t"/>
          <a:lstStyle/>
          <a:p>
            <a:pPr indent="0" marL="0">
              <a:buNone/>
            </a:pPr>
            <a:r>
              <a:rPr lang="en-US" sz="1100" dirty="0">
                <a:solidFill>
                  <a:srgbClr val="1F2A26"/>
                </a:solidFill>
                <a:latin typeface="Calibri" pitchFamily="34" charset="0"/>
                <a:ea typeface="Calibri" pitchFamily="34" charset="-122"/>
                <a:cs typeface="Calibri" pitchFamily="34" charset="-120"/>
              </a:rPr>
              <a:t>Inspect derivation and LL(1) table, export evidence</a:t>
            </a:r>
            <a:endParaRPr lang="en-US" sz="1100" dirty="0"/>
          </a:p>
        </p:txBody>
      </p:sp>
      <p:sp>
        <p:nvSpPr>
          <p:cNvPr id="26" name="Shape 23"/>
          <p:cNvSpPr/>
          <p:nvPr/>
        </p:nvSpPr>
        <p:spPr>
          <a:xfrm>
            <a:off x="4754880" y="1143000"/>
            <a:ext cx="1051560" cy="420624"/>
          </a:xfrm>
          <a:prstGeom prst="roundRect">
            <a:avLst>
              <a:gd name="adj" fmla="val 13043"/>
            </a:avLst>
          </a:prstGeom>
          <a:solidFill>
            <a:srgbClr val="1B6B4F"/>
          </a:solidFill>
          <a:ln w="12700">
            <a:solidFill>
              <a:srgbClr val="1B6B4F"/>
            </a:solidFill>
            <a:prstDash val="solid"/>
          </a:ln>
        </p:spPr>
      </p:sp>
      <p:sp>
        <p:nvSpPr>
          <p:cNvPr id="27" name="Text 24"/>
          <p:cNvSpPr txBox="1"/>
          <p:nvPr/>
        </p:nvSpPr>
        <p:spPr>
          <a:xfrm>
            <a:off x="4754880" y="1143000"/>
            <a:ext cx="105156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FR-1–8</a:t>
            </a:r>
            <a:endParaRPr lang="en-US" sz="1100" dirty="0"/>
          </a:p>
        </p:txBody>
      </p:sp>
      <p:sp>
        <p:nvSpPr>
          <p:cNvPr id="28" name="Text 25"/>
          <p:cNvSpPr txBox="1"/>
          <p:nvPr/>
        </p:nvSpPr>
        <p:spPr>
          <a:xfrm>
            <a:off x="5943600" y="1143000"/>
            <a:ext cx="2743200" cy="420624"/>
          </a:xfrm>
          <a:prstGeom prst="rect">
            <a:avLst/>
          </a:prstGeom>
          <a:noFill/>
          <a:ln/>
        </p:spPr>
        <p:txBody>
          <a:bodyPr wrap="square" lIns="0" tIns="0" rIns="0" bIns="0" rtlCol="0" anchor="ctr"/>
          <a:lstStyle/>
          <a:p>
            <a:pPr indent="0" marL="0">
              <a:buNone/>
            </a:pPr>
            <a:r>
              <a:rPr lang="en-US" sz="1300" dirty="0">
                <a:solidFill>
                  <a:srgbClr val="1F2A26"/>
                </a:solidFill>
                <a:latin typeface="Calibri" pitchFamily="34" charset="0"/>
                <a:ea typeface="Calibri" pitchFamily="34" charset="-122"/>
                <a:cs typeface="Calibri" pitchFamily="34" charset="-120"/>
              </a:rPr>
              <a:t>Corpus &amp; provenance</a:t>
            </a:r>
            <a:endParaRPr lang="en-US" sz="1300" dirty="0"/>
          </a:p>
        </p:txBody>
      </p:sp>
      <p:sp>
        <p:nvSpPr>
          <p:cNvPr id="29" name="Shape 26"/>
          <p:cNvSpPr/>
          <p:nvPr/>
        </p:nvSpPr>
        <p:spPr>
          <a:xfrm>
            <a:off x="4754880" y="1691640"/>
            <a:ext cx="1051560" cy="420624"/>
          </a:xfrm>
          <a:prstGeom prst="roundRect">
            <a:avLst>
              <a:gd name="adj" fmla="val 13043"/>
            </a:avLst>
          </a:prstGeom>
          <a:solidFill>
            <a:srgbClr val="1B6B4F"/>
          </a:solidFill>
          <a:ln w="12700">
            <a:solidFill>
              <a:srgbClr val="1B6B4F"/>
            </a:solidFill>
            <a:prstDash val="solid"/>
          </a:ln>
        </p:spPr>
      </p:sp>
      <p:sp>
        <p:nvSpPr>
          <p:cNvPr id="30" name="Text 27"/>
          <p:cNvSpPr txBox="1"/>
          <p:nvPr/>
        </p:nvSpPr>
        <p:spPr>
          <a:xfrm>
            <a:off x="4754880" y="1691640"/>
            <a:ext cx="105156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FR-9–17</a:t>
            </a:r>
            <a:endParaRPr lang="en-US" sz="1100" dirty="0"/>
          </a:p>
        </p:txBody>
      </p:sp>
      <p:sp>
        <p:nvSpPr>
          <p:cNvPr id="31" name="Text 28"/>
          <p:cNvSpPr txBox="1"/>
          <p:nvPr/>
        </p:nvSpPr>
        <p:spPr>
          <a:xfrm>
            <a:off x="5943600" y="1691640"/>
            <a:ext cx="2743200" cy="420624"/>
          </a:xfrm>
          <a:prstGeom prst="rect">
            <a:avLst/>
          </a:prstGeom>
          <a:noFill/>
          <a:ln/>
        </p:spPr>
        <p:txBody>
          <a:bodyPr wrap="square" lIns="0" tIns="0" rIns="0" bIns="0" rtlCol="0" anchor="ctr"/>
          <a:lstStyle/>
          <a:p>
            <a:pPr indent="0" marL="0">
              <a:buNone/>
            </a:pPr>
            <a:r>
              <a:rPr lang="en-US" sz="1300" dirty="0">
                <a:solidFill>
                  <a:srgbClr val="1F2A26"/>
                </a:solidFill>
                <a:latin typeface="Calibri" pitchFamily="34" charset="0"/>
                <a:ea typeface="Calibri" pitchFamily="34" charset="-122"/>
                <a:cs typeface="Calibri" pitchFamily="34" charset="-120"/>
              </a:rPr>
              <a:t>Lexical analysis</a:t>
            </a:r>
            <a:endParaRPr lang="en-US" sz="1300" dirty="0"/>
          </a:p>
        </p:txBody>
      </p:sp>
      <p:sp>
        <p:nvSpPr>
          <p:cNvPr id="32" name="Shape 29"/>
          <p:cNvSpPr/>
          <p:nvPr/>
        </p:nvSpPr>
        <p:spPr>
          <a:xfrm>
            <a:off x="4754880" y="2240280"/>
            <a:ext cx="1051560" cy="420624"/>
          </a:xfrm>
          <a:prstGeom prst="roundRect">
            <a:avLst>
              <a:gd name="adj" fmla="val 13043"/>
            </a:avLst>
          </a:prstGeom>
          <a:solidFill>
            <a:srgbClr val="1B6B4F"/>
          </a:solidFill>
          <a:ln w="12700">
            <a:solidFill>
              <a:srgbClr val="1B6B4F"/>
            </a:solidFill>
            <a:prstDash val="solid"/>
          </a:ln>
        </p:spPr>
      </p:sp>
      <p:sp>
        <p:nvSpPr>
          <p:cNvPr id="33" name="Text 30"/>
          <p:cNvSpPr txBox="1"/>
          <p:nvPr/>
        </p:nvSpPr>
        <p:spPr>
          <a:xfrm>
            <a:off x="4754880" y="2240280"/>
            <a:ext cx="105156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FR-18–27</a:t>
            </a:r>
            <a:endParaRPr lang="en-US" sz="1100" dirty="0"/>
          </a:p>
        </p:txBody>
      </p:sp>
      <p:sp>
        <p:nvSpPr>
          <p:cNvPr id="34" name="Text 31"/>
          <p:cNvSpPr txBox="1"/>
          <p:nvPr/>
        </p:nvSpPr>
        <p:spPr>
          <a:xfrm>
            <a:off x="5943600" y="2240280"/>
            <a:ext cx="2743200" cy="420624"/>
          </a:xfrm>
          <a:prstGeom prst="rect">
            <a:avLst/>
          </a:prstGeom>
          <a:noFill/>
          <a:ln/>
        </p:spPr>
        <p:txBody>
          <a:bodyPr wrap="square" lIns="0" tIns="0" rIns="0" bIns="0" rtlCol="0" anchor="ctr"/>
          <a:lstStyle/>
          <a:p>
            <a:pPr indent="0" marL="0">
              <a:buNone/>
            </a:pPr>
            <a:r>
              <a:rPr lang="en-US" sz="1300" dirty="0">
                <a:solidFill>
                  <a:srgbClr val="1F2A26"/>
                </a:solidFill>
                <a:latin typeface="Calibri" pitchFamily="34" charset="0"/>
                <a:ea typeface="Calibri" pitchFamily="34" charset="-122"/>
                <a:cs typeface="Calibri" pitchFamily="34" charset="-120"/>
              </a:rPr>
              <a:t>Syntactic analysis</a:t>
            </a:r>
            <a:endParaRPr lang="en-US" sz="1300" dirty="0"/>
          </a:p>
        </p:txBody>
      </p:sp>
      <p:sp>
        <p:nvSpPr>
          <p:cNvPr id="35" name="Shape 32"/>
          <p:cNvSpPr/>
          <p:nvPr/>
        </p:nvSpPr>
        <p:spPr>
          <a:xfrm>
            <a:off x="4754880" y="2788920"/>
            <a:ext cx="1051560" cy="420624"/>
          </a:xfrm>
          <a:prstGeom prst="roundRect">
            <a:avLst>
              <a:gd name="adj" fmla="val 13043"/>
            </a:avLst>
          </a:prstGeom>
          <a:solidFill>
            <a:srgbClr val="1B6B4F"/>
          </a:solidFill>
          <a:ln w="12700">
            <a:solidFill>
              <a:srgbClr val="1B6B4F"/>
            </a:solidFill>
            <a:prstDash val="solid"/>
          </a:ln>
        </p:spPr>
      </p:sp>
      <p:sp>
        <p:nvSpPr>
          <p:cNvPr id="36" name="Text 33"/>
          <p:cNvSpPr txBox="1"/>
          <p:nvPr/>
        </p:nvSpPr>
        <p:spPr>
          <a:xfrm>
            <a:off x="4754880" y="2788920"/>
            <a:ext cx="105156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FR-28–32</a:t>
            </a:r>
            <a:endParaRPr lang="en-US" sz="1100" dirty="0"/>
          </a:p>
        </p:txBody>
      </p:sp>
      <p:sp>
        <p:nvSpPr>
          <p:cNvPr id="37" name="Text 34"/>
          <p:cNvSpPr txBox="1"/>
          <p:nvPr/>
        </p:nvSpPr>
        <p:spPr>
          <a:xfrm>
            <a:off x="5943600" y="2788920"/>
            <a:ext cx="2743200" cy="420624"/>
          </a:xfrm>
          <a:prstGeom prst="rect">
            <a:avLst/>
          </a:prstGeom>
          <a:noFill/>
          <a:ln/>
        </p:spPr>
        <p:txBody>
          <a:bodyPr wrap="square" lIns="0" tIns="0" rIns="0" bIns="0" rtlCol="0" anchor="ctr"/>
          <a:lstStyle/>
          <a:p>
            <a:pPr indent="0" marL="0">
              <a:buNone/>
            </a:pPr>
            <a:r>
              <a:rPr lang="en-US" sz="1300" dirty="0">
                <a:solidFill>
                  <a:srgbClr val="1F2A26"/>
                </a:solidFill>
                <a:latin typeface="Calibri" pitchFamily="34" charset="0"/>
                <a:ea typeface="Calibri" pitchFamily="34" charset="-122"/>
                <a:cs typeface="Calibri" pitchFamily="34" charset="-120"/>
              </a:rPr>
              <a:t>Presentation &amp; access</a:t>
            </a:r>
            <a:endParaRPr lang="en-US" sz="1300" dirty="0"/>
          </a:p>
        </p:txBody>
      </p:sp>
      <p:sp>
        <p:nvSpPr>
          <p:cNvPr id="38" name="Text 35"/>
          <p:cNvSpPr txBox="1"/>
          <p:nvPr/>
        </p:nvSpPr>
        <p:spPr>
          <a:xfrm>
            <a:off x="4754880" y="3429000"/>
            <a:ext cx="3931920" cy="256032"/>
          </a:xfrm>
          <a:prstGeom prst="rect">
            <a:avLst/>
          </a:prstGeom>
          <a:noFill/>
          <a:ln/>
        </p:spPr>
        <p:txBody>
          <a:bodyPr wrap="square" lIns="0" tIns="0" rIns="0" bIns="0" rtlCol="0" anchor="t"/>
          <a:lstStyle/>
          <a:p>
            <a:pPr indent="0" marL="0">
              <a:buNone/>
            </a:pPr>
            <a:r>
              <a:rPr lang="en-US" sz="1500" b="1" dirty="0">
                <a:solidFill>
                  <a:srgbClr val="1B6B4F"/>
                </a:solidFill>
                <a:latin typeface="Cambria" pitchFamily="34" charset="0"/>
                <a:ea typeface="Cambria" pitchFamily="34" charset="-122"/>
                <a:cs typeface="Cambria" pitchFamily="34" charset="-120"/>
              </a:rPr>
              <a:t>Non-functional qualities</a:t>
            </a:r>
            <a:endParaRPr lang="en-US" sz="1500" dirty="0"/>
          </a:p>
        </p:txBody>
      </p:sp>
      <p:sp>
        <p:nvSpPr>
          <p:cNvPr id="39" name="Shape 36"/>
          <p:cNvSpPr/>
          <p:nvPr/>
        </p:nvSpPr>
        <p:spPr>
          <a:xfrm>
            <a:off x="4754880" y="3749040"/>
            <a:ext cx="941832" cy="329184"/>
          </a:xfrm>
          <a:prstGeom prst="roundRect">
            <a:avLst>
              <a:gd name="adj" fmla="val 22222"/>
            </a:avLst>
          </a:prstGeom>
          <a:solidFill>
            <a:srgbClr val="EEF3F0"/>
          </a:solidFill>
          <a:ln w="12700">
            <a:solidFill>
              <a:srgbClr val="EEF3F0"/>
            </a:solidFill>
            <a:prstDash val="solid"/>
          </a:ln>
        </p:spPr>
      </p:sp>
      <p:sp>
        <p:nvSpPr>
          <p:cNvPr id="40" name="Text 37"/>
          <p:cNvSpPr txBox="1"/>
          <p:nvPr/>
        </p:nvSpPr>
        <p:spPr>
          <a:xfrm>
            <a:off x="4754880" y="3749040"/>
            <a:ext cx="941832" cy="329184"/>
          </a:xfrm>
          <a:prstGeom prst="rect">
            <a:avLst/>
          </a:prstGeom>
          <a:noFill/>
          <a:ln/>
        </p:spPr>
        <p:txBody>
          <a:bodyPr wrap="square" lIns="0" tIns="0" rIns="0" bIns="0" rtlCol="0" anchor="ctr"/>
          <a:lstStyle/>
          <a:p>
            <a:pPr algn="ctr" indent="0" marL="0">
              <a:buNone/>
            </a:pPr>
            <a:r>
              <a:rPr lang="en-US" sz="950" b="1" dirty="0">
                <a:solidFill>
                  <a:srgbClr val="0F3D2E"/>
                </a:solidFill>
                <a:latin typeface="Calibri" pitchFamily="34" charset="0"/>
                <a:ea typeface="Calibri" pitchFamily="34" charset="-122"/>
                <a:cs typeface="Calibri" pitchFamily="34" charset="-120"/>
              </a:rPr>
              <a:t>Determinism</a:t>
            </a:r>
            <a:endParaRPr lang="en-US" sz="950" dirty="0"/>
          </a:p>
        </p:txBody>
      </p:sp>
      <p:sp>
        <p:nvSpPr>
          <p:cNvPr id="41" name="Shape 38"/>
          <p:cNvSpPr/>
          <p:nvPr/>
        </p:nvSpPr>
        <p:spPr>
          <a:xfrm>
            <a:off x="5751576" y="3749040"/>
            <a:ext cx="941832" cy="329184"/>
          </a:xfrm>
          <a:prstGeom prst="roundRect">
            <a:avLst>
              <a:gd name="adj" fmla="val 22222"/>
            </a:avLst>
          </a:prstGeom>
          <a:solidFill>
            <a:srgbClr val="EEF3F0"/>
          </a:solidFill>
          <a:ln w="12700">
            <a:solidFill>
              <a:srgbClr val="EEF3F0"/>
            </a:solidFill>
            <a:prstDash val="solid"/>
          </a:ln>
        </p:spPr>
      </p:sp>
      <p:sp>
        <p:nvSpPr>
          <p:cNvPr id="42" name="Text 39"/>
          <p:cNvSpPr txBox="1"/>
          <p:nvPr/>
        </p:nvSpPr>
        <p:spPr>
          <a:xfrm>
            <a:off x="5751576" y="3749040"/>
            <a:ext cx="941832" cy="329184"/>
          </a:xfrm>
          <a:prstGeom prst="rect">
            <a:avLst/>
          </a:prstGeom>
          <a:noFill/>
          <a:ln/>
        </p:spPr>
        <p:txBody>
          <a:bodyPr wrap="square" lIns="0" tIns="0" rIns="0" bIns="0" rtlCol="0" anchor="ctr"/>
          <a:lstStyle/>
          <a:p>
            <a:pPr algn="ctr" indent="0" marL="0">
              <a:buNone/>
            </a:pPr>
            <a:r>
              <a:rPr lang="en-US" sz="950" b="1" dirty="0">
                <a:solidFill>
                  <a:srgbClr val="0F3D2E"/>
                </a:solidFill>
                <a:latin typeface="Calibri" pitchFamily="34" charset="0"/>
                <a:ea typeface="Calibri" pitchFamily="34" charset="-122"/>
                <a:cs typeface="Calibri" pitchFamily="34" charset="-120"/>
              </a:rPr>
              <a:t>Traceability</a:t>
            </a:r>
            <a:endParaRPr lang="en-US" sz="950" dirty="0"/>
          </a:p>
        </p:txBody>
      </p:sp>
      <p:sp>
        <p:nvSpPr>
          <p:cNvPr id="43" name="Shape 40"/>
          <p:cNvSpPr/>
          <p:nvPr/>
        </p:nvSpPr>
        <p:spPr>
          <a:xfrm>
            <a:off x="6748272" y="3749040"/>
            <a:ext cx="941832" cy="329184"/>
          </a:xfrm>
          <a:prstGeom prst="roundRect">
            <a:avLst>
              <a:gd name="adj" fmla="val 22222"/>
            </a:avLst>
          </a:prstGeom>
          <a:solidFill>
            <a:srgbClr val="EEF3F0"/>
          </a:solidFill>
          <a:ln w="12700">
            <a:solidFill>
              <a:srgbClr val="EEF3F0"/>
            </a:solidFill>
            <a:prstDash val="solid"/>
          </a:ln>
        </p:spPr>
      </p:sp>
      <p:sp>
        <p:nvSpPr>
          <p:cNvPr id="44" name="Text 41"/>
          <p:cNvSpPr txBox="1"/>
          <p:nvPr/>
        </p:nvSpPr>
        <p:spPr>
          <a:xfrm>
            <a:off x="6748272" y="3749040"/>
            <a:ext cx="941832" cy="329184"/>
          </a:xfrm>
          <a:prstGeom prst="rect">
            <a:avLst/>
          </a:prstGeom>
          <a:noFill/>
          <a:ln/>
        </p:spPr>
        <p:txBody>
          <a:bodyPr wrap="square" lIns="0" tIns="0" rIns="0" bIns="0" rtlCol="0" anchor="ctr"/>
          <a:lstStyle/>
          <a:p>
            <a:pPr algn="ctr" indent="0" marL="0">
              <a:buNone/>
            </a:pPr>
            <a:r>
              <a:rPr lang="en-US" sz="950" b="1" dirty="0">
                <a:solidFill>
                  <a:srgbClr val="0F3D2E"/>
                </a:solidFill>
                <a:latin typeface="Calibri" pitchFamily="34" charset="0"/>
                <a:ea typeface="Calibri" pitchFamily="34" charset="-122"/>
                <a:cs typeface="Calibri" pitchFamily="34" charset="-120"/>
              </a:rPr>
              <a:t>Correctness</a:t>
            </a:r>
            <a:endParaRPr lang="en-US" sz="950" dirty="0"/>
          </a:p>
        </p:txBody>
      </p:sp>
      <p:sp>
        <p:nvSpPr>
          <p:cNvPr id="45" name="Shape 42"/>
          <p:cNvSpPr/>
          <p:nvPr/>
        </p:nvSpPr>
        <p:spPr>
          <a:xfrm>
            <a:off x="7744968" y="3749040"/>
            <a:ext cx="941832" cy="329184"/>
          </a:xfrm>
          <a:prstGeom prst="roundRect">
            <a:avLst>
              <a:gd name="adj" fmla="val 22222"/>
            </a:avLst>
          </a:prstGeom>
          <a:solidFill>
            <a:srgbClr val="EEF3F0"/>
          </a:solidFill>
          <a:ln w="12700">
            <a:solidFill>
              <a:srgbClr val="EEF3F0"/>
            </a:solidFill>
            <a:prstDash val="solid"/>
          </a:ln>
        </p:spPr>
      </p:sp>
      <p:sp>
        <p:nvSpPr>
          <p:cNvPr id="46" name="Text 43"/>
          <p:cNvSpPr txBox="1"/>
          <p:nvPr/>
        </p:nvSpPr>
        <p:spPr>
          <a:xfrm>
            <a:off x="7744968" y="3749040"/>
            <a:ext cx="941832" cy="329184"/>
          </a:xfrm>
          <a:prstGeom prst="rect">
            <a:avLst/>
          </a:prstGeom>
          <a:noFill/>
          <a:ln/>
        </p:spPr>
        <p:txBody>
          <a:bodyPr wrap="square" lIns="0" tIns="0" rIns="0" bIns="0" rtlCol="0" anchor="ctr"/>
          <a:lstStyle/>
          <a:p>
            <a:pPr algn="ctr" indent="0" marL="0">
              <a:buNone/>
            </a:pPr>
            <a:r>
              <a:rPr lang="en-US" sz="950" b="1" dirty="0">
                <a:solidFill>
                  <a:srgbClr val="0F3D2E"/>
                </a:solidFill>
                <a:latin typeface="Calibri" pitchFamily="34" charset="0"/>
                <a:ea typeface="Calibri" pitchFamily="34" charset="-122"/>
                <a:cs typeface="Calibri" pitchFamily="34" charset="-120"/>
              </a:rPr>
              <a:t>Integrity</a:t>
            </a:r>
            <a:endParaRPr lang="en-US" sz="950" dirty="0"/>
          </a:p>
        </p:txBody>
      </p:sp>
      <p:sp>
        <p:nvSpPr>
          <p:cNvPr id="47" name="Shape 44"/>
          <p:cNvSpPr/>
          <p:nvPr/>
        </p:nvSpPr>
        <p:spPr>
          <a:xfrm>
            <a:off x="4754880" y="4160520"/>
            <a:ext cx="941832" cy="329184"/>
          </a:xfrm>
          <a:prstGeom prst="roundRect">
            <a:avLst>
              <a:gd name="adj" fmla="val 22222"/>
            </a:avLst>
          </a:prstGeom>
          <a:solidFill>
            <a:srgbClr val="EEF3F0"/>
          </a:solidFill>
          <a:ln w="12700">
            <a:solidFill>
              <a:srgbClr val="EEF3F0"/>
            </a:solidFill>
            <a:prstDash val="solid"/>
          </a:ln>
        </p:spPr>
      </p:sp>
      <p:sp>
        <p:nvSpPr>
          <p:cNvPr id="48" name="Text 45"/>
          <p:cNvSpPr txBox="1"/>
          <p:nvPr/>
        </p:nvSpPr>
        <p:spPr>
          <a:xfrm>
            <a:off x="4754880" y="4160520"/>
            <a:ext cx="941832" cy="329184"/>
          </a:xfrm>
          <a:prstGeom prst="rect">
            <a:avLst/>
          </a:prstGeom>
          <a:noFill/>
          <a:ln/>
        </p:spPr>
        <p:txBody>
          <a:bodyPr wrap="square" lIns="0" tIns="0" rIns="0" bIns="0" rtlCol="0" anchor="ctr"/>
          <a:lstStyle/>
          <a:p>
            <a:pPr algn="ctr" indent="0" marL="0">
              <a:buNone/>
            </a:pPr>
            <a:r>
              <a:rPr lang="en-US" sz="950" b="1" dirty="0">
                <a:solidFill>
                  <a:srgbClr val="0F3D2E"/>
                </a:solidFill>
                <a:latin typeface="Calibri" pitchFamily="34" charset="0"/>
                <a:ea typeface="Calibri" pitchFamily="34" charset="-122"/>
                <a:cs typeface="Calibri" pitchFamily="34" charset="-120"/>
              </a:rPr>
              <a:t>Security</a:t>
            </a:r>
            <a:endParaRPr lang="en-US" sz="950" dirty="0"/>
          </a:p>
        </p:txBody>
      </p:sp>
      <p:sp>
        <p:nvSpPr>
          <p:cNvPr id="49" name="Shape 46"/>
          <p:cNvSpPr/>
          <p:nvPr/>
        </p:nvSpPr>
        <p:spPr>
          <a:xfrm>
            <a:off x="5751576" y="4160520"/>
            <a:ext cx="941832" cy="329184"/>
          </a:xfrm>
          <a:prstGeom prst="roundRect">
            <a:avLst>
              <a:gd name="adj" fmla="val 22222"/>
            </a:avLst>
          </a:prstGeom>
          <a:solidFill>
            <a:srgbClr val="EEF3F0"/>
          </a:solidFill>
          <a:ln w="12700">
            <a:solidFill>
              <a:srgbClr val="EEF3F0"/>
            </a:solidFill>
            <a:prstDash val="solid"/>
          </a:ln>
        </p:spPr>
      </p:sp>
      <p:sp>
        <p:nvSpPr>
          <p:cNvPr id="50" name="Text 47"/>
          <p:cNvSpPr txBox="1"/>
          <p:nvPr/>
        </p:nvSpPr>
        <p:spPr>
          <a:xfrm>
            <a:off x="5751576" y="4160520"/>
            <a:ext cx="941832" cy="329184"/>
          </a:xfrm>
          <a:prstGeom prst="rect">
            <a:avLst/>
          </a:prstGeom>
          <a:noFill/>
          <a:ln/>
        </p:spPr>
        <p:txBody>
          <a:bodyPr wrap="square" lIns="0" tIns="0" rIns="0" bIns="0" rtlCol="0" anchor="ctr"/>
          <a:lstStyle/>
          <a:p>
            <a:pPr algn="ctr" indent="0" marL="0">
              <a:buNone/>
            </a:pPr>
            <a:r>
              <a:rPr lang="en-US" sz="950" b="1" dirty="0">
                <a:solidFill>
                  <a:srgbClr val="0F3D2E"/>
                </a:solidFill>
                <a:latin typeface="Calibri" pitchFamily="34" charset="0"/>
                <a:ea typeface="Calibri" pitchFamily="34" charset="-122"/>
                <a:cs typeface="Calibri" pitchFamily="34" charset="-120"/>
              </a:rPr>
              <a:t>Accessibility</a:t>
            </a:r>
            <a:endParaRPr lang="en-US" sz="950" dirty="0"/>
          </a:p>
        </p:txBody>
      </p:sp>
      <p:sp>
        <p:nvSpPr>
          <p:cNvPr id="51" name="Shape 48"/>
          <p:cNvSpPr/>
          <p:nvPr/>
        </p:nvSpPr>
        <p:spPr>
          <a:xfrm>
            <a:off x="6748272" y="4160520"/>
            <a:ext cx="941832" cy="329184"/>
          </a:xfrm>
          <a:prstGeom prst="roundRect">
            <a:avLst>
              <a:gd name="adj" fmla="val 22222"/>
            </a:avLst>
          </a:prstGeom>
          <a:solidFill>
            <a:srgbClr val="EEF3F0"/>
          </a:solidFill>
          <a:ln w="12700">
            <a:solidFill>
              <a:srgbClr val="EEF3F0"/>
            </a:solidFill>
            <a:prstDash val="solid"/>
          </a:ln>
        </p:spPr>
      </p:sp>
      <p:sp>
        <p:nvSpPr>
          <p:cNvPr id="52" name="Text 49"/>
          <p:cNvSpPr txBox="1"/>
          <p:nvPr/>
        </p:nvSpPr>
        <p:spPr>
          <a:xfrm>
            <a:off x="6748272" y="4160520"/>
            <a:ext cx="941832" cy="329184"/>
          </a:xfrm>
          <a:prstGeom prst="rect">
            <a:avLst/>
          </a:prstGeom>
          <a:noFill/>
          <a:ln/>
        </p:spPr>
        <p:txBody>
          <a:bodyPr wrap="square" lIns="0" tIns="0" rIns="0" bIns="0" rtlCol="0" anchor="ctr"/>
          <a:lstStyle/>
          <a:p>
            <a:pPr algn="ctr" indent="0" marL="0">
              <a:buNone/>
            </a:pPr>
            <a:r>
              <a:rPr lang="en-US" sz="950" b="1" dirty="0">
                <a:solidFill>
                  <a:srgbClr val="0F3D2E"/>
                </a:solidFill>
                <a:latin typeface="Calibri" pitchFamily="34" charset="0"/>
                <a:ea typeface="Calibri" pitchFamily="34" charset="-122"/>
                <a:cs typeface="Calibri" pitchFamily="34" charset="-120"/>
              </a:rPr>
              <a:t>Portability</a:t>
            </a:r>
            <a:endParaRPr lang="en-US" sz="950" dirty="0"/>
          </a:p>
        </p:txBody>
      </p:sp>
      <p:sp>
        <p:nvSpPr>
          <p:cNvPr id="53" name="Shape 50"/>
          <p:cNvSpPr/>
          <p:nvPr/>
        </p:nvSpPr>
        <p:spPr>
          <a:xfrm>
            <a:off x="7744968" y="4160520"/>
            <a:ext cx="941832" cy="329184"/>
          </a:xfrm>
          <a:prstGeom prst="roundRect">
            <a:avLst>
              <a:gd name="adj" fmla="val 22222"/>
            </a:avLst>
          </a:prstGeom>
          <a:solidFill>
            <a:srgbClr val="EEF3F0"/>
          </a:solidFill>
          <a:ln w="12700">
            <a:solidFill>
              <a:srgbClr val="EEF3F0"/>
            </a:solidFill>
            <a:prstDash val="solid"/>
          </a:ln>
        </p:spPr>
      </p:sp>
      <p:sp>
        <p:nvSpPr>
          <p:cNvPr id="54" name="Text 51"/>
          <p:cNvSpPr txBox="1"/>
          <p:nvPr/>
        </p:nvSpPr>
        <p:spPr>
          <a:xfrm>
            <a:off x="7744968" y="4160520"/>
            <a:ext cx="941832" cy="329184"/>
          </a:xfrm>
          <a:prstGeom prst="rect">
            <a:avLst/>
          </a:prstGeom>
          <a:noFill/>
          <a:ln/>
        </p:spPr>
        <p:txBody>
          <a:bodyPr wrap="square" lIns="0" tIns="0" rIns="0" bIns="0" rtlCol="0" anchor="ctr"/>
          <a:lstStyle/>
          <a:p>
            <a:pPr algn="ctr" indent="0" marL="0">
              <a:buNone/>
            </a:pPr>
            <a:r>
              <a:rPr lang="en-US" sz="950" b="1" dirty="0">
                <a:solidFill>
                  <a:srgbClr val="0F3D2E"/>
                </a:solidFill>
                <a:latin typeface="Calibri" pitchFamily="34" charset="0"/>
                <a:ea typeface="Calibri" pitchFamily="34" charset="-122"/>
                <a:cs typeface="Calibri" pitchFamily="34" charset="-120"/>
              </a:rPr>
              <a:t>Reproducibility</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Architecture and processing pipeline</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6</a:t>
            </a:r>
            <a:endParaRPr lang="en-US" sz="900" dirty="0"/>
          </a:p>
        </p:txBody>
      </p:sp>
      <p:sp>
        <p:nvSpPr>
          <p:cNvPr id="6" name="Shape 3"/>
          <p:cNvSpPr/>
          <p:nvPr/>
        </p:nvSpPr>
        <p:spPr>
          <a:xfrm>
            <a:off x="457200" y="1188720"/>
            <a:ext cx="1828800" cy="868680"/>
          </a:xfrm>
          <a:prstGeom prst="roundRect">
            <a:avLst>
              <a:gd name="adj" fmla="val 8421"/>
            </a:avLst>
          </a:prstGeom>
          <a:solidFill>
            <a:srgbClr val="EEF3F0"/>
          </a:solidFill>
          <a:ln w="12700">
            <a:solidFill>
              <a:srgbClr val="EEF3F0"/>
            </a:solidFill>
            <a:prstDash val="solid"/>
          </a:ln>
        </p:spPr>
      </p:sp>
      <p:sp>
        <p:nvSpPr>
          <p:cNvPr id="7" name="Text 4"/>
          <p:cNvSpPr txBox="1"/>
          <p:nvPr/>
        </p:nvSpPr>
        <p:spPr>
          <a:xfrm>
            <a:off x="457200" y="1280160"/>
            <a:ext cx="1828800" cy="274320"/>
          </a:xfrm>
          <a:prstGeom prst="rect">
            <a:avLst/>
          </a:prstGeom>
          <a:noFill/>
          <a:ln/>
        </p:spPr>
        <p:txBody>
          <a:bodyPr wrap="square" lIns="0" tIns="0" rIns="0" bIns="0" rtlCol="0" anchor="t"/>
          <a:lstStyle/>
          <a:p>
            <a:pPr algn="ctr" indent="0" marL="0">
              <a:buNone/>
            </a:pPr>
            <a:r>
              <a:rPr lang="en-US" sz="1400" b="1" dirty="0">
                <a:solidFill>
                  <a:srgbClr val="0F3D2E"/>
                </a:solidFill>
                <a:latin typeface="Calibri" pitchFamily="34" charset="0"/>
                <a:ea typeface="Calibri" pitchFamily="34" charset="-122"/>
                <a:cs typeface="Calibri" pitchFamily="34" charset="-120"/>
              </a:rPr>
              <a:t>Browser</a:t>
            </a:r>
            <a:endParaRPr lang="en-US" sz="1400" dirty="0"/>
          </a:p>
        </p:txBody>
      </p:sp>
      <p:sp>
        <p:nvSpPr>
          <p:cNvPr id="8" name="Text 5"/>
          <p:cNvSpPr txBox="1"/>
          <p:nvPr/>
        </p:nvSpPr>
        <p:spPr>
          <a:xfrm>
            <a:off x="548640" y="1600200"/>
            <a:ext cx="1645920" cy="365760"/>
          </a:xfrm>
          <a:prstGeom prst="rect">
            <a:avLst/>
          </a:prstGeom>
          <a:noFill/>
          <a:ln/>
        </p:spPr>
        <p:txBody>
          <a:bodyPr wrap="square" lIns="0" tIns="0" rIns="0" bIns="0" rtlCol="0" anchor="t"/>
          <a:lstStyle/>
          <a:p>
            <a:pPr algn="ctr" indent="0" marL="0">
              <a:buNone/>
            </a:pPr>
            <a:r>
              <a:rPr lang="en-US" sz="1050" dirty="0">
                <a:solidFill>
                  <a:srgbClr val="5F6F68"/>
                </a:solidFill>
                <a:latin typeface="Calibri" pitchFamily="34" charset="0"/>
                <a:ea typeface="Calibri" pitchFamily="34" charset="-122"/>
                <a:cs typeface="Calibri" pitchFamily="34" charset="-120"/>
              </a:rPr>
              <a:t>React SPA</a:t>
            </a:r>
            <a:endParaRPr lang="en-US" sz="1050" dirty="0"/>
          </a:p>
        </p:txBody>
      </p:sp>
      <p:sp>
        <p:nvSpPr>
          <p:cNvPr id="9" name="Shape 6"/>
          <p:cNvSpPr/>
          <p:nvPr/>
        </p:nvSpPr>
        <p:spPr>
          <a:xfrm>
            <a:off x="2313432" y="1623060"/>
            <a:ext cx="246888" cy="0"/>
          </a:xfrm>
          <a:prstGeom prst="line">
            <a:avLst/>
          </a:prstGeom>
          <a:noFill/>
          <a:ln w="19050">
            <a:solidFill>
              <a:srgbClr val="5F6F68"/>
            </a:solidFill>
            <a:prstDash val="solid"/>
            <a:tailEnd type="triangle"/>
          </a:ln>
        </p:spPr>
      </p:sp>
      <p:sp>
        <p:nvSpPr>
          <p:cNvPr id="10" name="Shape 7"/>
          <p:cNvSpPr/>
          <p:nvPr/>
        </p:nvSpPr>
        <p:spPr>
          <a:xfrm>
            <a:off x="2587752" y="1188720"/>
            <a:ext cx="1828800" cy="868680"/>
          </a:xfrm>
          <a:prstGeom prst="roundRect">
            <a:avLst>
              <a:gd name="adj" fmla="val 8421"/>
            </a:avLst>
          </a:prstGeom>
          <a:solidFill>
            <a:srgbClr val="EEF3F0"/>
          </a:solidFill>
          <a:ln w="12700">
            <a:solidFill>
              <a:srgbClr val="EEF3F0"/>
            </a:solidFill>
            <a:prstDash val="solid"/>
          </a:ln>
        </p:spPr>
      </p:sp>
      <p:sp>
        <p:nvSpPr>
          <p:cNvPr id="11" name="Text 8"/>
          <p:cNvSpPr txBox="1"/>
          <p:nvPr/>
        </p:nvSpPr>
        <p:spPr>
          <a:xfrm>
            <a:off x="2587752" y="1280160"/>
            <a:ext cx="1828800" cy="274320"/>
          </a:xfrm>
          <a:prstGeom prst="rect">
            <a:avLst/>
          </a:prstGeom>
          <a:noFill/>
          <a:ln/>
        </p:spPr>
        <p:txBody>
          <a:bodyPr wrap="square" lIns="0" tIns="0" rIns="0" bIns="0" rtlCol="0" anchor="t"/>
          <a:lstStyle/>
          <a:p>
            <a:pPr algn="ctr" indent="0" marL="0">
              <a:buNone/>
            </a:pPr>
            <a:r>
              <a:rPr lang="en-US" sz="1400" b="1" dirty="0">
                <a:solidFill>
                  <a:srgbClr val="0F3D2E"/>
                </a:solidFill>
                <a:latin typeface="Calibri" pitchFamily="34" charset="0"/>
                <a:ea typeface="Calibri" pitchFamily="34" charset="-122"/>
                <a:cs typeface="Calibri" pitchFamily="34" charset="-120"/>
              </a:rPr>
              <a:t>Nginx</a:t>
            </a:r>
            <a:endParaRPr lang="en-US" sz="1400" dirty="0"/>
          </a:p>
        </p:txBody>
      </p:sp>
      <p:sp>
        <p:nvSpPr>
          <p:cNvPr id="12" name="Text 9"/>
          <p:cNvSpPr txBox="1"/>
          <p:nvPr/>
        </p:nvSpPr>
        <p:spPr>
          <a:xfrm>
            <a:off x="2679192" y="1600200"/>
            <a:ext cx="1645920" cy="365760"/>
          </a:xfrm>
          <a:prstGeom prst="rect">
            <a:avLst/>
          </a:prstGeom>
          <a:noFill/>
          <a:ln/>
        </p:spPr>
        <p:txBody>
          <a:bodyPr wrap="square" lIns="0" tIns="0" rIns="0" bIns="0" rtlCol="0" anchor="t"/>
          <a:lstStyle/>
          <a:p>
            <a:pPr algn="ctr" indent="0" marL="0">
              <a:buNone/>
            </a:pPr>
            <a:r>
              <a:rPr lang="en-US" sz="1050" dirty="0">
                <a:solidFill>
                  <a:srgbClr val="5F6F68"/>
                </a:solidFill>
                <a:latin typeface="Calibri" pitchFamily="34" charset="0"/>
                <a:ea typeface="Calibri" pitchFamily="34" charset="-122"/>
                <a:cs typeface="Calibri" pitchFamily="34" charset="-120"/>
              </a:rPr>
              <a:t>TLS · reverse proxy</a:t>
            </a:r>
            <a:endParaRPr lang="en-US" sz="1050" dirty="0"/>
          </a:p>
        </p:txBody>
      </p:sp>
      <p:sp>
        <p:nvSpPr>
          <p:cNvPr id="13" name="Shape 10"/>
          <p:cNvSpPr/>
          <p:nvPr/>
        </p:nvSpPr>
        <p:spPr>
          <a:xfrm>
            <a:off x="4443984" y="1623060"/>
            <a:ext cx="246888" cy="0"/>
          </a:xfrm>
          <a:prstGeom prst="line">
            <a:avLst/>
          </a:prstGeom>
          <a:noFill/>
          <a:ln w="19050">
            <a:solidFill>
              <a:srgbClr val="5F6F68"/>
            </a:solidFill>
            <a:prstDash val="solid"/>
            <a:tailEnd type="triangle"/>
          </a:ln>
        </p:spPr>
      </p:sp>
      <p:sp>
        <p:nvSpPr>
          <p:cNvPr id="14" name="Shape 11"/>
          <p:cNvSpPr/>
          <p:nvPr/>
        </p:nvSpPr>
        <p:spPr>
          <a:xfrm>
            <a:off x="4718304" y="1188720"/>
            <a:ext cx="1828800" cy="868680"/>
          </a:xfrm>
          <a:prstGeom prst="roundRect">
            <a:avLst>
              <a:gd name="adj" fmla="val 8421"/>
            </a:avLst>
          </a:prstGeom>
          <a:solidFill>
            <a:srgbClr val="EEF3F0"/>
          </a:solidFill>
          <a:ln w="12700">
            <a:solidFill>
              <a:srgbClr val="EEF3F0"/>
            </a:solidFill>
            <a:prstDash val="solid"/>
          </a:ln>
        </p:spPr>
      </p:sp>
      <p:sp>
        <p:nvSpPr>
          <p:cNvPr id="15" name="Text 12"/>
          <p:cNvSpPr txBox="1"/>
          <p:nvPr/>
        </p:nvSpPr>
        <p:spPr>
          <a:xfrm>
            <a:off x="4718304" y="1280160"/>
            <a:ext cx="1828800" cy="274320"/>
          </a:xfrm>
          <a:prstGeom prst="rect">
            <a:avLst/>
          </a:prstGeom>
          <a:noFill/>
          <a:ln/>
        </p:spPr>
        <p:txBody>
          <a:bodyPr wrap="square" lIns="0" tIns="0" rIns="0" bIns="0" rtlCol="0" anchor="t"/>
          <a:lstStyle/>
          <a:p>
            <a:pPr algn="ctr" indent="0" marL="0">
              <a:buNone/>
            </a:pPr>
            <a:r>
              <a:rPr lang="en-US" sz="1400" b="1" dirty="0">
                <a:solidFill>
                  <a:srgbClr val="0F3D2E"/>
                </a:solidFill>
                <a:latin typeface="Calibri" pitchFamily="34" charset="0"/>
                <a:ea typeface="Calibri" pitchFamily="34" charset="-122"/>
                <a:cs typeface="Calibri" pitchFamily="34" charset="-120"/>
              </a:rPr>
              <a:t>FastAPI</a:t>
            </a:r>
            <a:endParaRPr lang="en-US" sz="1400" dirty="0"/>
          </a:p>
        </p:txBody>
      </p:sp>
      <p:sp>
        <p:nvSpPr>
          <p:cNvPr id="16" name="Text 13"/>
          <p:cNvSpPr txBox="1"/>
          <p:nvPr/>
        </p:nvSpPr>
        <p:spPr>
          <a:xfrm>
            <a:off x="4809744" y="1600200"/>
            <a:ext cx="1645920" cy="365760"/>
          </a:xfrm>
          <a:prstGeom prst="rect">
            <a:avLst/>
          </a:prstGeom>
          <a:noFill/>
          <a:ln/>
        </p:spPr>
        <p:txBody>
          <a:bodyPr wrap="square" lIns="0" tIns="0" rIns="0" bIns="0" rtlCol="0" anchor="t"/>
          <a:lstStyle/>
          <a:p>
            <a:pPr algn="ctr" indent="0" marL="0">
              <a:buNone/>
            </a:pPr>
            <a:r>
              <a:rPr lang="en-US" sz="1050" dirty="0">
                <a:solidFill>
                  <a:srgbClr val="5F6F68"/>
                </a:solidFill>
                <a:latin typeface="Calibri" pitchFamily="34" charset="0"/>
                <a:ea typeface="Calibri" pitchFamily="34" charset="-122"/>
                <a:cs typeface="Calibri" pitchFamily="34" charset="-120"/>
              </a:rPr>
              <a:t>routes · auth · CSRF</a:t>
            </a:r>
            <a:endParaRPr lang="en-US" sz="1050" dirty="0"/>
          </a:p>
        </p:txBody>
      </p:sp>
      <p:sp>
        <p:nvSpPr>
          <p:cNvPr id="17" name="Shape 14"/>
          <p:cNvSpPr/>
          <p:nvPr/>
        </p:nvSpPr>
        <p:spPr>
          <a:xfrm>
            <a:off x="6574536" y="1623060"/>
            <a:ext cx="246888" cy="0"/>
          </a:xfrm>
          <a:prstGeom prst="line">
            <a:avLst/>
          </a:prstGeom>
          <a:noFill/>
          <a:ln w="19050">
            <a:solidFill>
              <a:srgbClr val="5F6F68"/>
            </a:solidFill>
            <a:prstDash val="solid"/>
            <a:tailEnd type="triangle"/>
          </a:ln>
        </p:spPr>
      </p:sp>
      <p:sp>
        <p:nvSpPr>
          <p:cNvPr id="18" name="Shape 15"/>
          <p:cNvSpPr/>
          <p:nvPr/>
        </p:nvSpPr>
        <p:spPr>
          <a:xfrm>
            <a:off x="6848856" y="1188720"/>
            <a:ext cx="1828800" cy="868680"/>
          </a:xfrm>
          <a:prstGeom prst="roundRect">
            <a:avLst>
              <a:gd name="adj" fmla="val 8421"/>
            </a:avLst>
          </a:prstGeom>
          <a:solidFill>
            <a:srgbClr val="0F3D2E"/>
          </a:solidFill>
          <a:ln w="12700">
            <a:solidFill>
              <a:srgbClr val="0F3D2E"/>
            </a:solidFill>
            <a:prstDash val="solid"/>
          </a:ln>
        </p:spPr>
      </p:sp>
      <p:sp>
        <p:nvSpPr>
          <p:cNvPr id="19" name="Text 16"/>
          <p:cNvSpPr txBox="1"/>
          <p:nvPr/>
        </p:nvSpPr>
        <p:spPr>
          <a:xfrm>
            <a:off x="6848856" y="1280160"/>
            <a:ext cx="1828800" cy="274320"/>
          </a:xfrm>
          <a:prstGeom prst="rect">
            <a:avLst/>
          </a:prstGeom>
          <a:noFill/>
          <a:ln/>
        </p:spPr>
        <p:txBody>
          <a:bodyPr wrap="square" lIns="0" tIns="0" rIns="0" bIns="0" rtlCol="0" anchor="t"/>
          <a:lstStyle/>
          <a:p>
            <a:pPr algn="ctr" indent="0" marL="0">
              <a:buNone/>
            </a:pPr>
            <a:r>
              <a:rPr lang="en-US" sz="1400" b="1" dirty="0">
                <a:solidFill>
                  <a:srgbClr val="D9B44A"/>
                </a:solidFill>
                <a:latin typeface="Calibri" pitchFamily="34" charset="0"/>
                <a:ea typeface="Calibri" pitchFamily="34" charset="-122"/>
                <a:cs typeface="Calibri" pitchFamily="34" charset="-120"/>
              </a:rPr>
              <a:t>Compiler core</a:t>
            </a:r>
            <a:endParaRPr lang="en-US" sz="1400" dirty="0"/>
          </a:p>
        </p:txBody>
      </p:sp>
      <p:sp>
        <p:nvSpPr>
          <p:cNvPr id="20" name="Text 17"/>
          <p:cNvSpPr txBox="1"/>
          <p:nvPr/>
        </p:nvSpPr>
        <p:spPr>
          <a:xfrm>
            <a:off x="6940296" y="1600200"/>
            <a:ext cx="1645920" cy="36576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lexer · grammar · LL(1) · parser</a:t>
            </a:r>
            <a:endParaRPr lang="en-US" sz="1050" dirty="0"/>
          </a:p>
        </p:txBody>
      </p:sp>
      <p:sp>
        <p:nvSpPr>
          <p:cNvPr id="21" name="Shape 18"/>
          <p:cNvSpPr/>
          <p:nvPr/>
        </p:nvSpPr>
        <p:spPr>
          <a:xfrm>
            <a:off x="5641848" y="2084832"/>
            <a:ext cx="0" cy="320040"/>
          </a:xfrm>
          <a:prstGeom prst="line">
            <a:avLst/>
          </a:prstGeom>
          <a:noFill/>
          <a:ln w="19050">
            <a:solidFill>
              <a:srgbClr val="5F6F68"/>
            </a:solidFill>
            <a:prstDash val="solid"/>
            <a:tailEnd type="triangle"/>
          </a:ln>
        </p:spPr>
      </p:sp>
      <p:sp>
        <p:nvSpPr>
          <p:cNvPr id="22" name="Shape 19"/>
          <p:cNvSpPr/>
          <p:nvPr/>
        </p:nvSpPr>
        <p:spPr>
          <a:xfrm>
            <a:off x="4727448" y="2423160"/>
            <a:ext cx="1828800" cy="777240"/>
          </a:xfrm>
          <a:prstGeom prst="roundRect">
            <a:avLst>
              <a:gd name="adj" fmla="val 9412"/>
            </a:avLst>
          </a:prstGeom>
          <a:solidFill>
            <a:srgbClr val="E5EEE9"/>
          </a:solidFill>
          <a:ln w="12700">
            <a:solidFill>
              <a:srgbClr val="E5EEE9"/>
            </a:solidFill>
            <a:prstDash val="solid"/>
          </a:ln>
        </p:spPr>
      </p:sp>
      <p:sp>
        <p:nvSpPr>
          <p:cNvPr id="23" name="Text 20"/>
          <p:cNvSpPr txBox="1"/>
          <p:nvPr/>
        </p:nvSpPr>
        <p:spPr>
          <a:xfrm>
            <a:off x="4727448" y="2487168"/>
            <a:ext cx="1828800" cy="256032"/>
          </a:xfrm>
          <a:prstGeom prst="rect">
            <a:avLst/>
          </a:prstGeom>
          <a:noFill/>
          <a:ln/>
        </p:spPr>
        <p:txBody>
          <a:bodyPr wrap="square" lIns="0" tIns="0" rIns="0" bIns="0" rtlCol="0" anchor="t"/>
          <a:lstStyle/>
          <a:p>
            <a:pPr algn="ctr" indent="0" marL="0">
              <a:buNone/>
            </a:pPr>
            <a:r>
              <a:rPr lang="en-US" sz="1300" b="1" dirty="0">
                <a:solidFill>
                  <a:srgbClr val="0F3D2E"/>
                </a:solidFill>
                <a:latin typeface="Calibri" pitchFamily="34" charset="0"/>
                <a:ea typeface="Calibri" pitchFamily="34" charset="-122"/>
                <a:cs typeface="Calibri" pitchFamily="34" charset="-120"/>
              </a:rPr>
              <a:t>SQLite</a:t>
            </a:r>
            <a:endParaRPr lang="en-US" sz="1300" dirty="0"/>
          </a:p>
        </p:txBody>
      </p:sp>
      <p:sp>
        <p:nvSpPr>
          <p:cNvPr id="24" name="Text 21"/>
          <p:cNvSpPr txBox="1"/>
          <p:nvPr/>
        </p:nvSpPr>
        <p:spPr>
          <a:xfrm>
            <a:off x="4727448" y="2788920"/>
            <a:ext cx="1828800" cy="274320"/>
          </a:xfrm>
          <a:prstGeom prst="rect">
            <a:avLst/>
          </a:prstGeom>
          <a:noFill/>
          <a:ln/>
        </p:spPr>
        <p:txBody>
          <a:bodyPr wrap="square" lIns="0" tIns="0" rIns="0" bIns="0" rtlCol="0" anchor="t"/>
          <a:lstStyle/>
          <a:p>
            <a:pPr algn="ctr" indent="0" marL="0">
              <a:buNone/>
            </a:pPr>
            <a:r>
              <a:rPr lang="en-US" sz="1050" dirty="0">
                <a:solidFill>
                  <a:srgbClr val="5F6F68"/>
                </a:solidFill>
                <a:latin typeface="Calibri" pitchFamily="34" charset="0"/>
                <a:ea typeface="Calibri" pitchFamily="34" charset="-122"/>
                <a:cs typeface="Calibri" pitchFamily="34" charset="-120"/>
              </a:rPr>
              <a:t>users · corpus · snapshots</a:t>
            </a:r>
            <a:endParaRPr lang="en-US" sz="1050" dirty="0"/>
          </a:p>
        </p:txBody>
      </p:sp>
      <p:sp>
        <p:nvSpPr>
          <p:cNvPr id="25" name="Shape 22"/>
          <p:cNvSpPr/>
          <p:nvPr/>
        </p:nvSpPr>
        <p:spPr>
          <a:xfrm>
            <a:off x="457200" y="2423160"/>
            <a:ext cx="3977640" cy="777240"/>
          </a:xfrm>
          <a:prstGeom prst="roundRect">
            <a:avLst>
              <a:gd name="adj" fmla="val 9412"/>
            </a:avLst>
          </a:prstGeom>
          <a:solidFill>
            <a:srgbClr val="FBF3D9"/>
          </a:solidFill>
          <a:ln w="12700">
            <a:solidFill>
              <a:srgbClr val="FBF3D9"/>
            </a:solidFill>
            <a:prstDash val="solid"/>
          </a:ln>
        </p:spPr>
      </p:sp>
      <p:sp>
        <p:nvSpPr>
          <p:cNvPr id="26" name="Text 23"/>
          <p:cNvSpPr txBox="1"/>
          <p:nvPr/>
        </p:nvSpPr>
        <p:spPr>
          <a:xfrm>
            <a:off x="594360" y="2423160"/>
            <a:ext cx="3749040" cy="777240"/>
          </a:xfrm>
          <a:prstGeom prst="rect">
            <a:avLst/>
          </a:prstGeom>
          <a:noFill/>
          <a:ln/>
        </p:spPr>
        <p:txBody>
          <a:bodyPr wrap="square" lIns="0" tIns="0" rIns="0" bIns="0" rtlCol="0" anchor="ctr"/>
          <a:lstStyle/>
          <a:p>
            <a:pPr indent="0" marL="0">
              <a:buNone/>
            </a:pPr>
            <a:r>
              <a:rPr lang="en-US" sz="1200" b="1" dirty="0">
                <a:solidFill>
                  <a:srgbClr val="1F2A26"/>
                </a:solidFill>
                <a:latin typeface="Calibri" pitchFamily="34" charset="0"/>
                <a:ea typeface="Calibri" pitchFamily="34" charset="-122"/>
                <a:cs typeface="Calibri" pitchFamily="34" charset="-120"/>
              </a:rPr>
              <a:t>Derived analysis is never stored. </a:t>
            </a:r>
            <a:pPr indent="0" marL="0">
              <a:buNone/>
            </a:pPr>
            <a:r>
              <a:rPr lang="en-US" sz="1200" dirty="0">
                <a:solidFill>
                  <a:srgbClr val="1F2A26"/>
                </a:solidFill>
                <a:latin typeface="Calibri" pitchFamily="34" charset="0"/>
                <a:ea typeface="Calibri" pitchFamily="34" charset="-122"/>
                <a:cs typeface="Calibri" pitchFamily="34" charset="-120"/>
              </a:rPr>
              <a:t>Results are recomputed on every request, so no stale verdicts.</a:t>
            </a:r>
            <a:endParaRPr lang="en-US" sz="1200" dirty="0"/>
          </a:p>
        </p:txBody>
      </p:sp>
      <p:sp>
        <p:nvSpPr>
          <p:cNvPr id="27" name="Text 24"/>
          <p:cNvSpPr txBox="1"/>
          <p:nvPr/>
        </p:nvSpPr>
        <p:spPr>
          <a:xfrm>
            <a:off x="6766560" y="2423160"/>
            <a:ext cx="1920240" cy="777240"/>
          </a:xfrm>
          <a:prstGeom prst="rect">
            <a:avLst/>
          </a:prstGeom>
          <a:noFill/>
          <a:ln/>
        </p:spPr>
        <p:txBody>
          <a:bodyPr wrap="square" lIns="0" tIns="0" rIns="0" bIns="0" rtlCol="0" anchor="ctr"/>
          <a:lstStyle/>
          <a:p>
            <a:pPr indent="0" marL="0">
              <a:buNone/>
            </a:pPr>
            <a:r>
              <a:rPr lang="en-US" sz="1100" i="1" dirty="0">
                <a:solidFill>
                  <a:srgbClr val="5F6F68"/>
                </a:solidFill>
                <a:latin typeface="Calibri" pitchFamily="34" charset="0"/>
                <a:ea typeface="Calibri" pitchFamily="34" charset="-122"/>
                <a:cs typeface="Calibri" pitchFamily="34" charset="-120"/>
              </a:rPr>
              <a:t>core/ needs only the standard library + pydantic</a:t>
            </a:r>
            <a:endParaRPr lang="en-US" sz="1100" dirty="0"/>
          </a:p>
        </p:txBody>
      </p:sp>
      <p:sp>
        <p:nvSpPr>
          <p:cNvPr id="28" name="Text 25"/>
          <p:cNvSpPr txBox="1"/>
          <p:nvPr/>
        </p:nvSpPr>
        <p:spPr>
          <a:xfrm>
            <a:off x="457200" y="3429000"/>
            <a:ext cx="8229600" cy="256032"/>
          </a:xfrm>
          <a:prstGeom prst="rect">
            <a:avLst/>
          </a:prstGeom>
          <a:noFill/>
          <a:ln/>
        </p:spPr>
        <p:txBody>
          <a:bodyPr wrap="square" lIns="0" tIns="0" rIns="0" bIns="0" rtlCol="0" anchor="t"/>
          <a:lstStyle/>
          <a:p>
            <a:pPr indent="0" marL="0">
              <a:buNone/>
            </a:pPr>
            <a:r>
              <a:rPr lang="en-US" sz="1500" b="1" dirty="0">
                <a:solidFill>
                  <a:srgbClr val="1B6B4F"/>
                </a:solidFill>
                <a:latin typeface="Cambria" pitchFamily="34" charset="0"/>
                <a:ea typeface="Cambria" pitchFamily="34" charset="-122"/>
                <a:cs typeface="Cambria" pitchFamily="34" charset="-120"/>
              </a:rPr>
              <a:t>Pipeline: each stage is a pure function over immutable data</a:t>
            </a:r>
            <a:endParaRPr lang="en-US" sz="1500" dirty="0"/>
          </a:p>
        </p:txBody>
      </p:sp>
      <p:sp>
        <p:nvSpPr>
          <p:cNvPr id="29" name="Shape 26"/>
          <p:cNvSpPr/>
          <p:nvPr/>
        </p:nvSpPr>
        <p:spPr>
          <a:xfrm>
            <a:off x="457200" y="3840480"/>
            <a:ext cx="1417320" cy="548640"/>
          </a:xfrm>
          <a:prstGeom prst="roundRect">
            <a:avLst>
              <a:gd name="adj" fmla="val 50000"/>
            </a:avLst>
          </a:prstGeom>
          <a:solidFill>
            <a:srgbClr val="1B6B4F"/>
          </a:solidFill>
          <a:ln w="12700">
            <a:solidFill>
              <a:srgbClr val="1B6B4F"/>
            </a:solidFill>
            <a:prstDash val="solid"/>
          </a:ln>
        </p:spPr>
      </p:sp>
      <p:sp>
        <p:nvSpPr>
          <p:cNvPr id="30" name="Text 27"/>
          <p:cNvSpPr txBox="1"/>
          <p:nvPr/>
        </p:nvSpPr>
        <p:spPr>
          <a:xfrm>
            <a:off x="457200" y="3840480"/>
            <a:ext cx="141732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scan</a:t>
            </a:r>
            <a:endParaRPr lang="en-US" sz="1400" dirty="0"/>
          </a:p>
        </p:txBody>
      </p:sp>
      <p:sp>
        <p:nvSpPr>
          <p:cNvPr id="31" name="Shape 28"/>
          <p:cNvSpPr/>
          <p:nvPr/>
        </p:nvSpPr>
        <p:spPr>
          <a:xfrm>
            <a:off x="1892808" y="4114800"/>
            <a:ext cx="237744" cy="0"/>
          </a:xfrm>
          <a:prstGeom prst="line">
            <a:avLst/>
          </a:prstGeom>
          <a:noFill/>
          <a:ln w="19050">
            <a:solidFill>
              <a:srgbClr val="5F6F68"/>
            </a:solidFill>
            <a:prstDash val="solid"/>
            <a:tailEnd type="triangle"/>
          </a:ln>
        </p:spPr>
      </p:sp>
      <p:sp>
        <p:nvSpPr>
          <p:cNvPr id="32" name="Shape 29"/>
          <p:cNvSpPr/>
          <p:nvPr/>
        </p:nvSpPr>
        <p:spPr>
          <a:xfrm>
            <a:off x="2148840" y="3840480"/>
            <a:ext cx="1417320" cy="548640"/>
          </a:xfrm>
          <a:prstGeom prst="roundRect">
            <a:avLst>
              <a:gd name="adj" fmla="val 50000"/>
            </a:avLst>
          </a:prstGeom>
          <a:solidFill>
            <a:srgbClr val="1B6B4F"/>
          </a:solidFill>
          <a:ln w="12700">
            <a:solidFill>
              <a:srgbClr val="1B6B4F"/>
            </a:solidFill>
            <a:prstDash val="solid"/>
          </a:ln>
        </p:spPr>
      </p:sp>
      <p:sp>
        <p:nvSpPr>
          <p:cNvPr id="33" name="Text 30"/>
          <p:cNvSpPr txBox="1"/>
          <p:nvPr/>
        </p:nvSpPr>
        <p:spPr>
          <a:xfrm>
            <a:off x="2148840" y="3840480"/>
            <a:ext cx="141732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lex</a:t>
            </a:r>
            <a:endParaRPr lang="en-US" sz="1400" dirty="0"/>
          </a:p>
        </p:txBody>
      </p:sp>
      <p:sp>
        <p:nvSpPr>
          <p:cNvPr id="34" name="Shape 31"/>
          <p:cNvSpPr/>
          <p:nvPr/>
        </p:nvSpPr>
        <p:spPr>
          <a:xfrm>
            <a:off x="3584448" y="4114800"/>
            <a:ext cx="237744" cy="0"/>
          </a:xfrm>
          <a:prstGeom prst="line">
            <a:avLst/>
          </a:prstGeom>
          <a:noFill/>
          <a:ln w="19050">
            <a:solidFill>
              <a:srgbClr val="5F6F68"/>
            </a:solidFill>
            <a:prstDash val="solid"/>
            <a:tailEnd type="triangle"/>
          </a:ln>
        </p:spPr>
      </p:sp>
      <p:sp>
        <p:nvSpPr>
          <p:cNvPr id="35" name="Shape 32"/>
          <p:cNvSpPr/>
          <p:nvPr/>
        </p:nvSpPr>
        <p:spPr>
          <a:xfrm>
            <a:off x="3840480" y="3840480"/>
            <a:ext cx="1417320" cy="548640"/>
          </a:xfrm>
          <a:prstGeom prst="roundRect">
            <a:avLst>
              <a:gd name="adj" fmla="val 50000"/>
            </a:avLst>
          </a:prstGeom>
          <a:solidFill>
            <a:srgbClr val="1B6B4F"/>
          </a:solidFill>
          <a:ln w="12700">
            <a:solidFill>
              <a:srgbClr val="1B6B4F"/>
            </a:solidFill>
            <a:prstDash val="solid"/>
          </a:ln>
        </p:spPr>
      </p:sp>
      <p:sp>
        <p:nvSpPr>
          <p:cNvPr id="36" name="Text 33"/>
          <p:cNvSpPr txBox="1"/>
          <p:nvPr/>
        </p:nvSpPr>
        <p:spPr>
          <a:xfrm>
            <a:off x="3840480" y="3840480"/>
            <a:ext cx="141732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prepare</a:t>
            </a:r>
            <a:endParaRPr lang="en-US" sz="1400" dirty="0"/>
          </a:p>
        </p:txBody>
      </p:sp>
      <p:sp>
        <p:nvSpPr>
          <p:cNvPr id="37" name="Shape 34"/>
          <p:cNvSpPr/>
          <p:nvPr/>
        </p:nvSpPr>
        <p:spPr>
          <a:xfrm>
            <a:off x="5276088" y="4114800"/>
            <a:ext cx="237744" cy="0"/>
          </a:xfrm>
          <a:prstGeom prst="line">
            <a:avLst/>
          </a:prstGeom>
          <a:noFill/>
          <a:ln w="19050">
            <a:solidFill>
              <a:srgbClr val="5F6F68"/>
            </a:solidFill>
            <a:prstDash val="solid"/>
            <a:tailEnd type="triangle"/>
          </a:ln>
        </p:spPr>
      </p:sp>
      <p:sp>
        <p:nvSpPr>
          <p:cNvPr id="38" name="Shape 35"/>
          <p:cNvSpPr/>
          <p:nvPr/>
        </p:nvSpPr>
        <p:spPr>
          <a:xfrm>
            <a:off x="5532120" y="3840480"/>
            <a:ext cx="1417320" cy="548640"/>
          </a:xfrm>
          <a:prstGeom prst="roundRect">
            <a:avLst>
              <a:gd name="adj" fmla="val 50000"/>
            </a:avLst>
          </a:prstGeom>
          <a:solidFill>
            <a:srgbClr val="1B6B4F"/>
          </a:solidFill>
          <a:ln w="12700">
            <a:solidFill>
              <a:srgbClr val="1B6B4F"/>
            </a:solidFill>
            <a:prstDash val="solid"/>
          </a:ln>
        </p:spPr>
      </p:sp>
      <p:sp>
        <p:nvSpPr>
          <p:cNvPr id="39" name="Text 36"/>
          <p:cNvSpPr txBox="1"/>
          <p:nvPr/>
        </p:nvSpPr>
        <p:spPr>
          <a:xfrm>
            <a:off x="5532120" y="3840480"/>
            <a:ext cx="141732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parse</a:t>
            </a:r>
            <a:endParaRPr lang="en-US" sz="1400" dirty="0"/>
          </a:p>
        </p:txBody>
      </p:sp>
      <p:sp>
        <p:nvSpPr>
          <p:cNvPr id="40" name="Shape 37"/>
          <p:cNvSpPr/>
          <p:nvPr/>
        </p:nvSpPr>
        <p:spPr>
          <a:xfrm>
            <a:off x="6967728" y="4114800"/>
            <a:ext cx="237744" cy="0"/>
          </a:xfrm>
          <a:prstGeom prst="line">
            <a:avLst/>
          </a:prstGeom>
          <a:noFill/>
          <a:ln w="19050">
            <a:solidFill>
              <a:srgbClr val="5F6F68"/>
            </a:solidFill>
            <a:prstDash val="solid"/>
            <a:tailEnd type="triangle"/>
          </a:ln>
        </p:spPr>
      </p:sp>
      <p:sp>
        <p:nvSpPr>
          <p:cNvPr id="41" name="Shape 38"/>
          <p:cNvSpPr/>
          <p:nvPr/>
        </p:nvSpPr>
        <p:spPr>
          <a:xfrm>
            <a:off x="7223760" y="3840480"/>
            <a:ext cx="1417320" cy="548640"/>
          </a:xfrm>
          <a:prstGeom prst="roundRect">
            <a:avLst>
              <a:gd name="adj" fmla="val 50000"/>
            </a:avLst>
          </a:prstGeom>
          <a:solidFill>
            <a:srgbClr val="1B6B4F"/>
          </a:solidFill>
          <a:ln w="12700">
            <a:solidFill>
              <a:srgbClr val="1B6B4F"/>
            </a:solidFill>
            <a:prstDash val="solid"/>
          </a:ln>
        </p:spPr>
      </p:sp>
      <p:sp>
        <p:nvSpPr>
          <p:cNvPr id="42" name="Text 39"/>
          <p:cNvSpPr txBox="1"/>
          <p:nvPr/>
        </p:nvSpPr>
        <p:spPr>
          <a:xfrm>
            <a:off x="7223760" y="3840480"/>
            <a:ext cx="141732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analyse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Data collection and provenance</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7</a:t>
            </a:r>
            <a:endParaRPr lang="en-US" sz="900" dirty="0"/>
          </a:p>
        </p:txBody>
      </p:sp>
      <p:sp>
        <p:nvSpPr>
          <p:cNvPr id="6" name="Shape 3"/>
          <p:cNvSpPr/>
          <p:nvPr/>
        </p:nvSpPr>
        <p:spPr>
          <a:xfrm>
            <a:off x="457200" y="1143000"/>
            <a:ext cx="1920240" cy="1691640"/>
          </a:xfrm>
          <a:prstGeom prst="roundRect">
            <a:avLst>
              <a:gd name="adj" fmla="val 4324"/>
            </a:avLst>
          </a:prstGeom>
          <a:solidFill>
            <a:srgbClr val="EEF3F0"/>
          </a:solidFill>
          <a:ln w="12700">
            <a:solidFill>
              <a:srgbClr val="EEF3F0"/>
            </a:solidFill>
            <a:prstDash val="solid"/>
          </a:ln>
        </p:spPr>
      </p:sp>
      <p:sp>
        <p:nvSpPr>
          <p:cNvPr id="7" name="Shape 4"/>
          <p:cNvSpPr/>
          <p:nvPr/>
        </p:nvSpPr>
        <p:spPr>
          <a:xfrm>
            <a:off x="594360" y="1280160"/>
            <a:ext cx="384048" cy="384048"/>
          </a:xfrm>
          <a:prstGeom prst="ellipse">
            <a:avLst/>
          </a:prstGeom>
          <a:solidFill>
            <a:srgbClr val="1B6B4F"/>
          </a:solidFill>
          <a:ln w="12700">
            <a:solidFill>
              <a:srgbClr val="1B6B4F"/>
            </a:solidFill>
            <a:prstDash val="solid"/>
          </a:ln>
        </p:spPr>
      </p:sp>
      <p:sp>
        <p:nvSpPr>
          <p:cNvPr id="8" name="Text 5"/>
          <p:cNvSpPr txBox="1"/>
          <p:nvPr/>
        </p:nvSpPr>
        <p:spPr>
          <a:xfrm>
            <a:off x="59436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594360" y="1783080"/>
            <a:ext cx="1691640" cy="274320"/>
          </a:xfrm>
          <a:prstGeom prst="rect">
            <a:avLst/>
          </a:prstGeom>
          <a:noFill/>
          <a:ln/>
        </p:spPr>
        <p:txBody>
          <a:bodyPr wrap="square" lIns="0" tIns="0" rIns="0" bIns="0" rtlCol="0" anchor="t"/>
          <a:lstStyle/>
          <a:p>
            <a:pPr indent="0" marL="0">
              <a:buNone/>
            </a:pPr>
            <a:r>
              <a:rPr lang="en-US" sz="1350" b="1" dirty="0">
                <a:solidFill>
                  <a:srgbClr val="0F3D2E"/>
                </a:solidFill>
                <a:latin typeface="Calibri" pitchFamily="34" charset="0"/>
                <a:ea typeface="Calibri" pitchFamily="34" charset="-122"/>
                <a:cs typeface="Calibri" pitchFamily="34" charset="-120"/>
              </a:rPr>
              <a:t>Listen</a:t>
            </a:r>
            <a:endParaRPr lang="en-US" sz="1350" dirty="0"/>
          </a:p>
        </p:txBody>
      </p:sp>
      <p:sp>
        <p:nvSpPr>
          <p:cNvPr id="10" name="Text 7"/>
          <p:cNvSpPr txBox="1"/>
          <p:nvPr/>
        </p:nvSpPr>
        <p:spPr>
          <a:xfrm>
            <a:off x="594360" y="2084832"/>
            <a:ext cx="1691640" cy="731520"/>
          </a:xfrm>
          <a:prstGeom prst="rect">
            <a:avLst/>
          </a:prstGeom>
          <a:noFill/>
          <a:ln/>
        </p:spPr>
        <p:txBody>
          <a:bodyPr wrap="square" lIns="0" tIns="0" rIns="0" bIns="0" rtlCol="0" anchor="t"/>
          <a:lstStyle/>
          <a:p>
            <a:pPr indent="0" marL="0">
              <a:buNone/>
            </a:pPr>
            <a:r>
              <a:rPr lang="en-US" sz="1100" dirty="0">
                <a:solidFill>
                  <a:srgbClr val="1F2A26"/>
                </a:solidFill>
                <a:latin typeface="Calibri" pitchFamily="34" charset="0"/>
                <a:ea typeface="Calibri" pitchFamily="34" charset="-122"/>
                <a:cs typeface="Calibri" pitchFamily="34" charset="-120"/>
              </a:rPr>
              <a:t>Taxis, chop houses, stalls, bendskin ranks, the university</a:t>
            </a:r>
            <a:endParaRPr lang="en-US" sz="1100" dirty="0"/>
          </a:p>
        </p:txBody>
      </p:sp>
      <p:sp>
        <p:nvSpPr>
          <p:cNvPr id="11" name="Shape 8"/>
          <p:cNvSpPr/>
          <p:nvPr/>
        </p:nvSpPr>
        <p:spPr>
          <a:xfrm>
            <a:off x="2560320" y="1143000"/>
            <a:ext cx="1920240" cy="1691640"/>
          </a:xfrm>
          <a:prstGeom prst="roundRect">
            <a:avLst>
              <a:gd name="adj" fmla="val 4324"/>
            </a:avLst>
          </a:prstGeom>
          <a:solidFill>
            <a:srgbClr val="EEF3F0"/>
          </a:solidFill>
          <a:ln w="12700">
            <a:solidFill>
              <a:srgbClr val="EEF3F0"/>
            </a:solidFill>
            <a:prstDash val="solid"/>
          </a:ln>
        </p:spPr>
      </p:sp>
      <p:sp>
        <p:nvSpPr>
          <p:cNvPr id="12" name="Shape 9"/>
          <p:cNvSpPr/>
          <p:nvPr/>
        </p:nvSpPr>
        <p:spPr>
          <a:xfrm>
            <a:off x="2697480" y="1280160"/>
            <a:ext cx="384048" cy="384048"/>
          </a:xfrm>
          <a:prstGeom prst="ellipse">
            <a:avLst/>
          </a:prstGeom>
          <a:solidFill>
            <a:srgbClr val="1B6B4F"/>
          </a:solidFill>
          <a:ln w="12700">
            <a:solidFill>
              <a:srgbClr val="1B6B4F"/>
            </a:solidFill>
            <a:prstDash val="solid"/>
          </a:ln>
        </p:spPr>
      </p:sp>
      <p:sp>
        <p:nvSpPr>
          <p:cNvPr id="13" name="Text 10"/>
          <p:cNvSpPr txBox="1"/>
          <p:nvPr/>
        </p:nvSpPr>
        <p:spPr>
          <a:xfrm>
            <a:off x="269748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2697480" y="1783080"/>
            <a:ext cx="1691640" cy="274320"/>
          </a:xfrm>
          <a:prstGeom prst="rect">
            <a:avLst/>
          </a:prstGeom>
          <a:noFill/>
          <a:ln/>
        </p:spPr>
        <p:txBody>
          <a:bodyPr wrap="square" lIns="0" tIns="0" rIns="0" bIns="0" rtlCol="0" anchor="t"/>
          <a:lstStyle/>
          <a:p>
            <a:pPr indent="0" marL="0">
              <a:buNone/>
            </a:pPr>
            <a:r>
              <a:rPr lang="en-US" sz="1350" b="1" dirty="0">
                <a:solidFill>
                  <a:srgbClr val="0F3D2E"/>
                </a:solidFill>
                <a:latin typeface="Calibri" pitchFamily="34" charset="0"/>
                <a:ea typeface="Calibri" pitchFamily="34" charset="-122"/>
                <a:cs typeface="Calibri" pitchFamily="34" charset="-120"/>
              </a:rPr>
              <a:t>Write exact words</a:t>
            </a:r>
            <a:endParaRPr lang="en-US" sz="1350" dirty="0"/>
          </a:p>
        </p:txBody>
      </p:sp>
      <p:sp>
        <p:nvSpPr>
          <p:cNvPr id="15" name="Text 12"/>
          <p:cNvSpPr txBox="1"/>
          <p:nvPr/>
        </p:nvSpPr>
        <p:spPr>
          <a:xfrm>
            <a:off x="2697480" y="2084832"/>
            <a:ext cx="1691640" cy="731520"/>
          </a:xfrm>
          <a:prstGeom prst="rect">
            <a:avLst/>
          </a:prstGeom>
          <a:noFill/>
          <a:ln/>
        </p:spPr>
        <p:txBody>
          <a:bodyPr wrap="square" lIns="0" tIns="0" rIns="0" bIns="0" rtlCol="0" anchor="t"/>
          <a:lstStyle/>
          <a:p>
            <a:pPr indent="0" marL="0">
              <a:buNone/>
            </a:pPr>
            <a:r>
              <a:rPr lang="en-US" sz="1100" dirty="0">
                <a:solidFill>
                  <a:srgbClr val="1F2A26"/>
                </a:solidFill>
                <a:latin typeface="Calibri" pitchFamily="34" charset="0"/>
                <a:ea typeface="Calibri" pitchFamily="34" charset="-122"/>
                <a:cs typeface="Calibri" pitchFamily="34" charset="-120"/>
              </a:rPr>
              <a:t>Slang, code-mixing, accents, mistakes. No cleaning, no translation</a:t>
            </a:r>
            <a:endParaRPr lang="en-US" sz="1100" dirty="0"/>
          </a:p>
        </p:txBody>
      </p:sp>
      <p:sp>
        <p:nvSpPr>
          <p:cNvPr id="16" name="Shape 13"/>
          <p:cNvSpPr/>
          <p:nvPr/>
        </p:nvSpPr>
        <p:spPr>
          <a:xfrm>
            <a:off x="4663440" y="1143000"/>
            <a:ext cx="1920240" cy="1691640"/>
          </a:xfrm>
          <a:prstGeom prst="roundRect">
            <a:avLst>
              <a:gd name="adj" fmla="val 4324"/>
            </a:avLst>
          </a:prstGeom>
          <a:solidFill>
            <a:srgbClr val="EEF3F0"/>
          </a:solidFill>
          <a:ln w="12700">
            <a:solidFill>
              <a:srgbClr val="EEF3F0"/>
            </a:solidFill>
            <a:prstDash val="solid"/>
          </a:ln>
        </p:spPr>
      </p:sp>
      <p:sp>
        <p:nvSpPr>
          <p:cNvPr id="17" name="Shape 14"/>
          <p:cNvSpPr/>
          <p:nvPr/>
        </p:nvSpPr>
        <p:spPr>
          <a:xfrm>
            <a:off x="4800600" y="1280160"/>
            <a:ext cx="384048" cy="384048"/>
          </a:xfrm>
          <a:prstGeom prst="ellipse">
            <a:avLst/>
          </a:prstGeom>
          <a:solidFill>
            <a:srgbClr val="1B6B4F"/>
          </a:solidFill>
          <a:ln w="12700">
            <a:solidFill>
              <a:srgbClr val="1B6B4F"/>
            </a:solidFill>
            <a:prstDash val="solid"/>
          </a:ln>
        </p:spPr>
      </p:sp>
      <p:sp>
        <p:nvSpPr>
          <p:cNvPr id="18" name="Text 15"/>
          <p:cNvSpPr txBox="1"/>
          <p:nvPr/>
        </p:nvSpPr>
        <p:spPr>
          <a:xfrm>
            <a:off x="480060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4800600" y="1783080"/>
            <a:ext cx="1691640" cy="274320"/>
          </a:xfrm>
          <a:prstGeom prst="rect">
            <a:avLst/>
          </a:prstGeom>
          <a:noFill/>
          <a:ln/>
        </p:spPr>
        <p:txBody>
          <a:bodyPr wrap="square" lIns="0" tIns="0" rIns="0" bIns="0" rtlCol="0" anchor="t"/>
          <a:lstStyle/>
          <a:p>
            <a:pPr indent="0" marL="0">
              <a:buNone/>
            </a:pPr>
            <a:r>
              <a:rPr lang="en-US" sz="1350" b="1" dirty="0">
                <a:solidFill>
                  <a:srgbClr val="0F3D2E"/>
                </a:solidFill>
                <a:latin typeface="Calibri" pitchFamily="34" charset="0"/>
                <a:ea typeface="Calibri" pitchFamily="34" charset="-122"/>
                <a:cs typeface="Calibri" pitchFamily="34" charset="-120"/>
              </a:rPr>
              <a:t>Cross-check</a:t>
            </a:r>
            <a:endParaRPr lang="en-US" sz="1350" dirty="0"/>
          </a:p>
        </p:txBody>
      </p:sp>
      <p:sp>
        <p:nvSpPr>
          <p:cNvPr id="20" name="Text 17"/>
          <p:cNvSpPr txBox="1"/>
          <p:nvPr/>
        </p:nvSpPr>
        <p:spPr>
          <a:xfrm>
            <a:off x="4800600" y="2084832"/>
            <a:ext cx="1691640" cy="731520"/>
          </a:xfrm>
          <a:prstGeom prst="rect">
            <a:avLst/>
          </a:prstGeom>
          <a:noFill/>
          <a:ln/>
        </p:spPr>
        <p:txBody>
          <a:bodyPr wrap="square" lIns="0" tIns="0" rIns="0" bIns="0" rtlCol="0" anchor="t"/>
          <a:lstStyle/>
          <a:p>
            <a:pPr indent="0" marL="0">
              <a:buNone/>
            </a:pPr>
            <a:r>
              <a:rPr lang="en-US" sz="1100" dirty="0">
                <a:solidFill>
                  <a:srgbClr val="1F2A26"/>
                </a:solidFill>
                <a:latin typeface="Calibri" pitchFamily="34" charset="0"/>
                <a:ea typeface="Calibri" pitchFamily="34" charset="-122"/>
                <a:cs typeface="Calibri" pitchFamily="34" charset="-120"/>
              </a:rPr>
              <a:t>A second Francanglais-familiar member verifies; disagreements recorded</a:t>
            </a:r>
            <a:endParaRPr lang="en-US" sz="1100" dirty="0"/>
          </a:p>
        </p:txBody>
      </p:sp>
      <p:sp>
        <p:nvSpPr>
          <p:cNvPr id="21" name="Shape 18"/>
          <p:cNvSpPr/>
          <p:nvPr/>
        </p:nvSpPr>
        <p:spPr>
          <a:xfrm>
            <a:off x="6766560" y="1143000"/>
            <a:ext cx="1920240" cy="1691640"/>
          </a:xfrm>
          <a:prstGeom prst="roundRect">
            <a:avLst>
              <a:gd name="adj" fmla="val 4324"/>
            </a:avLst>
          </a:prstGeom>
          <a:solidFill>
            <a:srgbClr val="EEF3F0"/>
          </a:solidFill>
          <a:ln w="12700">
            <a:solidFill>
              <a:srgbClr val="EEF3F0"/>
            </a:solidFill>
            <a:prstDash val="solid"/>
          </a:ln>
        </p:spPr>
      </p:sp>
      <p:sp>
        <p:nvSpPr>
          <p:cNvPr id="22" name="Shape 19"/>
          <p:cNvSpPr/>
          <p:nvPr/>
        </p:nvSpPr>
        <p:spPr>
          <a:xfrm>
            <a:off x="6903720" y="1280160"/>
            <a:ext cx="384048" cy="384048"/>
          </a:xfrm>
          <a:prstGeom prst="ellipse">
            <a:avLst/>
          </a:prstGeom>
          <a:solidFill>
            <a:srgbClr val="1B6B4F"/>
          </a:solidFill>
          <a:ln w="12700">
            <a:solidFill>
              <a:srgbClr val="1B6B4F"/>
            </a:solidFill>
            <a:prstDash val="solid"/>
          </a:ln>
        </p:spPr>
      </p:sp>
      <p:sp>
        <p:nvSpPr>
          <p:cNvPr id="23" name="Text 20"/>
          <p:cNvSpPr txBox="1"/>
          <p:nvPr/>
        </p:nvSpPr>
        <p:spPr>
          <a:xfrm>
            <a:off x="690372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txBox="1"/>
          <p:nvPr/>
        </p:nvSpPr>
        <p:spPr>
          <a:xfrm>
            <a:off x="6903720" y="1783080"/>
            <a:ext cx="1691640" cy="274320"/>
          </a:xfrm>
          <a:prstGeom prst="rect">
            <a:avLst/>
          </a:prstGeom>
          <a:noFill/>
          <a:ln/>
        </p:spPr>
        <p:txBody>
          <a:bodyPr wrap="square" lIns="0" tIns="0" rIns="0" bIns="0" rtlCol="0" anchor="t"/>
          <a:lstStyle/>
          <a:p>
            <a:pPr indent="0" marL="0">
              <a:buNone/>
            </a:pPr>
            <a:r>
              <a:rPr lang="en-US" sz="1350" b="1" dirty="0">
                <a:solidFill>
                  <a:srgbClr val="0F3D2E"/>
                </a:solidFill>
                <a:latin typeface="Calibri" pitchFamily="34" charset="0"/>
                <a:ea typeface="Calibri" pitchFamily="34" charset="-122"/>
                <a:cs typeface="Calibri" pitchFamily="34" charset="-120"/>
              </a:rPr>
              <a:t>Consent</a:t>
            </a:r>
            <a:endParaRPr lang="en-US" sz="1350" dirty="0"/>
          </a:p>
        </p:txBody>
      </p:sp>
      <p:sp>
        <p:nvSpPr>
          <p:cNvPr id="25" name="Text 22"/>
          <p:cNvSpPr txBox="1"/>
          <p:nvPr/>
        </p:nvSpPr>
        <p:spPr>
          <a:xfrm>
            <a:off x="6903720" y="2084832"/>
            <a:ext cx="1691640" cy="731520"/>
          </a:xfrm>
          <a:prstGeom prst="rect">
            <a:avLst/>
          </a:prstGeom>
          <a:noFill/>
          <a:ln/>
        </p:spPr>
        <p:txBody>
          <a:bodyPr wrap="square" lIns="0" tIns="0" rIns="0" bIns="0" rtlCol="0" anchor="t"/>
          <a:lstStyle/>
          <a:p>
            <a:pPr indent="0" marL="0">
              <a:buNone/>
            </a:pPr>
            <a:r>
              <a:rPr lang="en-US" sz="1100" dirty="0">
                <a:solidFill>
                  <a:srgbClr val="1F2A26"/>
                </a:solidFill>
                <a:latin typeface="Calibri" pitchFamily="34" charset="0"/>
                <a:ea typeface="Calibri" pitchFamily="34" charset="-122"/>
                <a:cs typeface="Calibri" pitchFamily="34" charset="-120"/>
              </a:rPr>
              <a:t>Explain the coursework, get permission, use anonymous identifiers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063240"/>
          <a:ext cx="5120640" cy="914400"/>
        </p:xfrm>
        <a:graphic>
          <a:graphicData uri="http://schemas.openxmlformats.org/drawingml/2006/table">
            <a:tbl>
              <a:tblPr/>
              <a:tblGrid>
                <a:gridCol w="2286000"/>
                <a:gridCol w="1188720"/>
                <a:gridCol w="822960"/>
                <a:gridCol w="82296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Collector</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Matricule</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Collected</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r>
              <a:tr h="274320">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Eyong Seanna Tabe</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ICTU20241297</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274320">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Kamdeu Yamdjeuson Neil Marshall</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ICTU20241386</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274320">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Tuheu Tchoubi Pempeme Moussa Fahdil</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ICTU20241393</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274320">
                <a:tc>
                  <a:txBody>
                    <a:bodyPr/>
                    <a:lstStyle/>
                    <a:p>
                      <a:pPr indent="0" marL="0">
                        <a:buNone/>
                      </a:pPr>
                      <a:r>
                        <a:rPr lang="en-US" sz="1050" b="1" dirty="0">
                          <a:solidFill>
                            <a:srgbClr val="1F2A26"/>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b="1" dirty="0">
                          <a:solidFill>
                            <a:srgbClr val="1F2A26"/>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b="1" dirty="0">
                          <a:solidFill>
                            <a:srgbClr val="1F2A26"/>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bl>
          </a:graphicData>
        </a:graphic>
      </p:graphicFrame>
      <p:sp>
        <p:nvSpPr>
          <p:cNvPr id="27" name="Shape 23"/>
          <p:cNvSpPr/>
          <p:nvPr/>
        </p:nvSpPr>
        <p:spPr>
          <a:xfrm>
            <a:off x="5806440" y="3063240"/>
            <a:ext cx="2880360" cy="1463040"/>
          </a:xfrm>
          <a:prstGeom prst="roundRect">
            <a:avLst>
              <a:gd name="adj" fmla="val 5000"/>
            </a:avLst>
          </a:prstGeom>
          <a:solidFill>
            <a:srgbClr val="0F3D2E"/>
          </a:solidFill>
          <a:ln w="12700">
            <a:solidFill>
              <a:srgbClr val="0F3D2E"/>
            </a:solidFill>
            <a:prstDash val="solid"/>
          </a:ln>
        </p:spPr>
      </p:sp>
      <p:sp>
        <p:nvSpPr>
          <p:cNvPr id="28" name="Text 24"/>
          <p:cNvSpPr txBox="1"/>
          <p:nvPr/>
        </p:nvSpPr>
        <p:spPr>
          <a:xfrm>
            <a:off x="5943600" y="3154680"/>
            <a:ext cx="2606040" cy="457200"/>
          </a:xfrm>
          <a:prstGeom prst="rect">
            <a:avLst/>
          </a:prstGeom>
          <a:noFill/>
          <a:ln/>
        </p:spPr>
        <p:txBody>
          <a:bodyPr wrap="square" lIns="0" tIns="0" rIns="0" bIns="0" rtlCol="0" anchor="t"/>
          <a:lstStyle/>
          <a:p>
            <a:pPr indent="0" marL="0">
              <a:buNone/>
            </a:pPr>
            <a:r>
              <a:rPr lang="en-US" sz="1300" b="1" dirty="0">
                <a:solidFill>
                  <a:srgbClr val="D9B44A"/>
                </a:solidFill>
                <a:latin typeface="Calibri" pitchFamily="34" charset="0"/>
                <a:ea typeface="Calibri" pitchFamily="34" charset="-122"/>
                <a:cs typeface="Calibri" pitchFamily="34" charset="-120"/>
              </a:rPr>
              <a:t>Provenance is a validated invariant</a:t>
            </a:r>
            <a:endParaRPr lang="en-US" sz="1300" dirty="0"/>
          </a:p>
        </p:txBody>
      </p:sp>
      <p:sp>
        <p:nvSpPr>
          <p:cNvPr id="29" name="Text 25"/>
          <p:cNvSpPr txBox="1"/>
          <p:nvPr/>
        </p:nvSpPr>
        <p:spPr>
          <a:xfrm>
            <a:off x="5943600" y="3611880"/>
            <a:ext cx="2606040" cy="86868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 field statement without a manual-transcription attestation cannot enter the graded corpus. All 22 carry it; tests fail the build if any loses it.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Topic coverage: 10 + 5 themes</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8</a:t>
            </a:r>
            <a:endParaRPr lang="en-US" sz="900" dirty="0"/>
          </a:p>
        </p:txBody>
      </p:sp>
      <p:sp>
        <p:nvSpPr>
          <p:cNvPr id="6" name="Shape 3"/>
          <p:cNvSpPr/>
          <p:nvPr/>
        </p:nvSpPr>
        <p:spPr>
          <a:xfrm>
            <a:off x="457200" y="1188720"/>
            <a:ext cx="1554480" cy="731520"/>
          </a:xfrm>
          <a:prstGeom prst="roundRect">
            <a:avLst>
              <a:gd name="adj" fmla="val 10000"/>
            </a:avLst>
          </a:prstGeom>
          <a:solidFill>
            <a:srgbClr val="EEF3F0"/>
          </a:solidFill>
          <a:ln w="12700">
            <a:solidFill>
              <a:srgbClr val="EEF3F0"/>
            </a:solidFill>
            <a:prstDash val="solid"/>
          </a:ln>
        </p:spPr>
      </p:sp>
      <p:sp>
        <p:nvSpPr>
          <p:cNvPr id="7" name="Text 4"/>
          <p:cNvSpPr txBox="1"/>
          <p:nvPr/>
        </p:nvSpPr>
        <p:spPr>
          <a:xfrm>
            <a:off x="548640" y="1280160"/>
            <a:ext cx="1371600" cy="274320"/>
          </a:xfrm>
          <a:prstGeom prst="rect">
            <a:avLst/>
          </a:prstGeom>
          <a:noFill/>
          <a:ln/>
        </p:spPr>
        <p:txBody>
          <a:bodyPr wrap="square" lIns="0" tIns="0" rIns="0" bIns="0" rtlCol="0" anchor="t"/>
          <a:lstStyle/>
          <a:p>
            <a:pPr algn="ctr" indent="0" marL="0">
              <a:buNone/>
            </a:pPr>
            <a:r>
              <a:rPr lang="en-US" sz="1150" b="1" dirty="0">
                <a:solidFill>
                  <a:srgbClr val="0F3D2E"/>
                </a:solidFill>
                <a:latin typeface="Calibri" pitchFamily="34" charset="0"/>
                <a:ea typeface="Calibri" pitchFamily="34" charset="-122"/>
                <a:cs typeface="Calibri" pitchFamily="34" charset="-120"/>
              </a:rPr>
              <a:t>Taxi &amp; commuting</a:t>
            </a:r>
            <a:endParaRPr lang="en-US" sz="1150" dirty="0"/>
          </a:p>
        </p:txBody>
      </p:sp>
      <p:sp>
        <p:nvSpPr>
          <p:cNvPr id="8" name="Text 5"/>
          <p:cNvSpPr txBox="1"/>
          <p:nvPr/>
        </p:nvSpPr>
        <p:spPr>
          <a:xfrm>
            <a:off x="502920" y="1600200"/>
            <a:ext cx="1463040" cy="228600"/>
          </a:xfrm>
          <a:prstGeom prst="rect">
            <a:avLst/>
          </a:prstGeom>
          <a:noFill/>
          <a:ln/>
        </p:spPr>
        <p:txBody>
          <a:bodyPr wrap="square" lIns="0" tIns="0" rIns="0" bIns="0" rtlCol="0" anchor="t"/>
          <a:lstStyle/>
          <a:p>
            <a:pPr algn="ctr" indent="0" marL="0">
              <a:buNone/>
            </a:pPr>
            <a:r>
              <a:rPr lang="en-US" sz="950" dirty="0">
                <a:solidFill>
                  <a:srgbClr val="5F6F68"/>
                </a:solidFill>
                <a:latin typeface="Courier New" pitchFamily="34" charset="0"/>
                <a:ea typeface="Courier New" pitchFamily="34" charset="-122"/>
                <a:cs typeface="Courier New" pitchFamily="34" charset="-120"/>
              </a:rPr>
              <a:t>commuting</a:t>
            </a:r>
            <a:endParaRPr lang="en-US" sz="950" dirty="0"/>
          </a:p>
        </p:txBody>
      </p:sp>
      <p:sp>
        <p:nvSpPr>
          <p:cNvPr id="9" name="Shape 6"/>
          <p:cNvSpPr/>
          <p:nvPr/>
        </p:nvSpPr>
        <p:spPr>
          <a:xfrm>
            <a:off x="2148840" y="1188720"/>
            <a:ext cx="1554480" cy="731520"/>
          </a:xfrm>
          <a:prstGeom prst="roundRect">
            <a:avLst>
              <a:gd name="adj" fmla="val 10000"/>
            </a:avLst>
          </a:prstGeom>
          <a:solidFill>
            <a:srgbClr val="EEF3F0"/>
          </a:solidFill>
          <a:ln w="12700">
            <a:solidFill>
              <a:srgbClr val="EEF3F0"/>
            </a:solidFill>
            <a:prstDash val="solid"/>
          </a:ln>
        </p:spPr>
      </p:sp>
      <p:sp>
        <p:nvSpPr>
          <p:cNvPr id="10" name="Text 7"/>
          <p:cNvSpPr txBox="1"/>
          <p:nvPr/>
        </p:nvSpPr>
        <p:spPr>
          <a:xfrm>
            <a:off x="2240280" y="1280160"/>
            <a:ext cx="1371600" cy="274320"/>
          </a:xfrm>
          <a:prstGeom prst="rect">
            <a:avLst/>
          </a:prstGeom>
          <a:noFill/>
          <a:ln/>
        </p:spPr>
        <p:txBody>
          <a:bodyPr wrap="square" lIns="0" tIns="0" rIns="0" bIns="0" rtlCol="0" anchor="t"/>
          <a:lstStyle/>
          <a:p>
            <a:pPr algn="ctr" indent="0" marL="0">
              <a:buNone/>
            </a:pPr>
            <a:r>
              <a:rPr lang="en-US" sz="1150" b="1" dirty="0">
                <a:solidFill>
                  <a:srgbClr val="0F3D2E"/>
                </a:solidFill>
                <a:latin typeface="Calibri" pitchFamily="34" charset="0"/>
                <a:ea typeface="Calibri" pitchFamily="34" charset="-122"/>
                <a:cs typeface="Calibri" pitchFamily="34" charset="-120"/>
              </a:rPr>
              <a:t>Poor internet</a:t>
            </a:r>
            <a:endParaRPr lang="en-US" sz="1150" dirty="0"/>
          </a:p>
        </p:txBody>
      </p:sp>
      <p:sp>
        <p:nvSpPr>
          <p:cNvPr id="11" name="Text 8"/>
          <p:cNvSpPr txBox="1"/>
          <p:nvPr/>
        </p:nvSpPr>
        <p:spPr>
          <a:xfrm>
            <a:off x="2194560" y="1600200"/>
            <a:ext cx="1463040" cy="228600"/>
          </a:xfrm>
          <a:prstGeom prst="rect">
            <a:avLst/>
          </a:prstGeom>
          <a:noFill/>
          <a:ln/>
        </p:spPr>
        <p:txBody>
          <a:bodyPr wrap="square" lIns="0" tIns="0" rIns="0" bIns="0" rtlCol="0" anchor="t"/>
          <a:lstStyle/>
          <a:p>
            <a:pPr algn="ctr" indent="0" marL="0">
              <a:buNone/>
            </a:pPr>
            <a:r>
              <a:rPr lang="en-US" sz="950" dirty="0">
                <a:solidFill>
                  <a:srgbClr val="5F6F68"/>
                </a:solidFill>
                <a:latin typeface="Courier New" pitchFamily="34" charset="0"/>
                <a:ea typeface="Courier New" pitchFamily="34" charset="-122"/>
                <a:cs typeface="Courier New" pitchFamily="34" charset="-120"/>
              </a:rPr>
              <a:t>internet</a:t>
            </a:r>
            <a:endParaRPr lang="en-US" sz="950" dirty="0"/>
          </a:p>
        </p:txBody>
      </p:sp>
      <p:sp>
        <p:nvSpPr>
          <p:cNvPr id="12" name="Shape 9"/>
          <p:cNvSpPr/>
          <p:nvPr/>
        </p:nvSpPr>
        <p:spPr>
          <a:xfrm>
            <a:off x="3840480" y="1188720"/>
            <a:ext cx="1554480" cy="731520"/>
          </a:xfrm>
          <a:prstGeom prst="roundRect">
            <a:avLst>
              <a:gd name="adj" fmla="val 10000"/>
            </a:avLst>
          </a:prstGeom>
          <a:solidFill>
            <a:srgbClr val="EEF3F0"/>
          </a:solidFill>
          <a:ln w="12700">
            <a:solidFill>
              <a:srgbClr val="EEF3F0"/>
            </a:solidFill>
            <a:prstDash val="solid"/>
          </a:ln>
        </p:spPr>
      </p:sp>
      <p:sp>
        <p:nvSpPr>
          <p:cNvPr id="13" name="Text 10"/>
          <p:cNvSpPr txBox="1"/>
          <p:nvPr/>
        </p:nvSpPr>
        <p:spPr>
          <a:xfrm>
            <a:off x="3931920" y="1280160"/>
            <a:ext cx="1371600" cy="274320"/>
          </a:xfrm>
          <a:prstGeom prst="rect">
            <a:avLst/>
          </a:prstGeom>
          <a:noFill/>
          <a:ln/>
        </p:spPr>
        <p:txBody>
          <a:bodyPr wrap="square" lIns="0" tIns="0" rIns="0" bIns="0" rtlCol="0" anchor="t"/>
          <a:lstStyle/>
          <a:p>
            <a:pPr algn="ctr" indent="0" marL="0">
              <a:buNone/>
            </a:pPr>
            <a:r>
              <a:rPr lang="en-US" sz="1150" b="1" dirty="0">
                <a:solidFill>
                  <a:srgbClr val="0F3D2E"/>
                </a:solidFill>
                <a:latin typeface="Calibri" pitchFamily="34" charset="0"/>
                <a:ea typeface="Calibri" pitchFamily="34" charset="-122"/>
                <a:cs typeface="Calibri" pitchFamily="34" charset="-120"/>
              </a:rPr>
              <a:t>Limited electricity</a:t>
            </a:r>
            <a:endParaRPr lang="en-US" sz="1150" dirty="0"/>
          </a:p>
        </p:txBody>
      </p:sp>
      <p:sp>
        <p:nvSpPr>
          <p:cNvPr id="14" name="Text 11"/>
          <p:cNvSpPr txBox="1"/>
          <p:nvPr/>
        </p:nvSpPr>
        <p:spPr>
          <a:xfrm>
            <a:off x="3886200" y="1600200"/>
            <a:ext cx="1463040" cy="228600"/>
          </a:xfrm>
          <a:prstGeom prst="rect">
            <a:avLst/>
          </a:prstGeom>
          <a:noFill/>
          <a:ln/>
        </p:spPr>
        <p:txBody>
          <a:bodyPr wrap="square" lIns="0" tIns="0" rIns="0" bIns="0" rtlCol="0" anchor="t"/>
          <a:lstStyle/>
          <a:p>
            <a:pPr algn="ctr" indent="0" marL="0">
              <a:buNone/>
            </a:pPr>
            <a:r>
              <a:rPr lang="en-US" sz="950" dirty="0">
                <a:solidFill>
                  <a:srgbClr val="5F6F68"/>
                </a:solidFill>
                <a:latin typeface="Courier New" pitchFamily="34" charset="0"/>
                <a:ea typeface="Courier New" pitchFamily="34" charset="-122"/>
                <a:cs typeface="Courier New" pitchFamily="34" charset="-120"/>
              </a:rPr>
              <a:t>electricity</a:t>
            </a:r>
            <a:endParaRPr lang="en-US" sz="950" dirty="0"/>
          </a:p>
        </p:txBody>
      </p:sp>
      <p:sp>
        <p:nvSpPr>
          <p:cNvPr id="15" name="Shape 12"/>
          <p:cNvSpPr/>
          <p:nvPr/>
        </p:nvSpPr>
        <p:spPr>
          <a:xfrm>
            <a:off x="5532120" y="1188720"/>
            <a:ext cx="1554480" cy="731520"/>
          </a:xfrm>
          <a:prstGeom prst="roundRect">
            <a:avLst>
              <a:gd name="adj" fmla="val 10000"/>
            </a:avLst>
          </a:prstGeom>
          <a:solidFill>
            <a:srgbClr val="EEF3F0"/>
          </a:solidFill>
          <a:ln w="12700">
            <a:solidFill>
              <a:srgbClr val="EEF3F0"/>
            </a:solidFill>
            <a:prstDash val="solid"/>
          </a:ln>
        </p:spPr>
      </p:sp>
      <p:sp>
        <p:nvSpPr>
          <p:cNvPr id="16" name="Text 13"/>
          <p:cNvSpPr txBox="1"/>
          <p:nvPr/>
        </p:nvSpPr>
        <p:spPr>
          <a:xfrm>
            <a:off x="5623560" y="1280160"/>
            <a:ext cx="1371600" cy="274320"/>
          </a:xfrm>
          <a:prstGeom prst="rect">
            <a:avLst/>
          </a:prstGeom>
          <a:noFill/>
          <a:ln/>
        </p:spPr>
        <p:txBody>
          <a:bodyPr wrap="square" lIns="0" tIns="0" rIns="0" bIns="0" rtlCol="0" anchor="t"/>
          <a:lstStyle/>
          <a:p>
            <a:pPr algn="ctr" indent="0" marL="0">
              <a:buNone/>
            </a:pPr>
            <a:r>
              <a:rPr lang="en-US" sz="1150" b="1" dirty="0">
                <a:solidFill>
                  <a:srgbClr val="0F3D2E"/>
                </a:solidFill>
                <a:latin typeface="Calibri" pitchFamily="34" charset="0"/>
                <a:ea typeface="Calibri" pitchFamily="34" charset="-122"/>
                <a:cs typeface="Calibri" pitchFamily="34" charset="-120"/>
              </a:rPr>
              <a:t>Market bargaining</a:t>
            </a:r>
            <a:endParaRPr lang="en-US" sz="1150" dirty="0"/>
          </a:p>
        </p:txBody>
      </p:sp>
      <p:sp>
        <p:nvSpPr>
          <p:cNvPr id="17" name="Text 14"/>
          <p:cNvSpPr txBox="1"/>
          <p:nvPr/>
        </p:nvSpPr>
        <p:spPr>
          <a:xfrm>
            <a:off x="5577840" y="1600200"/>
            <a:ext cx="1463040" cy="228600"/>
          </a:xfrm>
          <a:prstGeom prst="rect">
            <a:avLst/>
          </a:prstGeom>
          <a:noFill/>
          <a:ln/>
        </p:spPr>
        <p:txBody>
          <a:bodyPr wrap="square" lIns="0" tIns="0" rIns="0" bIns="0" rtlCol="0" anchor="t"/>
          <a:lstStyle/>
          <a:p>
            <a:pPr algn="ctr" indent="0" marL="0">
              <a:buNone/>
            </a:pPr>
            <a:r>
              <a:rPr lang="en-US" sz="950" dirty="0">
                <a:solidFill>
                  <a:srgbClr val="5F6F68"/>
                </a:solidFill>
                <a:latin typeface="Courier New" pitchFamily="34" charset="0"/>
                <a:ea typeface="Courier New" pitchFamily="34" charset="-122"/>
                <a:cs typeface="Courier New" pitchFamily="34" charset="-120"/>
              </a:rPr>
              <a:t>market_bargaining</a:t>
            </a:r>
            <a:endParaRPr lang="en-US" sz="950" dirty="0"/>
          </a:p>
        </p:txBody>
      </p:sp>
      <p:sp>
        <p:nvSpPr>
          <p:cNvPr id="18" name="Shape 15"/>
          <p:cNvSpPr/>
          <p:nvPr/>
        </p:nvSpPr>
        <p:spPr>
          <a:xfrm>
            <a:off x="7223760" y="1188720"/>
            <a:ext cx="1554480" cy="731520"/>
          </a:xfrm>
          <a:prstGeom prst="roundRect">
            <a:avLst>
              <a:gd name="adj" fmla="val 10000"/>
            </a:avLst>
          </a:prstGeom>
          <a:solidFill>
            <a:srgbClr val="EEF3F0"/>
          </a:solidFill>
          <a:ln w="12700">
            <a:solidFill>
              <a:srgbClr val="EEF3F0"/>
            </a:solidFill>
            <a:prstDash val="solid"/>
          </a:ln>
        </p:spPr>
      </p:sp>
      <p:sp>
        <p:nvSpPr>
          <p:cNvPr id="19" name="Text 16"/>
          <p:cNvSpPr txBox="1"/>
          <p:nvPr/>
        </p:nvSpPr>
        <p:spPr>
          <a:xfrm>
            <a:off x="7315200" y="1280160"/>
            <a:ext cx="1371600" cy="274320"/>
          </a:xfrm>
          <a:prstGeom prst="rect">
            <a:avLst/>
          </a:prstGeom>
          <a:noFill/>
          <a:ln/>
        </p:spPr>
        <p:txBody>
          <a:bodyPr wrap="square" lIns="0" tIns="0" rIns="0" bIns="0" rtlCol="0" anchor="t"/>
          <a:lstStyle/>
          <a:p>
            <a:pPr algn="ctr" indent="0" marL="0">
              <a:buNone/>
            </a:pPr>
            <a:r>
              <a:rPr lang="en-US" sz="1150" b="1" dirty="0">
                <a:solidFill>
                  <a:srgbClr val="0F3D2E"/>
                </a:solidFill>
                <a:latin typeface="Calibri" pitchFamily="34" charset="0"/>
                <a:ea typeface="Calibri" pitchFamily="34" charset="-122"/>
                <a:cs typeface="Calibri" pitchFamily="34" charset="-120"/>
              </a:rPr>
              <a:t>Rainy season</a:t>
            </a:r>
            <a:endParaRPr lang="en-US" sz="1150" dirty="0"/>
          </a:p>
        </p:txBody>
      </p:sp>
      <p:sp>
        <p:nvSpPr>
          <p:cNvPr id="20" name="Text 17"/>
          <p:cNvSpPr txBox="1"/>
          <p:nvPr/>
        </p:nvSpPr>
        <p:spPr>
          <a:xfrm>
            <a:off x="7269480" y="1600200"/>
            <a:ext cx="1463040" cy="228600"/>
          </a:xfrm>
          <a:prstGeom prst="rect">
            <a:avLst/>
          </a:prstGeom>
          <a:noFill/>
          <a:ln/>
        </p:spPr>
        <p:txBody>
          <a:bodyPr wrap="square" lIns="0" tIns="0" rIns="0" bIns="0" rtlCol="0" anchor="t"/>
          <a:lstStyle/>
          <a:p>
            <a:pPr algn="ctr" indent="0" marL="0">
              <a:buNone/>
            </a:pPr>
            <a:r>
              <a:rPr lang="en-US" sz="950" dirty="0">
                <a:solidFill>
                  <a:srgbClr val="5F6F68"/>
                </a:solidFill>
                <a:latin typeface="Courier New" pitchFamily="34" charset="0"/>
                <a:ea typeface="Courier New" pitchFamily="34" charset="-122"/>
                <a:cs typeface="Courier New" pitchFamily="34" charset="-120"/>
              </a:rPr>
              <a:t>rain</a:t>
            </a:r>
            <a:endParaRPr lang="en-US" sz="950" dirty="0"/>
          </a:p>
        </p:txBody>
      </p:sp>
      <p:sp>
        <p:nvSpPr>
          <p:cNvPr id="21" name="Shape 18"/>
          <p:cNvSpPr/>
          <p:nvPr/>
        </p:nvSpPr>
        <p:spPr>
          <a:xfrm>
            <a:off x="457200" y="2057400"/>
            <a:ext cx="1554480" cy="731520"/>
          </a:xfrm>
          <a:prstGeom prst="roundRect">
            <a:avLst>
              <a:gd name="adj" fmla="val 10000"/>
            </a:avLst>
          </a:prstGeom>
          <a:solidFill>
            <a:srgbClr val="EEF3F0"/>
          </a:solidFill>
          <a:ln w="12700">
            <a:solidFill>
              <a:srgbClr val="EEF3F0"/>
            </a:solidFill>
            <a:prstDash val="solid"/>
          </a:ln>
        </p:spPr>
      </p:sp>
      <p:sp>
        <p:nvSpPr>
          <p:cNvPr id="22" name="Text 19"/>
          <p:cNvSpPr txBox="1"/>
          <p:nvPr/>
        </p:nvSpPr>
        <p:spPr>
          <a:xfrm>
            <a:off x="548640" y="2148840"/>
            <a:ext cx="1371600" cy="274320"/>
          </a:xfrm>
          <a:prstGeom prst="rect">
            <a:avLst/>
          </a:prstGeom>
          <a:noFill/>
          <a:ln/>
        </p:spPr>
        <p:txBody>
          <a:bodyPr wrap="square" lIns="0" tIns="0" rIns="0" bIns="0" rtlCol="0" anchor="t"/>
          <a:lstStyle/>
          <a:p>
            <a:pPr algn="ctr" indent="0" marL="0">
              <a:buNone/>
            </a:pPr>
            <a:r>
              <a:rPr lang="en-US" sz="1150" b="1" dirty="0">
                <a:solidFill>
                  <a:srgbClr val="0F3D2E"/>
                </a:solidFill>
                <a:latin typeface="Calibri" pitchFamily="34" charset="0"/>
                <a:ea typeface="Calibri" pitchFamily="34" charset="-122"/>
                <a:cs typeface="Calibri" pitchFamily="34" charset="-120"/>
              </a:rPr>
              <a:t>Fuel scarcity</a:t>
            </a:r>
            <a:endParaRPr lang="en-US" sz="1150" dirty="0"/>
          </a:p>
        </p:txBody>
      </p:sp>
      <p:sp>
        <p:nvSpPr>
          <p:cNvPr id="23" name="Text 20"/>
          <p:cNvSpPr txBox="1"/>
          <p:nvPr/>
        </p:nvSpPr>
        <p:spPr>
          <a:xfrm>
            <a:off x="502920" y="2468880"/>
            <a:ext cx="1463040" cy="228600"/>
          </a:xfrm>
          <a:prstGeom prst="rect">
            <a:avLst/>
          </a:prstGeom>
          <a:noFill/>
          <a:ln/>
        </p:spPr>
        <p:txBody>
          <a:bodyPr wrap="square" lIns="0" tIns="0" rIns="0" bIns="0" rtlCol="0" anchor="t"/>
          <a:lstStyle/>
          <a:p>
            <a:pPr algn="ctr" indent="0" marL="0">
              <a:buNone/>
            </a:pPr>
            <a:r>
              <a:rPr lang="en-US" sz="950" dirty="0">
                <a:solidFill>
                  <a:srgbClr val="5F6F68"/>
                </a:solidFill>
                <a:latin typeface="Courier New" pitchFamily="34" charset="0"/>
                <a:ea typeface="Courier New" pitchFamily="34" charset="-122"/>
                <a:cs typeface="Courier New" pitchFamily="34" charset="-120"/>
              </a:rPr>
              <a:t>fuel</a:t>
            </a:r>
            <a:endParaRPr lang="en-US" sz="950" dirty="0"/>
          </a:p>
        </p:txBody>
      </p:sp>
      <p:sp>
        <p:nvSpPr>
          <p:cNvPr id="24" name="Shape 21"/>
          <p:cNvSpPr/>
          <p:nvPr/>
        </p:nvSpPr>
        <p:spPr>
          <a:xfrm>
            <a:off x="2148840" y="2057400"/>
            <a:ext cx="1554480" cy="731520"/>
          </a:xfrm>
          <a:prstGeom prst="roundRect">
            <a:avLst>
              <a:gd name="adj" fmla="val 10000"/>
            </a:avLst>
          </a:prstGeom>
          <a:solidFill>
            <a:srgbClr val="EEF3F0"/>
          </a:solidFill>
          <a:ln w="12700">
            <a:solidFill>
              <a:srgbClr val="EEF3F0"/>
            </a:solidFill>
            <a:prstDash val="solid"/>
          </a:ln>
        </p:spPr>
      </p:sp>
      <p:sp>
        <p:nvSpPr>
          <p:cNvPr id="25" name="Text 22"/>
          <p:cNvSpPr txBox="1"/>
          <p:nvPr/>
        </p:nvSpPr>
        <p:spPr>
          <a:xfrm>
            <a:off x="2240280" y="2148840"/>
            <a:ext cx="1371600" cy="274320"/>
          </a:xfrm>
          <a:prstGeom prst="rect">
            <a:avLst/>
          </a:prstGeom>
          <a:noFill/>
          <a:ln/>
        </p:spPr>
        <p:txBody>
          <a:bodyPr wrap="square" lIns="0" tIns="0" rIns="0" bIns="0" rtlCol="0" anchor="t"/>
          <a:lstStyle/>
          <a:p>
            <a:pPr algn="ctr" indent="0" marL="0">
              <a:buNone/>
            </a:pPr>
            <a:r>
              <a:rPr lang="en-US" sz="1150" b="1" dirty="0">
                <a:solidFill>
                  <a:srgbClr val="0F3D2E"/>
                </a:solidFill>
                <a:latin typeface="Calibri" pitchFamily="34" charset="0"/>
                <a:ea typeface="Calibri" pitchFamily="34" charset="-122"/>
                <a:cs typeface="Calibri" pitchFamily="34" charset="-120"/>
              </a:rPr>
              <a:t>Roadside business</a:t>
            </a:r>
            <a:endParaRPr lang="en-US" sz="1150" dirty="0"/>
          </a:p>
        </p:txBody>
      </p:sp>
      <p:sp>
        <p:nvSpPr>
          <p:cNvPr id="26" name="Text 23"/>
          <p:cNvSpPr txBox="1"/>
          <p:nvPr/>
        </p:nvSpPr>
        <p:spPr>
          <a:xfrm>
            <a:off x="2194560" y="2468880"/>
            <a:ext cx="1463040" cy="228600"/>
          </a:xfrm>
          <a:prstGeom prst="rect">
            <a:avLst/>
          </a:prstGeom>
          <a:noFill/>
          <a:ln/>
        </p:spPr>
        <p:txBody>
          <a:bodyPr wrap="square" lIns="0" tIns="0" rIns="0" bIns="0" rtlCol="0" anchor="t"/>
          <a:lstStyle/>
          <a:p>
            <a:pPr algn="ctr" indent="0" marL="0">
              <a:buNone/>
            </a:pPr>
            <a:r>
              <a:rPr lang="en-US" sz="950" dirty="0">
                <a:solidFill>
                  <a:srgbClr val="5F6F68"/>
                </a:solidFill>
                <a:latin typeface="Courier New" pitchFamily="34" charset="0"/>
                <a:ea typeface="Courier New" pitchFamily="34" charset="-122"/>
                <a:cs typeface="Courier New" pitchFamily="34" charset="-120"/>
              </a:rPr>
              <a:t>roadside_business</a:t>
            </a:r>
            <a:endParaRPr lang="en-US" sz="950" dirty="0"/>
          </a:p>
        </p:txBody>
      </p:sp>
      <p:sp>
        <p:nvSpPr>
          <p:cNvPr id="27" name="Shape 24"/>
          <p:cNvSpPr/>
          <p:nvPr/>
        </p:nvSpPr>
        <p:spPr>
          <a:xfrm>
            <a:off x="3840480" y="2057400"/>
            <a:ext cx="1554480" cy="731520"/>
          </a:xfrm>
          <a:prstGeom prst="roundRect">
            <a:avLst>
              <a:gd name="adj" fmla="val 10000"/>
            </a:avLst>
          </a:prstGeom>
          <a:solidFill>
            <a:srgbClr val="EEF3F0"/>
          </a:solidFill>
          <a:ln w="12700">
            <a:solidFill>
              <a:srgbClr val="EEF3F0"/>
            </a:solidFill>
            <a:prstDash val="solid"/>
          </a:ln>
        </p:spPr>
      </p:sp>
      <p:sp>
        <p:nvSpPr>
          <p:cNvPr id="28" name="Text 25"/>
          <p:cNvSpPr txBox="1"/>
          <p:nvPr/>
        </p:nvSpPr>
        <p:spPr>
          <a:xfrm>
            <a:off x="3931920" y="2148840"/>
            <a:ext cx="1371600" cy="274320"/>
          </a:xfrm>
          <a:prstGeom prst="rect">
            <a:avLst/>
          </a:prstGeom>
          <a:noFill/>
          <a:ln/>
        </p:spPr>
        <p:txBody>
          <a:bodyPr wrap="square" lIns="0" tIns="0" rIns="0" bIns="0" rtlCol="0" anchor="t"/>
          <a:lstStyle/>
          <a:p>
            <a:pPr algn="ctr" indent="0" marL="0">
              <a:buNone/>
            </a:pPr>
            <a:r>
              <a:rPr lang="en-US" sz="1150" b="1" dirty="0">
                <a:solidFill>
                  <a:srgbClr val="0F3D2E"/>
                </a:solidFill>
                <a:latin typeface="Calibri" pitchFamily="34" charset="0"/>
                <a:ea typeface="Calibri" pitchFamily="34" charset="-122"/>
                <a:cs typeface="Calibri" pitchFamily="34" charset="-120"/>
              </a:rPr>
              <a:t>Bendskin talk</a:t>
            </a:r>
            <a:endParaRPr lang="en-US" sz="1150" dirty="0"/>
          </a:p>
        </p:txBody>
      </p:sp>
      <p:sp>
        <p:nvSpPr>
          <p:cNvPr id="29" name="Text 26"/>
          <p:cNvSpPr txBox="1"/>
          <p:nvPr/>
        </p:nvSpPr>
        <p:spPr>
          <a:xfrm>
            <a:off x="3886200" y="2468880"/>
            <a:ext cx="1463040" cy="228600"/>
          </a:xfrm>
          <a:prstGeom prst="rect">
            <a:avLst/>
          </a:prstGeom>
          <a:noFill/>
          <a:ln/>
        </p:spPr>
        <p:txBody>
          <a:bodyPr wrap="square" lIns="0" tIns="0" rIns="0" bIns="0" rtlCol="0" anchor="t"/>
          <a:lstStyle/>
          <a:p>
            <a:pPr algn="ctr" indent="0" marL="0">
              <a:buNone/>
            </a:pPr>
            <a:r>
              <a:rPr lang="en-US" sz="950" dirty="0">
                <a:solidFill>
                  <a:srgbClr val="5F6F68"/>
                </a:solidFill>
                <a:latin typeface="Courier New" pitchFamily="34" charset="0"/>
                <a:ea typeface="Courier New" pitchFamily="34" charset="-122"/>
                <a:cs typeface="Courier New" pitchFamily="34" charset="-120"/>
              </a:rPr>
              <a:t>bendskin</a:t>
            </a:r>
            <a:endParaRPr lang="en-US" sz="950" dirty="0"/>
          </a:p>
        </p:txBody>
      </p:sp>
      <p:sp>
        <p:nvSpPr>
          <p:cNvPr id="30" name="Shape 27"/>
          <p:cNvSpPr/>
          <p:nvPr/>
        </p:nvSpPr>
        <p:spPr>
          <a:xfrm>
            <a:off x="5532120" y="2057400"/>
            <a:ext cx="1554480" cy="731520"/>
          </a:xfrm>
          <a:prstGeom prst="roundRect">
            <a:avLst>
              <a:gd name="adj" fmla="val 10000"/>
            </a:avLst>
          </a:prstGeom>
          <a:solidFill>
            <a:srgbClr val="EEF3F0"/>
          </a:solidFill>
          <a:ln w="12700">
            <a:solidFill>
              <a:srgbClr val="EEF3F0"/>
            </a:solidFill>
            <a:prstDash val="solid"/>
          </a:ln>
        </p:spPr>
      </p:sp>
      <p:sp>
        <p:nvSpPr>
          <p:cNvPr id="31" name="Text 28"/>
          <p:cNvSpPr txBox="1"/>
          <p:nvPr/>
        </p:nvSpPr>
        <p:spPr>
          <a:xfrm>
            <a:off x="5623560" y="2148840"/>
            <a:ext cx="1371600" cy="274320"/>
          </a:xfrm>
          <a:prstGeom prst="rect">
            <a:avLst/>
          </a:prstGeom>
          <a:noFill/>
          <a:ln/>
        </p:spPr>
        <p:txBody>
          <a:bodyPr wrap="square" lIns="0" tIns="0" rIns="0" bIns="0" rtlCol="0" anchor="t"/>
          <a:lstStyle/>
          <a:p>
            <a:pPr algn="ctr" indent="0" marL="0">
              <a:buNone/>
            </a:pPr>
            <a:r>
              <a:rPr lang="en-US" sz="1150" b="1" dirty="0">
                <a:solidFill>
                  <a:srgbClr val="0F3D2E"/>
                </a:solidFill>
                <a:latin typeface="Calibri" pitchFamily="34" charset="0"/>
                <a:ea typeface="Calibri" pitchFamily="34" charset="-122"/>
                <a:cs typeface="Calibri" pitchFamily="34" charset="-120"/>
              </a:rPr>
              <a:t>Security checkpoints</a:t>
            </a:r>
            <a:endParaRPr lang="en-US" sz="1150" dirty="0"/>
          </a:p>
        </p:txBody>
      </p:sp>
      <p:sp>
        <p:nvSpPr>
          <p:cNvPr id="32" name="Text 29"/>
          <p:cNvSpPr txBox="1"/>
          <p:nvPr/>
        </p:nvSpPr>
        <p:spPr>
          <a:xfrm>
            <a:off x="5577840" y="2468880"/>
            <a:ext cx="1463040" cy="228600"/>
          </a:xfrm>
          <a:prstGeom prst="rect">
            <a:avLst/>
          </a:prstGeom>
          <a:noFill/>
          <a:ln/>
        </p:spPr>
        <p:txBody>
          <a:bodyPr wrap="square" lIns="0" tIns="0" rIns="0" bIns="0" rtlCol="0" anchor="t"/>
          <a:lstStyle/>
          <a:p>
            <a:pPr algn="ctr" indent="0" marL="0">
              <a:buNone/>
            </a:pPr>
            <a:r>
              <a:rPr lang="en-US" sz="950" dirty="0">
                <a:solidFill>
                  <a:srgbClr val="5F6F68"/>
                </a:solidFill>
                <a:latin typeface="Courier New" pitchFamily="34" charset="0"/>
                <a:ea typeface="Courier New" pitchFamily="34" charset="-122"/>
                <a:cs typeface="Courier New" pitchFamily="34" charset="-120"/>
              </a:rPr>
              <a:t>security</a:t>
            </a:r>
            <a:endParaRPr lang="en-US" sz="950" dirty="0"/>
          </a:p>
        </p:txBody>
      </p:sp>
      <p:sp>
        <p:nvSpPr>
          <p:cNvPr id="33" name="Shape 30"/>
          <p:cNvSpPr/>
          <p:nvPr/>
        </p:nvSpPr>
        <p:spPr>
          <a:xfrm>
            <a:off x="7223760" y="2057400"/>
            <a:ext cx="1554480" cy="731520"/>
          </a:xfrm>
          <a:prstGeom prst="roundRect">
            <a:avLst>
              <a:gd name="adj" fmla="val 10000"/>
            </a:avLst>
          </a:prstGeom>
          <a:solidFill>
            <a:srgbClr val="EEF3F0"/>
          </a:solidFill>
          <a:ln w="12700">
            <a:solidFill>
              <a:srgbClr val="EEF3F0"/>
            </a:solidFill>
            <a:prstDash val="solid"/>
          </a:ln>
        </p:spPr>
      </p:sp>
      <p:sp>
        <p:nvSpPr>
          <p:cNvPr id="34" name="Text 31"/>
          <p:cNvSpPr txBox="1"/>
          <p:nvPr/>
        </p:nvSpPr>
        <p:spPr>
          <a:xfrm>
            <a:off x="7315200" y="2148840"/>
            <a:ext cx="1371600" cy="274320"/>
          </a:xfrm>
          <a:prstGeom prst="rect">
            <a:avLst/>
          </a:prstGeom>
          <a:noFill/>
          <a:ln/>
        </p:spPr>
        <p:txBody>
          <a:bodyPr wrap="square" lIns="0" tIns="0" rIns="0" bIns="0" rtlCol="0" anchor="t"/>
          <a:lstStyle/>
          <a:p>
            <a:pPr algn="ctr" indent="0" marL="0">
              <a:buNone/>
            </a:pPr>
            <a:r>
              <a:rPr lang="en-US" sz="1150" b="1" dirty="0">
                <a:solidFill>
                  <a:srgbClr val="0F3D2E"/>
                </a:solidFill>
                <a:latin typeface="Calibri" pitchFamily="34" charset="0"/>
                <a:ea typeface="Calibri" pitchFamily="34" charset="-122"/>
                <a:cs typeface="Calibri" pitchFamily="34" charset="-120"/>
              </a:rPr>
              <a:t>University life</a:t>
            </a:r>
            <a:endParaRPr lang="en-US" sz="1150" dirty="0"/>
          </a:p>
        </p:txBody>
      </p:sp>
      <p:sp>
        <p:nvSpPr>
          <p:cNvPr id="35" name="Text 32"/>
          <p:cNvSpPr txBox="1"/>
          <p:nvPr/>
        </p:nvSpPr>
        <p:spPr>
          <a:xfrm>
            <a:off x="7269480" y="2468880"/>
            <a:ext cx="1463040" cy="228600"/>
          </a:xfrm>
          <a:prstGeom prst="rect">
            <a:avLst/>
          </a:prstGeom>
          <a:noFill/>
          <a:ln/>
        </p:spPr>
        <p:txBody>
          <a:bodyPr wrap="square" lIns="0" tIns="0" rIns="0" bIns="0" rtlCol="0" anchor="t"/>
          <a:lstStyle/>
          <a:p>
            <a:pPr algn="ctr" indent="0" marL="0">
              <a:buNone/>
            </a:pPr>
            <a:r>
              <a:rPr lang="en-US" sz="950" dirty="0">
                <a:solidFill>
                  <a:srgbClr val="5F6F68"/>
                </a:solidFill>
                <a:latin typeface="Courier New" pitchFamily="34" charset="0"/>
                <a:ea typeface="Courier New" pitchFamily="34" charset="-122"/>
                <a:cs typeface="Courier New" pitchFamily="34" charset="-120"/>
              </a:rPr>
              <a:t>university</a:t>
            </a:r>
            <a:endParaRPr lang="en-US" sz="950" dirty="0"/>
          </a:p>
        </p:txBody>
      </p:sp>
      <p:sp>
        <p:nvSpPr>
          <p:cNvPr id="36" name="Text 33"/>
          <p:cNvSpPr txBox="1"/>
          <p:nvPr/>
        </p:nvSpPr>
        <p:spPr>
          <a:xfrm>
            <a:off x="457200" y="3017520"/>
            <a:ext cx="8229600" cy="274320"/>
          </a:xfrm>
          <a:prstGeom prst="rect">
            <a:avLst/>
          </a:prstGeom>
          <a:noFill/>
          <a:ln/>
        </p:spPr>
        <p:txBody>
          <a:bodyPr wrap="square" lIns="0" tIns="0" rIns="0" bIns="0" rtlCol="0" anchor="t"/>
          <a:lstStyle/>
          <a:p>
            <a:pPr indent="0" marL="0">
              <a:buNone/>
            </a:pPr>
            <a:r>
              <a:rPr lang="en-US" sz="1500" b="1" dirty="0">
                <a:solidFill>
                  <a:srgbClr val="8A6D12"/>
                </a:solidFill>
                <a:latin typeface="Cambria" pitchFamily="34" charset="0"/>
                <a:ea typeface="Cambria" pitchFamily="34" charset="-122"/>
                <a:cs typeface="Cambria" pitchFamily="34" charset="-120"/>
              </a:rPr>
              <a:t>Added from observed vocabulary</a:t>
            </a:r>
            <a:endParaRPr lang="en-US" sz="1500" dirty="0"/>
          </a:p>
        </p:txBody>
      </p:sp>
      <p:sp>
        <p:nvSpPr>
          <p:cNvPr id="37" name="Shape 34"/>
          <p:cNvSpPr/>
          <p:nvPr/>
        </p:nvSpPr>
        <p:spPr>
          <a:xfrm>
            <a:off x="457200" y="3383280"/>
            <a:ext cx="1554480" cy="457200"/>
          </a:xfrm>
          <a:prstGeom prst="roundRect">
            <a:avLst>
              <a:gd name="adj" fmla="val 16000"/>
            </a:avLst>
          </a:prstGeom>
          <a:solidFill>
            <a:srgbClr val="FBF3D9"/>
          </a:solidFill>
          <a:ln w="12700">
            <a:solidFill>
              <a:srgbClr val="FBF3D9"/>
            </a:solidFill>
            <a:prstDash val="solid"/>
          </a:ln>
        </p:spPr>
      </p:sp>
      <p:sp>
        <p:nvSpPr>
          <p:cNvPr id="38" name="Text 35"/>
          <p:cNvSpPr txBox="1"/>
          <p:nvPr/>
        </p:nvSpPr>
        <p:spPr>
          <a:xfrm>
            <a:off x="457200" y="3383280"/>
            <a:ext cx="1554480" cy="457200"/>
          </a:xfrm>
          <a:prstGeom prst="rect">
            <a:avLst/>
          </a:prstGeom>
          <a:noFill/>
          <a:ln/>
        </p:spPr>
        <p:txBody>
          <a:bodyPr wrap="square" lIns="0" tIns="0" rIns="0" bIns="0" rtlCol="0" anchor="ctr"/>
          <a:lstStyle/>
          <a:p>
            <a:pPr algn="ctr" indent="0" marL="0">
              <a:buNone/>
            </a:pPr>
            <a:r>
              <a:rPr lang="en-US" sz="1050" b="1" dirty="0">
                <a:solidFill>
                  <a:srgbClr val="6B540E"/>
                </a:solidFill>
                <a:latin typeface="Courier New" pitchFamily="34" charset="0"/>
                <a:ea typeface="Courier New" pitchFamily="34" charset="-122"/>
                <a:cs typeface="Courier New" pitchFamily="34" charset="-120"/>
              </a:rPr>
              <a:t>food_and_drink</a:t>
            </a:r>
            <a:endParaRPr lang="en-US" sz="1050" dirty="0"/>
          </a:p>
        </p:txBody>
      </p:sp>
      <p:sp>
        <p:nvSpPr>
          <p:cNvPr id="39" name="Shape 36"/>
          <p:cNvSpPr/>
          <p:nvPr/>
        </p:nvSpPr>
        <p:spPr>
          <a:xfrm>
            <a:off x="2148840" y="3383280"/>
            <a:ext cx="1554480" cy="457200"/>
          </a:xfrm>
          <a:prstGeom prst="roundRect">
            <a:avLst>
              <a:gd name="adj" fmla="val 16000"/>
            </a:avLst>
          </a:prstGeom>
          <a:solidFill>
            <a:srgbClr val="FBF3D9"/>
          </a:solidFill>
          <a:ln w="12700">
            <a:solidFill>
              <a:srgbClr val="FBF3D9"/>
            </a:solidFill>
            <a:prstDash val="solid"/>
          </a:ln>
        </p:spPr>
      </p:sp>
      <p:sp>
        <p:nvSpPr>
          <p:cNvPr id="40" name="Text 37"/>
          <p:cNvSpPr txBox="1"/>
          <p:nvPr/>
        </p:nvSpPr>
        <p:spPr>
          <a:xfrm>
            <a:off x="2148840" y="3383280"/>
            <a:ext cx="1554480" cy="457200"/>
          </a:xfrm>
          <a:prstGeom prst="rect">
            <a:avLst/>
          </a:prstGeom>
          <a:noFill/>
          <a:ln/>
        </p:spPr>
        <p:txBody>
          <a:bodyPr wrap="square" lIns="0" tIns="0" rIns="0" bIns="0" rtlCol="0" anchor="ctr"/>
          <a:lstStyle/>
          <a:p>
            <a:pPr algn="ctr" indent="0" marL="0">
              <a:buNone/>
            </a:pPr>
            <a:r>
              <a:rPr lang="en-US" sz="1050" b="1" dirty="0">
                <a:solidFill>
                  <a:srgbClr val="6B540E"/>
                </a:solidFill>
                <a:latin typeface="Courier New" pitchFamily="34" charset="0"/>
                <a:ea typeface="Courier New" pitchFamily="34" charset="-122"/>
                <a:cs typeface="Courier New" pitchFamily="34" charset="-120"/>
              </a:rPr>
              <a:t>family</a:t>
            </a:r>
            <a:endParaRPr lang="en-US" sz="1050" dirty="0"/>
          </a:p>
        </p:txBody>
      </p:sp>
      <p:sp>
        <p:nvSpPr>
          <p:cNvPr id="41" name="Shape 38"/>
          <p:cNvSpPr/>
          <p:nvPr/>
        </p:nvSpPr>
        <p:spPr>
          <a:xfrm>
            <a:off x="3840480" y="3383280"/>
            <a:ext cx="1554480" cy="457200"/>
          </a:xfrm>
          <a:prstGeom prst="roundRect">
            <a:avLst>
              <a:gd name="adj" fmla="val 16000"/>
            </a:avLst>
          </a:prstGeom>
          <a:solidFill>
            <a:srgbClr val="FBF3D9"/>
          </a:solidFill>
          <a:ln w="12700">
            <a:solidFill>
              <a:srgbClr val="FBF3D9"/>
            </a:solidFill>
            <a:prstDash val="solid"/>
          </a:ln>
        </p:spPr>
      </p:sp>
      <p:sp>
        <p:nvSpPr>
          <p:cNvPr id="42" name="Text 39"/>
          <p:cNvSpPr txBox="1"/>
          <p:nvPr/>
        </p:nvSpPr>
        <p:spPr>
          <a:xfrm>
            <a:off x="3840480" y="3383280"/>
            <a:ext cx="1554480" cy="457200"/>
          </a:xfrm>
          <a:prstGeom prst="rect">
            <a:avLst/>
          </a:prstGeom>
          <a:noFill/>
          <a:ln/>
        </p:spPr>
        <p:txBody>
          <a:bodyPr wrap="square" lIns="0" tIns="0" rIns="0" bIns="0" rtlCol="0" anchor="ctr"/>
          <a:lstStyle/>
          <a:p>
            <a:pPr algn="ctr" indent="0" marL="0">
              <a:buNone/>
            </a:pPr>
            <a:r>
              <a:rPr lang="en-US" sz="1050" b="1" dirty="0">
                <a:solidFill>
                  <a:srgbClr val="6B540E"/>
                </a:solidFill>
                <a:latin typeface="Courier New" pitchFamily="34" charset="0"/>
                <a:ea typeface="Courier New" pitchFamily="34" charset="-122"/>
                <a:cs typeface="Courier New" pitchFamily="34" charset="-120"/>
              </a:rPr>
              <a:t>greetings</a:t>
            </a:r>
            <a:endParaRPr lang="en-US" sz="1050" dirty="0"/>
          </a:p>
        </p:txBody>
      </p:sp>
      <p:sp>
        <p:nvSpPr>
          <p:cNvPr id="43" name="Shape 40"/>
          <p:cNvSpPr/>
          <p:nvPr/>
        </p:nvSpPr>
        <p:spPr>
          <a:xfrm>
            <a:off x="5532120" y="3383280"/>
            <a:ext cx="1554480" cy="457200"/>
          </a:xfrm>
          <a:prstGeom prst="roundRect">
            <a:avLst>
              <a:gd name="adj" fmla="val 16000"/>
            </a:avLst>
          </a:prstGeom>
          <a:solidFill>
            <a:srgbClr val="FBF3D9"/>
          </a:solidFill>
          <a:ln w="12700">
            <a:solidFill>
              <a:srgbClr val="FBF3D9"/>
            </a:solidFill>
            <a:prstDash val="solid"/>
          </a:ln>
        </p:spPr>
      </p:sp>
      <p:sp>
        <p:nvSpPr>
          <p:cNvPr id="44" name="Text 41"/>
          <p:cNvSpPr txBox="1"/>
          <p:nvPr/>
        </p:nvSpPr>
        <p:spPr>
          <a:xfrm>
            <a:off x="5532120" y="3383280"/>
            <a:ext cx="1554480" cy="457200"/>
          </a:xfrm>
          <a:prstGeom prst="rect">
            <a:avLst/>
          </a:prstGeom>
          <a:noFill/>
          <a:ln/>
        </p:spPr>
        <p:txBody>
          <a:bodyPr wrap="square" lIns="0" tIns="0" rIns="0" bIns="0" rtlCol="0" anchor="ctr"/>
          <a:lstStyle/>
          <a:p>
            <a:pPr algn="ctr" indent="0" marL="0">
              <a:buNone/>
            </a:pPr>
            <a:r>
              <a:rPr lang="en-US" sz="1050" b="1" dirty="0">
                <a:solidFill>
                  <a:srgbClr val="6B540E"/>
                </a:solidFill>
                <a:latin typeface="Courier New" pitchFamily="34" charset="0"/>
                <a:ea typeface="Courier New" pitchFamily="34" charset="-122"/>
                <a:cs typeface="Courier New" pitchFamily="34" charset="-120"/>
              </a:rPr>
              <a:t>nightlife</a:t>
            </a:r>
            <a:endParaRPr lang="en-US" sz="1050" dirty="0"/>
          </a:p>
        </p:txBody>
      </p:sp>
      <p:sp>
        <p:nvSpPr>
          <p:cNvPr id="45" name="Shape 42"/>
          <p:cNvSpPr/>
          <p:nvPr/>
        </p:nvSpPr>
        <p:spPr>
          <a:xfrm>
            <a:off x="7223760" y="3383280"/>
            <a:ext cx="1554480" cy="457200"/>
          </a:xfrm>
          <a:prstGeom prst="roundRect">
            <a:avLst>
              <a:gd name="adj" fmla="val 16000"/>
            </a:avLst>
          </a:prstGeom>
          <a:solidFill>
            <a:srgbClr val="FBF3D9"/>
          </a:solidFill>
          <a:ln w="12700">
            <a:solidFill>
              <a:srgbClr val="FBF3D9"/>
            </a:solidFill>
            <a:prstDash val="solid"/>
          </a:ln>
        </p:spPr>
      </p:sp>
      <p:sp>
        <p:nvSpPr>
          <p:cNvPr id="46" name="Text 43"/>
          <p:cNvSpPr txBox="1"/>
          <p:nvPr/>
        </p:nvSpPr>
        <p:spPr>
          <a:xfrm>
            <a:off x="7223760" y="3383280"/>
            <a:ext cx="1554480" cy="457200"/>
          </a:xfrm>
          <a:prstGeom prst="rect">
            <a:avLst/>
          </a:prstGeom>
          <a:noFill/>
          <a:ln/>
        </p:spPr>
        <p:txBody>
          <a:bodyPr wrap="square" lIns="0" tIns="0" rIns="0" bIns="0" rtlCol="0" anchor="ctr"/>
          <a:lstStyle/>
          <a:p>
            <a:pPr algn="ctr" indent="0" marL="0">
              <a:buNone/>
            </a:pPr>
            <a:r>
              <a:rPr lang="en-US" sz="1050" b="1" dirty="0">
                <a:solidFill>
                  <a:srgbClr val="6B540E"/>
                </a:solidFill>
                <a:latin typeface="Courier New" pitchFamily="34" charset="0"/>
                <a:ea typeface="Courier New" pitchFamily="34" charset="-122"/>
                <a:cs typeface="Courier New" pitchFamily="34" charset="-120"/>
              </a:rPr>
              <a:t>housing</a:t>
            </a:r>
            <a:endParaRPr lang="en-US" sz="1050" dirty="0"/>
          </a:p>
        </p:txBody>
      </p:sp>
      <p:sp>
        <p:nvSpPr>
          <p:cNvPr id="47" name="Text 44"/>
          <p:cNvSpPr txBox="1"/>
          <p:nvPr/>
        </p:nvSpPr>
        <p:spPr>
          <a:xfrm>
            <a:off x="457200" y="4069080"/>
            <a:ext cx="8229600" cy="50292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Every topic is reported with the exact canonical words that triggered it. Topic matching never influences whether a statement is grammatically accepted.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Lexical analysis: scanner and lexer</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4206240" cy="914400"/>
        </p:xfrm>
        <a:graphic>
          <a:graphicData uri="http://schemas.openxmlformats.org/drawingml/2006/table">
            <a:tbl>
              <a:tblPr/>
              <a:tblGrid>
                <a:gridCol w="1188720"/>
                <a:gridCol w="301752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Span kind</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Matches</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r>
              <a:tr h="0">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WORD</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Letters and combining accents, with internal apostrophes or hyphens</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0">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NUMBER</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A run of digits</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0">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SPACE</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Horizontal whitespace only</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0">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NEWLINE</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One or more line breaks</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0">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PUNCTUATION</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Sentence and clause marks, incl. guillemets</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bl>
          </a:graphicData>
        </a:graphic>
      </p:graphicFrame>
      <p:sp>
        <p:nvSpPr>
          <p:cNvPr id="7" name="Shape 3"/>
          <p:cNvSpPr/>
          <p:nvPr/>
        </p:nvSpPr>
        <p:spPr>
          <a:xfrm>
            <a:off x="457200" y="3246120"/>
            <a:ext cx="2057400" cy="914400"/>
          </a:xfrm>
          <a:prstGeom prst="roundRect">
            <a:avLst>
              <a:gd name="adj" fmla="val 8000"/>
            </a:avLst>
          </a:prstGeom>
          <a:solidFill>
            <a:srgbClr val="0F3D2E"/>
          </a:solidFill>
          <a:ln w="12700">
            <a:solidFill>
              <a:srgbClr val="0F3D2E"/>
            </a:solidFill>
            <a:prstDash val="solid"/>
          </a:ln>
        </p:spPr>
      </p:sp>
      <p:sp>
        <p:nvSpPr>
          <p:cNvPr id="8" name="Text 4"/>
          <p:cNvSpPr txBox="1"/>
          <p:nvPr/>
        </p:nvSpPr>
        <p:spPr>
          <a:xfrm>
            <a:off x="566928" y="3291840"/>
            <a:ext cx="1828800" cy="8229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Pass 1 · Scanning</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Typed runs with byte offsets (FR-10)</a:t>
            </a:r>
            <a:endParaRPr lang="en-US" sz="1100" dirty="0"/>
          </a:p>
        </p:txBody>
      </p:sp>
      <p:sp>
        <p:nvSpPr>
          <p:cNvPr id="9" name="Shape 5"/>
          <p:cNvSpPr/>
          <p:nvPr/>
        </p:nvSpPr>
        <p:spPr>
          <a:xfrm>
            <a:off x="2606040" y="3246120"/>
            <a:ext cx="2057400" cy="914400"/>
          </a:xfrm>
          <a:prstGeom prst="roundRect">
            <a:avLst>
              <a:gd name="adj" fmla="val 8000"/>
            </a:avLst>
          </a:prstGeom>
          <a:solidFill>
            <a:srgbClr val="0F3D2E"/>
          </a:solidFill>
          <a:ln w="12700">
            <a:solidFill>
              <a:srgbClr val="0F3D2E"/>
            </a:solidFill>
            <a:prstDash val="solid"/>
          </a:ln>
        </p:spPr>
      </p:sp>
      <p:sp>
        <p:nvSpPr>
          <p:cNvPr id="10" name="Text 6"/>
          <p:cNvSpPr txBox="1"/>
          <p:nvPr/>
        </p:nvSpPr>
        <p:spPr>
          <a:xfrm>
            <a:off x="2715768" y="3291840"/>
            <a:ext cx="1828800" cy="8229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Pass 2 · Lexing</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Class, canonical form, donor language, gloss</a:t>
            </a:r>
            <a:endParaRPr lang="en-US" sz="1100" dirty="0"/>
          </a:p>
        </p:txBody>
      </p:sp>
      <p:sp>
        <p:nvSpPr>
          <p:cNvPr id="11" name="Shape 7"/>
          <p:cNvSpPr/>
          <p:nvPr/>
        </p:nvSpPr>
        <p:spPr>
          <a:xfrm>
            <a:off x="4937760" y="1143000"/>
            <a:ext cx="3749040" cy="1463040"/>
          </a:xfrm>
          <a:prstGeom prst="roundRect">
            <a:avLst>
              <a:gd name="adj" fmla="val 5000"/>
            </a:avLst>
          </a:prstGeom>
          <a:solidFill>
            <a:srgbClr val="14231D"/>
          </a:solidFill>
          <a:ln w="12700">
            <a:solidFill>
              <a:srgbClr val="14231D"/>
            </a:solidFill>
            <a:prstDash val="solid"/>
          </a:ln>
        </p:spPr>
      </p:sp>
      <p:sp>
        <p:nvSpPr>
          <p:cNvPr id="12" name="Text 8"/>
          <p:cNvSpPr txBox="1"/>
          <p:nvPr/>
        </p:nvSpPr>
        <p:spPr>
          <a:xfrm>
            <a:off x="5074920" y="1234440"/>
            <a:ext cx="3520440" cy="1280160"/>
          </a:xfrm>
          <a:prstGeom prst="rect">
            <a:avLst/>
          </a:prstGeom>
          <a:noFill/>
          <a:ln/>
        </p:spPr>
        <p:txBody>
          <a:bodyPr wrap="square" lIns="0" tIns="0" rIns="0" bIns="0" rtlCol="0" anchor="ctr"/>
          <a:lstStyle/>
          <a:p>
            <a:pPr indent="0" marL="0">
              <a:buNone/>
            </a:pPr>
            <a:r>
              <a:rPr lang="en-US" sz="1000" dirty="0">
                <a:solidFill>
                  <a:srgbClr val="D9B44A"/>
                </a:solidFill>
                <a:latin typeface="Courier New" pitchFamily="34" charset="0"/>
                <a:ea typeface="Courier New" pitchFamily="34" charset="-122"/>
                <a:cs typeface="Courier New" pitchFamily="34" charset="-120"/>
              </a:rPr>
              <a:t>_WORD_RE =</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(?:[^\W\d_]|[\u0300-\u036f])+</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(?:['\u2019-]</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(?:[^\W\d_]|[\u0300-\u036f])+)*</a:t>
            </a:r>
            <a:endParaRPr lang="en-US" sz="1000" dirty="0"/>
          </a:p>
        </p:txBody>
      </p:sp>
      <p:sp>
        <p:nvSpPr>
          <p:cNvPr id="13" name="Text 9"/>
          <p:cNvSpPr txBox="1"/>
          <p:nvPr/>
        </p:nvSpPr>
        <p:spPr>
          <a:xfrm>
            <a:off x="4937760" y="2834640"/>
            <a:ext cx="374904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A26"/>
                </a:solidFill>
                <a:latin typeface="Calibri" pitchFamily="34" charset="0"/>
                <a:ea typeface="Calibri" pitchFamily="34" charset="-122"/>
                <a:cs typeface="Calibri" pitchFamily="34" charset="-120"/>
              </a:rPr>
              <a:t>[^\W\d_] matches any Unicode letter, so ça, où and tchop need no accent list</a:t>
            </a:r>
            <a:endParaRPr lang="en-US" sz="1200" dirty="0"/>
          </a:p>
          <a:p>
            <a:pPr marL="342900" indent="-342900">
              <a:spcAft>
                <a:spcPts val="600"/>
              </a:spcAft>
              <a:buSzPct val="100000"/>
              <a:buChar char="•"/>
            </a:pPr>
            <a:r>
              <a:rPr lang="en-US" sz="1200" dirty="0">
                <a:solidFill>
                  <a:srgbClr val="1F2A26"/>
                </a:solidFill>
                <a:latin typeface="Calibri" pitchFamily="34" charset="0"/>
                <a:ea typeface="Calibri" pitchFamily="34" charset="-122"/>
                <a:cs typeface="Calibri" pitchFamily="34" charset="-120"/>
              </a:rPr>
              <a:t>Combining marks: decomposed é scans like precomposed é</a:t>
            </a:r>
            <a:endParaRPr lang="en-US" sz="1200" dirty="0"/>
          </a:p>
          <a:p>
            <a:pPr marL="342900" indent="-342900">
              <a:spcAft>
                <a:spcPts val="600"/>
              </a:spcAft>
              <a:buSzPct val="100000"/>
              <a:buChar char="•"/>
            </a:pPr>
            <a:r>
              <a:rPr lang="en-US" sz="1200" dirty="0">
                <a:solidFill>
                  <a:srgbClr val="1F2A26"/>
                </a:solidFill>
                <a:latin typeface="Calibri" pitchFamily="34" charset="0"/>
                <a:ea typeface="Calibri" pitchFamily="34" charset="-122"/>
                <a:cs typeface="Calibri" pitchFamily="34" charset="-120"/>
              </a:rPr>
              <a:t>j’ai, n’est, est-ce stay whole; both ASCII and U+2019 apostrophes accepted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Token categories and donor languages</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10</a:t>
            </a:r>
            <a:endParaRPr lang="en-US" sz="900" dirty="0"/>
          </a:p>
        </p:txBody>
      </p:sp>
      <p:graphicFrame>
        <p:nvGraphicFramePr>
          <p:cNvPr id="6" name="Chart 0" descr=""/>
          <p:cNvGraphicFramePr/>
          <p:nvPr/>
        </p:nvGraphicFramePr>
        <p:xfrm>
          <a:off x="365760" y="1051560"/>
          <a:ext cx="438912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4846320" y="1051560"/>
          <a:ext cx="3931920" cy="3108960"/>
        </p:xfrm>
        <a:graphic xmlns:a="http://schemas.openxmlformats.org/drawingml/2006/main">
          <a:graphicData uri="http://schemas.openxmlformats.org/drawingml/2006/chart">
            <c:chart xmlns:c="http://schemas.openxmlformats.org/drawingml/2006/chart" r:id="rId2"/>
          </a:graphicData>
        </a:graphic>
      </p:graphicFrame>
      <p:sp>
        <p:nvSpPr>
          <p:cNvPr id="8" name="Shape 3"/>
          <p:cNvSpPr/>
          <p:nvPr/>
        </p:nvSpPr>
        <p:spPr>
          <a:xfrm>
            <a:off x="457200" y="4251960"/>
            <a:ext cx="8229600" cy="457200"/>
          </a:xfrm>
          <a:prstGeom prst="roundRect">
            <a:avLst>
              <a:gd name="adj" fmla="val 16000"/>
            </a:avLst>
          </a:prstGeom>
          <a:solidFill>
            <a:srgbClr val="EEF3F0"/>
          </a:solidFill>
          <a:ln w="12700">
            <a:solidFill>
              <a:srgbClr val="EEF3F0"/>
            </a:solidFill>
            <a:prstDash val="solid"/>
          </a:ln>
        </p:spPr>
      </p:sp>
      <p:sp>
        <p:nvSpPr>
          <p:cNvPr id="9" name="Text 4"/>
          <p:cNvSpPr txBox="1"/>
          <p:nvPr/>
        </p:nvSpPr>
        <p:spPr>
          <a:xfrm>
            <a:off x="594360" y="4251960"/>
            <a:ext cx="7955280" cy="45720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353 of 688 entries are slang, but slang is provenance, not syntax: a slang noun is still a NOUN.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Accent folding without losing meaning</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11</a:t>
            </a:r>
            <a:endParaRPr lang="en-US" sz="900" dirty="0"/>
          </a:p>
        </p:txBody>
      </p:sp>
      <p:sp>
        <p:nvSpPr>
          <p:cNvPr id="6" name="Text 3"/>
          <p:cNvSpPr txBox="1"/>
          <p:nvPr/>
        </p:nvSpPr>
        <p:spPr>
          <a:xfrm>
            <a:off x="457200" y="1097280"/>
            <a:ext cx="3931920" cy="274320"/>
          </a:xfrm>
          <a:prstGeom prst="rect">
            <a:avLst/>
          </a:prstGeom>
          <a:noFill/>
          <a:ln/>
        </p:spPr>
        <p:txBody>
          <a:bodyPr wrap="square" lIns="0" tIns="0" rIns="0" bIns="0" rtlCol="0" anchor="t"/>
          <a:lstStyle/>
          <a:p>
            <a:pPr indent="0" marL="0">
              <a:buNone/>
            </a:pPr>
            <a:r>
              <a:rPr lang="en-US" sz="1600" b="1" dirty="0">
                <a:solidFill>
                  <a:srgbClr val="1B6B4F"/>
                </a:solidFill>
                <a:latin typeface="Cambria" pitchFamily="34" charset="0"/>
                <a:ea typeface="Cambria" pitchFamily="34" charset="-122"/>
                <a:cs typeface="Cambria" pitchFamily="34" charset="-120"/>
              </a:rPr>
              <a:t>Lookup priority</a:t>
            </a:r>
            <a:endParaRPr lang="en-US" sz="1600" dirty="0"/>
          </a:p>
        </p:txBody>
      </p:sp>
      <p:sp>
        <p:nvSpPr>
          <p:cNvPr id="7" name="Shape 4"/>
          <p:cNvSpPr/>
          <p:nvPr/>
        </p:nvSpPr>
        <p:spPr>
          <a:xfrm>
            <a:off x="457200" y="1463040"/>
            <a:ext cx="3931920" cy="493776"/>
          </a:xfrm>
          <a:prstGeom prst="roundRect">
            <a:avLst>
              <a:gd name="adj" fmla="val 14815"/>
            </a:avLst>
          </a:prstGeom>
          <a:solidFill>
            <a:srgbClr val="EEF3F0"/>
          </a:solidFill>
          <a:ln w="12700">
            <a:solidFill>
              <a:srgbClr val="EEF3F0"/>
            </a:solidFill>
            <a:prstDash val="solid"/>
          </a:ln>
        </p:spPr>
      </p:sp>
      <p:sp>
        <p:nvSpPr>
          <p:cNvPr id="8" name="Shape 5"/>
          <p:cNvSpPr/>
          <p:nvPr/>
        </p:nvSpPr>
        <p:spPr>
          <a:xfrm>
            <a:off x="548640" y="1527048"/>
            <a:ext cx="365760" cy="365760"/>
          </a:xfrm>
          <a:prstGeom prst="ellipse">
            <a:avLst/>
          </a:prstGeom>
          <a:solidFill>
            <a:srgbClr val="1B6B4F"/>
          </a:solidFill>
          <a:ln w="12700">
            <a:solidFill>
              <a:srgbClr val="1B6B4F"/>
            </a:solidFill>
            <a:prstDash val="solid"/>
          </a:ln>
        </p:spPr>
      </p:sp>
      <p:sp>
        <p:nvSpPr>
          <p:cNvPr id="9" name="Text 6"/>
          <p:cNvSpPr txBox="1"/>
          <p:nvPr/>
        </p:nvSpPr>
        <p:spPr>
          <a:xfrm>
            <a:off x="548640" y="15270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1051560" y="1463040"/>
            <a:ext cx="3200400" cy="493776"/>
          </a:xfrm>
          <a:prstGeom prst="rect">
            <a:avLst/>
          </a:prstGeom>
          <a:noFill/>
          <a:ln/>
        </p:spPr>
        <p:txBody>
          <a:bodyPr wrap="square" lIns="0" tIns="0" rIns="0" bIns="0" rtlCol="0" anchor="ctr"/>
          <a:lstStyle/>
          <a:p>
            <a:pPr indent="0" marL="0">
              <a:buNone/>
            </a:pPr>
            <a:r>
              <a:rPr lang="en-US" sz="1300" b="1" dirty="0">
                <a:solidFill>
                  <a:srgbClr val="0F3D2E"/>
                </a:solidFill>
                <a:latin typeface="Calibri" pitchFamily="34" charset="0"/>
                <a:ea typeface="Calibri" pitchFamily="34" charset="-122"/>
                <a:cs typeface="Calibri" pitchFamily="34" charset="-120"/>
              </a:rPr>
              <a:t>Exact multiword</a:t>
            </a:r>
            <a:endParaRPr lang="en-US" sz="1300" dirty="0"/>
          </a:p>
        </p:txBody>
      </p:sp>
      <p:sp>
        <p:nvSpPr>
          <p:cNvPr id="11" name="Shape 8"/>
          <p:cNvSpPr/>
          <p:nvPr/>
        </p:nvSpPr>
        <p:spPr>
          <a:xfrm>
            <a:off x="457200" y="2066544"/>
            <a:ext cx="3931920" cy="493776"/>
          </a:xfrm>
          <a:prstGeom prst="roundRect">
            <a:avLst>
              <a:gd name="adj" fmla="val 14815"/>
            </a:avLst>
          </a:prstGeom>
          <a:solidFill>
            <a:srgbClr val="EEF3F0"/>
          </a:solidFill>
          <a:ln w="12700">
            <a:solidFill>
              <a:srgbClr val="EEF3F0"/>
            </a:solidFill>
            <a:prstDash val="solid"/>
          </a:ln>
        </p:spPr>
      </p:sp>
      <p:sp>
        <p:nvSpPr>
          <p:cNvPr id="12" name="Shape 9"/>
          <p:cNvSpPr/>
          <p:nvPr/>
        </p:nvSpPr>
        <p:spPr>
          <a:xfrm>
            <a:off x="548640" y="2130552"/>
            <a:ext cx="365760" cy="365760"/>
          </a:xfrm>
          <a:prstGeom prst="ellipse">
            <a:avLst/>
          </a:prstGeom>
          <a:solidFill>
            <a:srgbClr val="1B6B4F"/>
          </a:solidFill>
          <a:ln w="12700">
            <a:solidFill>
              <a:srgbClr val="1B6B4F"/>
            </a:solidFill>
            <a:prstDash val="solid"/>
          </a:ln>
        </p:spPr>
      </p:sp>
      <p:sp>
        <p:nvSpPr>
          <p:cNvPr id="13" name="Text 10"/>
          <p:cNvSpPr txBox="1"/>
          <p:nvPr/>
        </p:nvSpPr>
        <p:spPr>
          <a:xfrm>
            <a:off x="548640" y="21305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1051560" y="2066544"/>
            <a:ext cx="3200400" cy="493776"/>
          </a:xfrm>
          <a:prstGeom prst="rect">
            <a:avLst/>
          </a:prstGeom>
          <a:noFill/>
          <a:ln/>
        </p:spPr>
        <p:txBody>
          <a:bodyPr wrap="square" lIns="0" tIns="0" rIns="0" bIns="0" rtlCol="0" anchor="ctr"/>
          <a:lstStyle/>
          <a:p>
            <a:pPr indent="0" marL="0">
              <a:buNone/>
            </a:pPr>
            <a:r>
              <a:rPr lang="en-US" sz="1300" b="1" dirty="0">
                <a:solidFill>
                  <a:srgbClr val="0F3D2E"/>
                </a:solidFill>
                <a:latin typeface="Calibri" pitchFamily="34" charset="0"/>
                <a:ea typeface="Calibri" pitchFamily="34" charset="-122"/>
                <a:cs typeface="Calibri" pitchFamily="34" charset="-120"/>
              </a:rPr>
              <a:t>Folded multiword</a:t>
            </a:r>
            <a:endParaRPr lang="en-US" sz="1300" dirty="0"/>
          </a:p>
        </p:txBody>
      </p:sp>
      <p:sp>
        <p:nvSpPr>
          <p:cNvPr id="15" name="Shape 12"/>
          <p:cNvSpPr/>
          <p:nvPr/>
        </p:nvSpPr>
        <p:spPr>
          <a:xfrm>
            <a:off x="457200" y="2670048"/>
            <a:ext cx="3931920" cy="493776"/>
          </a:xfrm>
          <a:prstGeom prst="roundRect">
            <a:avLst>
              <a:gd name="adj" fmla="val 14815"/>
            </a:avLst>
          </a:prstGeom>
          <a:solidFill>
            <a:srgbClr val="EEF3F0"/>
          </a:solidFill>
          <a:ln w="12700">
            <a:solidFill>
              <a:srgbClr val="EEF3F0"/>
            </a:solidFill>
            <a:prstDash val="solid"/>
          </a:ln>
        </p:spPr>
      </p:sp>
      <p:sp>
        <p:nvSpPr>
          <p:cNvPr id="16" name="Shape 13"/>
          <p:cNvSpPr/>
          <p:nvPr/>
        </p:nvSpPr>
        <p:spPr>
          <a:xfrm>
            <a:off x="548640" y="2734056"/>
            <a:ext cx="365760" cy="365760"/>
          </a:xfrm>
          <a:prstGeom prst="ellipse">
            <a:avLst/>
          </a:prstGeom>
          <a:solidFill>
            <a:srgbClr val="1B6B4F"/>
          </a:solidFill>
          <a:ln w="12700">
            <a:solidFill>
              <a:srgbClr val="1B6B4F"/>
            </a:solidFill>
            <a:prstDash val="solid"/>
          </a:ln>
        </p:spPr>
      </p:sp>
      <p:sp>
        <p:nvSpPr>
          <p:cNvPr id="17" name="Text 14"/>
          <p:cNvSpPr txBox="1"/>
          <p:nvPr/>
        </p:nvSpPr>
        <p:spPr>
          <a:xfrm>
            <a:off x="548640" y="27340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051560" y="2670048"/>
            <a:ext cx="3200400" cy="493776"/>
          </a:xfrm>
          <a:prstGeom prst="rect">
            <a:avLst/>
          </a:prstGeom>
          <a:noFill/>
          <a:ln/>
        </p:spPr>
        <p:txBody>
          <a:bodyPr wrap="square" lIns="0" tIns="0" rIns="0" bIns="0" rtlCol="0" anchor="ctr"/>
          <a:lstStyle/>
          <a:p>
            <a:pPr indent="0" marL="0">
              <a:buNone/>
            </a:pPr>
            <a:r>
              <a:rPr lang="en-US" sz="1300" b="1" dirty="0">
                <a:solidFill>
                  <a:srgbClr val="0F3D2E"/>
                </a:solidFill>
                <a:latin typeface="Calibri" pitchFamily="34" charset="0"/>
                <a:ea typeface="Calibri" pitchFamily="34" charset="-122"/>
                <a:cs typeface="Calibri" pitchFamily="34" charset="-120"/>
              </a:rPr>
              <a:t>Exact single word</a:t>
            </a:r>
            <a:endParaRPr lang="en-US" sz="1300" dirty="0"/>
          </a:p>
        </p:txBody>
      </p:sp>
      <p:sp>
        <p:nvSpPr>
          <p:cNvPr id="19" name="Shape 16"/>
          <p:cNvSpPr/>
          <p:nvPr/>
        </p:nvSpPr>
        <p:spPr>
          <a:xfrm>
            <a:off x="457200" y="3273552"/>
            <a:ext cx="3931920" cy="493776"/>
          </a:xfrm>
          <a:prstGeom prst="roundRect">
            <a:avLst>
              <a:gd name="adj" fmla="val 14815"/>
            </a:avLst>
          </a:prstGeom>
          <a:solidFill>
            <a:srgbClr val="EEF3F0"/>
          </a:solidFill>
          <a:ln w="12700">
            <a:solidFill>
              <a:srgbClr val="EEF3F0"/>
            </a:solidFill>
            <a:prstDash val="solid"/>
          </a:ln>
        </p:spPr>
      </p:sp>
      <p:sp>
        <p:nvSpPr>
          <p:cNvPr id="20" name="Shape 17"/>
          <p:cNvSpPr/>
          <p:nvPr/>
        </p:nvSpPr>
        <p:spPr>
          <a:xfrm>
            <a:off x="548640" y="3337560"/>
            <a:ext cx="365760" cy="365760"/>
          </a:xfrm>
          <a:prstGeom prst="ellipse">
            <a:avLst/>
          </a:prstGeom>
          <a:solidFill>
            <a:srgbClr val="1B6B4F"/>
          </a:solidFill>
          <a:ln w="12700">
            <a:solidFill>
              <a:srgbClr val="1B6B4F"/>
            </a:solidFill>
            <a:prstDash val="solid"/>
          </a:ln>
        </p:spPr>
      </p:sp>
      <p:sp>
        <p:nvSpPr>
          <p:cNvPr id="21" name="Text 18"/>
          <p:cNvSpPr txBox="1"/>
          <p:nvPr/>
        </p:nvSpPr>
        <p:spPr>
          <a:xfrm>
            <a:off x="548640" y="3337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19"/>
          <p:cNvSpPr txBox="1"/>
          <p:nvPr/>
        </p:nvSpPr>
        <p:spPr>
          <a:xfrm>
            <a:off x="1051560" y="3273552"/>
            <a:ext cx="3200400" cy="493776"/>
          </a:xfrm>
          <a:prstGeom prst="rect">
            <a:avLst/>
          </a:prstGeom>
          <a:noFill/>
          <a:ln/>
        </p:spPr>
        <p:txBody>
          <a:bodyPr wrap="square" lIns="0" tIns="0" rIns="0" bIns="0" rtlCol="0" anchor="ctr"/>
          <a:lstStyle/>
          <a:p>
            <a:pPr indent="0" marL="0">
              <a:buNone/>
            </a:pPr>
            <a:r>
              <a:rPr lang="en-US" sz="1300" b="1" dirty="0">
                <a:solidFill>
                  <a:srgbClr val="0F3D2E"/>
                </a:solidFill>
                <a:latin typeface="Calibri" pitchFamily="34" charset="0"/>
                <a:ea typeface="Calibri" pitchFamily="34" charset="-122"/>
                <a:cs typeface="Calibri" pitchFamily="34" charset="-120"/>
              </a:rPr>
              <a:t>Folded single word</a:t>
            </a:r>
            <a:endParaRPr lang="en-US" sz="1300" dirty="0"/>
          </a:p>
        </p:txBody>
      </p:sp>
      <p:sp>
        <p:nvSpPr>
          <p:cNvPr id="23" name="Shape 20"/>
          <p:cNvSpPr/>
          <p:nvPr/>
        </p:nvSpPr>
        <p:spPr>
          <a:xfrm>
            <a:off x="457200" y="3877056"/>
            <a:ext cx="3931920" cy="493776"/>
          </a:xfrm>
          <a:prstGeom prst="roundRect">
            <a:avLst>
              <a:gd name="adj" fmla="val 14815"/>
            </a:avLst>
          </a:prstGeom>
          <a:solidFill>
            <a:srgbClr val="F7E1E1"/>
          </a:solidFill>
          <a:ln w="12700">
            <a:solidFill>
              <a:srgbClr val="F7E1E1"/>
            </a:solidFill>
            <a:prstDash val="solid"/>
          </a:ln>
        </p:spPr>
      </p:sp>
      <p:sp>
        <p:nvSpPr>
          <p:cNvPr id="24" name="Shape 21"/>
          <p:cNvSpPr/>
          <p:nvPr/>
        </p:nvSpPr>
        <p:spPr>
          <a:xfrm>
            <a:off x="548640" y="3941064"/>
            <a:ext cx="365760" cy="365760"/>
          </a:xfrm>
          <a:prstGeom prst="ellipse">
            <a:avLst/>
          </a:prstGeom>
          <a:solidFill>
            <a:srgbClr val="B23A3A"/>
          </a:solidFill>
          <a:ln w="12700">
            <a:solidFill>
              <a:srgbClr val="B23A3A"/>
            </a:solidFill>
            <a:prstDash val="solid"/>
          </a:ln>
        </p:spPr>
      </p:sp>
      <p:sp>
        <p:nvSpPr>
          <p:cNvPr id="25" name="Text 22"/>
          <p:cNvSpPr txBox="1"/>
          <p:nvPr/>
        </p:nvSpPr>
        <p:spPr>
          <a:xfrm>
            <a:off x="548640" y="39410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3"/>
          <p:cNvSpPr txBox="1"/>
          <p:nvPr/>
        </p:nvSpPr>
        <p:spPr>
          <a:xfrm>
            <a:off x="1051560" y="3877056"/>
            <a:ext cx="3200400" cy="493776"/>
          </a:xfrm>
          <a:prstGeom prst="rect">
            <a:avLst/>
          </a:prstGeom>
          <a:noFill/>
          <a:ln/>
        </p:spPr>
        <p:txBody>
          <a:bodyPr wrap="square" lIns="0" tIns="0" rIns="0" bIns="0" rtlCol="0" anchor="ctr"/>
          <a:lstStyle/>
          <a:p>
            <a:pPr indent="0" marL="0">
              <a:buNone/>
            </a:pPr>
            <a:r>
              <a:rPr lang="en-US" sz="1300" b="1" dirty="0">
                <a:solidFill>
                  <a:srgbClr val="B23A3A"/>
                </a:solidFill>
                <a:latin typeface="Calibri" pitchFamily="34" charset="0"/>
                <a:ea typeface="Calibri" pitchFamily="34" charset="-122"/>
                <a:cs typeface="Calibri" pitchFamily="34" charset="-120"/>
              </a:rPr>
              <a:t>UNKNOWN token</a:t>
            </a:r>
            <a:endParaRPr lang="en-US" sz="1300" dirty="0"/>
          </a:p>
        </p:txBody>
      </p:sp>
      <p:sp>
        <p:nvSpPr>
          <p:cNvPr id="27" name="Text 24"/>
          <p:cNvSpPr txBox="1"/>
          <p:nvPr/>
        </p:nvSpPr>
        <p:spPr>
          <a:xfrm>
            <a:off x="4754880" y="1097280"/>
            <a:ext cx="3931920" cy="274320"/>
          </a:xfrm>
          <a:prstGeom prst="rect">
            <a:avLst/>
          </a:prstGeom>
          <a:noFill/>
          <a:ln/>
        </p:spPr>
        <p:txBody>
          <a:bodyPr wrap="square" lIns="0" tIns="0" rIns="0" bIns="0" rtlCol="0" anchor="t"/>
          <a:lstStyle/>
          <a:p>
            <a:pPr indent="0" marL="0">
              <a:buNone/>
            </a:pPr>
            <a:r>
              <a:rPr lang="en-US" sz="1600" b="1" dirty="0">
                <a:solidFill>
                  <a:srgbClr val="1B6B4F"/>
                </a:solidFill>
                <a:latin typeface="Cambria" pitchFamily="34" charset="0"/>
                <a:ea typeface="Cambria" pitchFamily="34" charset="-122"/>
                <a:cs typeface="Cambria" pitchFamily="34" charset="-120"/>
              </a:rPr>
              <a:t>Attested homograph pairs</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754880" y="1463040"/>
          <a:ext cx="3931920" cy="914400"/>
        </p:xfrm>
        <a:graphic>
          <a:graphicData uri="http://schemas.openxmlformats.org/drawingml/2006/table">
            <a:tbl>
              <a:tblPr/>
              <a:tblGrid>
                <a:gridCol w="731520"/>
                <a:gridCol w="1188720"/>
                <a:gridCol w="731520"/>
                <a:gridCol w="1280160"/>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Form A</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Class</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Form B</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Class</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r>
              <a:tr h="329184">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VERB (has)</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à</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PREP (to)</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329184">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la</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DET (the)</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là</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ADV (there)</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329184">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ou</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CONJ (or)</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où</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ADV (where)</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329184">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mais</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CONJ (but)</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maïs</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150" dirty="0">
                          <a:solidFill>
                            <a:srgbClr val="1F2A26"/>
                          </a:solidFill>
                          <a:latin typeface="Calibri" pitchFamily="34" charset="0"/>
                          <a:ea typeface="Calibri" pitchFamily="34" charset="-122"/>
                          <a:cs typeface="Calibri" pitchFamily="34" charset="-120"/>
                        </a:rPr>
                        <a:t>NOUN (maize)</a:t>
                      </a:r>
                      <a:endParaRPr lang="en-US" sz="11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bl>
          </a:graphicData>
        </a:graphic>
      </p:graphicFrame>
      <p:sp>
        <p:nvSpPr>
          <p:cNvPr id="29" name="Shape 25"/>
          <p:cNvSpPr/>
          <p:nvPr/>
        </p:nvSpPr>
        <p:spPr>
          <a:xfrm>
            <a:off x="4754880" y="3337560"/>
            <a:ext cx="3931920" cy="1188720"/>
          </a:xfrm>
          <a:prstGeom prst="roundRect">
            <a:avLst>
              <a:gd name="adj" fmla="val 6154"/>
            </a:avLst>
          </a:prstGeom>
          <a:solidFill>
            <a:srgbClr val="0F3D2E"/>
          </a:solidFill>
          <a:ln w="12700">
            <a:solidFill>
              <a:srgbClr val="0F3D2E"/>
            </a:solidFill>
            <a:prstDash val="solid"/>
          </a:ln>
        </p:spPr>
      </p:sp>
      <p:sp>
        <p:nvSpPr>
          <p:cNvPr id="30" name="Text 26"/>
          <p:cNvSpPr txBox="1"/>
          <p:nvPr/>
        </p:nvSpPr>
        <p:spPr>
          <a:xfrm>
            <a:off x="4892040" y="3383280"/>
            <a:ext cx="3657600" cy="1097280"/>
          </a:xfrm>
          <a:prstGeom prst="rect">
            <a:avLst/>
          </a:prstGeom>
          <a:noFill/>
          <a:ln/>
        </p:spPr>
        <p:txBody>
          <a:bodyPr wrap="square" lIns="0" tIns="0" rIns="0" bIns="0" rtlCol="0" anchor="ctr"/>
          <a:lstStyle/>
          <a:p>
            <a:pPr indent="0" marL="0">
              <a:spcAft>
                <a:spcPts val="600"/>
              </a:spcAft>
              <a:buNone/>
            </a:pPr>
            <a:r>
              <a:rPr lang="en-US" sz="1100" b="1" dirty="0">
                <a:solidFill>
                  <a:srgbClr val="D9B44A"/>
                </a:solidFill>
                <a:latin typeface="Courier New" pitchFamily="34" charset="0"/>
                <a:ea typeface="Courier New" pitchFamily="34" charset="-122"/>
                <a:cs typeface="Courier New" pitchFamily="34" charset="-120"/>
              </a:rPr>
              <a:t>canonicalize_word</a:t>
            </a:r>
            <a:pPr indent="0" marL="0">
              <a:spcAft>
                <a:spcPts val="600"/>
              </a:spcAft>
              <a:buNone/>
            </a:pPr>
            <a:r>
              <a:rPr lang="en-US" sz="1100" dirty="0">
                <a:solidFill>
                  <a:srgbClr val="FFFFFF"/>
                </a:solidFill>
                <a:latin typeface="Calibri" pitchFamily="34" charset="0"/>
                <a:ea typeface="Calibri" pitchFamily="34" charset="-122"/>
                <a:cs typeface="Calibri" pitchFamily="34" charset="-120"/>
              </a:rPr>
              <a:t>  NFC + casefold: Taxi = TAXI = taxi</a:t>
            </a:r>
            <a:endParaRPr lang="en-US" sz="1100" dirty="0"/>
          </a:p>
          <a:p>
            <a:pPr indent="0" marL="0">
              <a:spcAft>
                <a:spcPts val="600"/>
              </a:spcAft>
              <a:buNone/>
            </a:pPr>
            <a:r>
              <a:rPr lang="en-US" sz="1100" b="1" dirty="0">
                <a:solidFill>
                  <a:srgbClr val="D9B44A"/>
                </a:solidFill>
                <a:latin typeface="Courier New" pitchFamily="34" charset="0"/>
                <a:ea typeface="Courier New" pitchFamily="34" charset="-122"/>
                <a:cs typeface="Courier New" pitchFamily="34" charset="-120"/>
              </a:rPr>
              <a:t>fold_word</a:t>
            </a:r>
            <a:pPr indent="0" marL="0">
              <a:spcAft>
                <a:spcPts val="600"/>
              </a:spcAft>
              <a:buNone/>
            </a:pPr>
            <a:r>
              <a:rPr lang="en-US" sz="1100" dirty="0">
                <a:solidFill>
                  <a:srgbClr val="FFFFFF"/>
                </a:solidFill>
                <a:latin typeface="Calibri" pitchFamily="34" charset="0"/>
                <a:ea typeface="Calibri" pitchFamily="34" charset="-122"/>
                <a:cs typeface="Calibri" pitchFamily="34" charset="-120"/>
              </a:rPr>
              <a:t>  strip accents: bénéf = benef (fallback only)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What the grammar has to describe</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12</a:t>
            </a:r>
            <a:endParaRPr lang="en-US" sz="900" dirty="0"/>
          </a:p>
        </p:txBody>
      </p:sp>
      <p:sp>
        <p:nvSpPr>
          <p:cNvPr id="6" name="Shape 3"/>
          <p:cNvSpPr/>
          <p:nvPr/>
        </p:nvSpPr>
        <p:spPr>
          <a:xfrm>
            <a:off x="457200" y="1143000"/>
            <a:ext cx="2651760" cy="1600200"/>
          </a:xfrm>
          <a:prstGeom prst="roundRect">
            <a:avLst>
              <a:gd name="adj" fmla="val 4571"/>
            </a:avLst>
          </a:prstGeom>
          <a:solidFill>
            <a:srgbClr val="EEF3F0"/>
          </a:solidFill>
          <a:ln w="12700">
            <a:solidFill>
              <a:srgbClr val="EEF3F0"/>
            </a:solidFill>
            <a:prstDash val="solid"/>
          </a:ln>
        </p:spPr>
      </p:sp>
      <p:sp>
        <p:nvSpPr>
          <p:cNvPr id="7" name="Shape 4"/>
          <p:cNvSpPr/>
          <p:nvPr/>
        </p:nvSpPr>
        <p:spPr>
          <a:xfrm>
            <a:off x="594360" y="1280160"/>
            <a:ext cx="347472" cy="347472"/>
          </a:xfrm>
          <a:prstGeom prst="ellipse">
            <a:avLst/>
          </a:prstGeom>
          <a:solidFill>
            <a:srgbClr val="1B6B4F"/>
          </a:solidFill>
          <a:ln w="12700">
            <a:solidFill>
              <a:srgbClr val="1B6B4F"/>
            </a:solidFill>
            <a:prstDash val="solid"/>
          </a:ln>
        </p:spPr>
      </p:sp>
      <p:sp>
        <p:nvSpPr>
          <p:cNvPr id="8" name="Text 5"/>
          <p:cNvSpPr txBox="1"/>
          <p:nvPr/>
        </p:nvSpPr>
        <p:spPr>
          <a:xfrm>
            <a:off x="594360" y="1280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051560" y="1252728"/>
            <a:ext cx="1965960" cy="41148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Juxtaposed clauses</a:t>
            </a:r>
            <a:endParaRPr lang="en-US" sz="1250" dirty="0"/>
          </a:p>
        </p:txBody>
      </p:sp>
      <p:sp>
        <p:nvSpPr>
          <p:cNvPr id="10" name="Text 7"/>
          <p:cNvSpPr txBox="1"/>
          <p:nvPr/>
        </p:nvSpPr>
        <p:spPr>
          <a:xfrm>
            <a:off x="640080" y="1783080"/>
            <a:ext cx="2331720" cy="457200"/>
          </a:xfrm>
          <a:prstGeom prst="rect">
            <a:avLst/>
          </a:prstGeom>
          <a:noFill/>
          <a:ln/>
        </p:spPr>
        <p:txBody>
          <a:bodyPr wrap="square" lIns="0" tIns="0" rIns="0" bIns="0" rtlCol="0" anchor="t"/>
          <a:lstStyle/>
          <a:p>
            <a:pPr indent="0" marL="0">
              <a:buNone/>
            </a:pPr>
            <a:r>
              <a:rPr lang="en-US" sz="1150" dirty="0">
                <a:solidFill>
                  <a:srgbClr val="1F2A26"/>
                </a:solidFill>
                <a:latin typeface="Calibri" pitchFamily="34" charset="0"/>
                <a:ea typeface="Calibri" pitchFamily="34" charset="-122"/>
                <a:cs typeface="Calibri" pitchFamily="34" charset="-120"/>
              </a:rPr>
              <a:t>No conjunction between clauses</a:t>
            </a:r>
            <a:endParaRPr lang="en-US" sz="1150" dirty="0"/>
          </a:p>
        </p:txBody>
      </p:sp>
      <p:sp>
        <p:nvSpPr>
          <p:cNvPr id="11" name="Text 8"/>
          <p:cNvSpPr txBox="1"/>
          <p:nvPr/>
        </p:nvSpPr>
        <p:spPr>
          <a:xfrm>
            <a:off x="640080" y="2331720"/>
            <a:ext cx="2331720" cy="274320"/>
          </a:xfrm>
          <a:prstGeom prst="rect">
            <a:avLst/>
          </a:prstGeom>
          <a:noFill/>
          <a:ln/>
        </p:spPr>
        <p:txBody>
          <a:bodyPr wrap="square" lIns="0" tIns="0" rIns="0" bIns="0" rtlCol="0" anchor="t"/>
          <a:lstStyle/>
          <a:p>
            <a:pPr indent="0" marL="0">
              <a:buNone/>
            </a:pPr>
            <a:r>
              <a:rPr lang="en-US" sz="950" b="1" dirty="0">
                <a:solidFill>
                  <a:srgbClr val="1B6B4F"/>
                </a:solidFill>
                <a:latin typeface="Courier New" pitchFamily="34" charset="0"/>
                <a:ea typeface="Courier New" pitchFamily="34" charset="-122"/>
                <a:cs typeface="Courier New" pitchFamily="34" charset="-120"/>
              </a:rPr>
              <a:t>→ Seq with SEP alternatives</a:t>
            </a:r>
            <a:endParaRPr lang="en-US" sz="950" dirty="0"/>
          </a:p>
        </p:txBody>
      </p:sp>
      <p:sp>
        <p:nvSpPr>
          <p:cNvPr id="12" name="Shape 9"/>
          <p:cNvSpPr/>
          <p:nvPr/>
        </p:nvSpPr>
        <p:spPr>
          <a:xfrm>
            <a:off x="3246120" y="1143000"/>
            <a:ext cx="2651760" cy="1600200"/>
          </a:xfrm>
          <a:prstGeom prst="roundRect">
            <a:avLst>
              <a:gd name="adj" fmla="val 4571"/>
            </a:avLst>
          </a:prstGeom>
          <a:solidFill>
            <a:srgbClr val="EEF3F0"/>
          </a:solidFill>
          <a:ln w="12700">
            <a:solidFill>
              <a:srgbClr val="EEF3F0"/>
            </a:solidFill>
            <a:prstDash val="solid"/>
          </a:ln>
        </p:spPr>
      </p:sp>
      <p:sp>
        <p:nvSpPr>
          <p:cNvPr id="13" name="Shape 10"/>
          <p:cNvSpPr/>
          <p:nvPr/>
        </p:nvSpPr>
        <p:spPr>
          <a:xfrm>
            <a:off x="3383280" y="1280160"/>
            <a:ext cx="347472" cy="347472"/>
          </a:xfrm>
          <a:prstGeom prst="ellipse">
            <a:avLst/>
          </a:prstGeom>
          <a:solidFill>
            <a:srgbClr val="1B6B4F"/>
          </a:solidFill>
          <a:ln w="12700">
            <a:solidFill>
              <a:srgbClr val="1B6B4F"/>
            </a:solidFill>
            <a:prstDash val="solid"/>
          </a:ln>
        </p:spPr>
      </p:sp>
      <p:sp>
        <p:nvSpPr>
          <p:cNvPr id="14" name="Text 11"/>
          <p:cNvSpPr txBox="1"/>
          <p:nvPr/>
        </p:nvSpPr>
        <p:spPr>
          <a:xfrm>
            <a:off x="3383280" y="1280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3840480" y="1252728"/>
            <a:ext cx="1965960" cy="41148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Fronted prepositional phrase</a:t>
            </a:r>
            <a:endParaRPr lang="en-US" sz="1250" dirty="0"/>
          </a:p>
        </p:txBody>
      </p:sp>
      <p:sp>
        <p:nvSpPr>
          <p:cNvPr id="16" name="Text 13"/>
          <p:cNvSpPr txBox="1"/>
          <p:nvPr/>
        </p:nvSpPr>
        <p:spPr>
          <a:xfrm>
            <a:off x="3429000" y="1783080"/>
            <a:ext cx="2331720" cy="457200"/>
          </a:xfrm>
          <a:prstGeom prst="rect">
            <a:avLst/>
          </a:prstGeom>
          <a:noFill/>
          <a:ln/>
        </p:spPr>
        <p:txBody>
          <a:bodyPr wrap="square" lIns="0" tIns="0" rIns="0" bIns="0" rtlCol="0" anchor="t"/>
          <a:lstStyle/>
          <a:p>
            <a:pPr indent="0" marL="0">
              <a:buNone/>
            </a:pPr>
            <a:r>
              <a:rPr lang="en-US" sz="1150" dirty="0">
                <a:solidFill>
                  <a:srgbClr val="1F2A26"/>
                </a:solidFill>
                <a:latin typeface="Calibri" pitchFamily="34" charset="0"/>
                <a:ea typeface="Calibri" pitchFamily="34" charset="-122"/>
                <a:cs typeface="Calibri" pitchFamily="34" charset="-120"/>
              </a:rPr>
              <a:t>“Avec cette pluie, je préfère…”</a:t>
            </a:r>
            <a:endParaRPr lang="en-US" sz="1150" dirty="0"/>
          </a:p>
        </p:txBody>
      </p:sp>
      <p:sp>
        <p:nvSpPr>
          <p:cNvPr id="17" name="Text 14"/>
          <p:cNvSpPr txBox="1"/>
          <p:nvPr/>
        </p:nvSpPr>
        <p:spPr>
          <a:xfrm>
            <a:off x="3429000" y="2331720"/>
            <a:ext cx="2331720" cy="274320"/>
          </a:xfrm>
          <a:prstGeom prst="rect">
            <a:avLst/>
          </a:prstGeom>
          <a:noFill/>
          <a:ln/>
        </p:spPr>
        <p:txBody>
          <a:bodyPr wrap="square" lIns="0" tIns="0" rIns="0" bIns="0" rtlCol="0" anchor="t"/>
          <a:lstStyle/>
          <a:p>
            <a:pPr indent="0" marL="0">
              <a:buNone/>
            </a:pPr>
            <a:r>
              <a:rPr lang="en-US" sz="950" b="1" dirty="0">
                <a:solidFill>
                  <a:srgbClr val="1B6B4F"/>
                </a:solidFill>
                <a:latin typeface="Courier New" pitchFamily="34" charset="0"/>
                <a:ea typeface="Courier New" pitchFamily="34" charset="-122"/>
                <a:cs typeface="Courier New" pitchFamily="34" charset="-120"/>
              </a:rPr>
              <a:t>→ Clause → PP ClauseOpt</a:t>
            </a:r>
            <a:endParaRPr lang="en-US" sz="950" dirty="0"/>
          </a:p>
        </p:txBody>
      </p:sp>
      <p:sp>
        <p:nvSpPr>
          <p:cNvPr id="18" name="Shape 15"/>
          <p:cNvSpPr/>
          <p:nvPr/>
        </p:nvSpPr>
        <p:spPr>
          <a:xfrm>
            <a:off x="6035040" y="1143000"/>
            <a:ext cx="2651760" cy="1600200"/>
          </a:xfrm>
          <a:prstGeom prst="roundRect">
            <a:avLst>
              <a:gd name="adj" fmla="val 4571"/>
            </a:avLst>
          </a:prstGeom>
          <a:solidFill>
            <a:srgbClr val="EEF3F0"/>
          </a:solidFill>
          <a:ln w="12700">
            <a:solidFill>
              <a:srgbClr val="EEF3F0"/>
            </a:solidFill>
            <a:prstDash val="solid"/>
          </a:ln>
        </p:spPr>
      </p:sp>
      <p:sp>
        <p:nvSpPr>
          <p:cNvPr id="19" name="Shape 16"/>
          <p:cNvSpPr/>
          <p:nvPr/>
        </p:nvSpPr>
        <p:spPr>
          <a:xfrm>
            <a:off x="6172200" y="1280160"/>
            <a:ext cx="347472" cy="347472"/>
          </a:xfrm>
          <a:prstGeom prst="ellipse">
            <a:avLst/>
          </a:prstGeom>
          <a:solidFill>
            <a:srgbClr val="1B6B4F"/>
          </a:solidFill>
          <a:ln w="12700">
            <a:solidFill>
              <a:srgbClr val="1B6B4F"/>
            </a:solidFill>
            <a:prstDash val="solid"/>
          </a:ln>
        </p:spPr>
      </p:sp>
      <p:sp>
        <p:nvSpPr>
          <p:cNvPr id="20" name="Text 17"/>
          <p:cNvSpPr txBox="1"/>
          <p:nvPr/>
        </p:nvSpPr>
        <p:spPr>
          <a:xfrm>
            <a:off x="6172200" y="1280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8"/>
          <p:cNvSpPr txBox="1"/>
          <p:nvPr/>
        </p:nvSpPr>
        <p:spPr>
          <a:xfrm>
            <a:off x="6629400" y="1252728"/>
            <a:ext cx="1965960" cy="41148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Interjections &amp; formulas</a:t>
            </a:r>
            <a:endParaRPr lang="en-US" sz="1250" dirty="0"/>
          </a:p>
        </p:txBody>
      </p:sp>
      <p:sp>
        <p:nvSpPr>
          <p:cNvPr id="22" name="Text 19"/>
          <p:cNvSpPr txBox="1"/>
          <p:nvPr/>
        </p:nvSpPr>
        <p:spPr>
          <a:xfrm>
            <a:off x="6217920" y="1783080"/>
            <a:ext cx="2331720" cy="457200"/>
          </a:xfrm>
          <a:prstGeom prst="rect">
            <a:avLst/>
          </a:prstGeom>
          <a:noFill/>
          <a:ln/>
        </p:spPr>
        <p:txBody>
          <a:bodyPr wrap="square" lIns="0" tIns="0" rIns="0" bIns="0" rtlCol="0" anchor="t"/>
          <a:lstStyle/>
          <a:p>
            <a:pPr indent="0" marL="0">
              <a:buNone/>
            </a:pPr>
            <a:r>
              <a:rPr lang="en-US" sz="1150" dirty="0">
                <a:solidFill>
                  <a:srgbClr val="1F2A26"/>
                </a:solidFill>
                <a:latin typeface="Calibri" pitchFamily="34" charset="0"/>
                <a:ea typeface="Calibri" pitchFamily="34" charset="-122"/>
                <a:cs typeface="Calibri" pitchFamily="34" charset="-120"/>
              </a:rPr>
              <a:t>“Ashia !”  ·  “On dit quoi ?”</a:t>
            </a:r>
            <a:endParaRPr lang="en-US" sz="1150" dirty="0"/>
          </a:p>
        </p:txBody>
      </p:sp>
      <p:sp>
        <p:nvSpPr>
          <p:cNvPr id="23" name="Text 20"/>
          <p:cNvSpPr txBox="1"/>
          <p:nvPr/>
        </p:nvSpPr>
        <p:spPr>
          <a:xfrm>
            <a:off x="6217920" y="2331720"/>
            <a:ext cx="2331720" cy="274320"/>
          </a:xfrm>
          <a:prstGeom prst="rect">
            <a:avLst/>
          </a:prstGeom>
          <a:noFill/>
          <a:ln/>
        </p:spPr>
        <p:txBody>
          <a:bodyPr wrap="square" lIns="0" tIns="0" rIns="0" bIns="0" rtlCol="0" anchor="t"/>
          <a:lstStyle/>
          <a:p>
            <a:pPr indent="0" marL="0">
              <a:buNone/>
            </a:pPr>
            <a:r>
              <a:rPr lang="en-US" sz="950" b="1" dirty="0">
                <a:solidFill>
                  <a:srgbClr val="1B6B4F"/>
                </a:solidFill>
                <a:latin typeface="Courier New" pitchFamily="34" charset="0"/>
                <a:ea typeface="Courier New" pitchFamily="34" charset="-122"/>
                <a:cs typeface="Courier New" pitchFamily="34" charset="-120"/>
              </a:rPr>
              <a:t>→ INTJ and FORMULA units</a:t>
            </a:r>
            <a:endParaRPr lang="en-US" sz="950" dirty="0"/>
          </a:p>
        </p:txBody>
      </p:sp>
      <p:sp>
        <p:nvSpPr>
          <p:cNvPr id="24" name="Shape 21"/>
          <p:cNvSpPr/>
          <p:nvPr/>
        </p:nvSpPr>
        <p:spPr>
          <a:xfrm>
            <a:off x="457200" y="2880360"/>
            <a:ext cx="2651760" cy="1600200"/>
          </a:xfrm>
          <a:prstGeom prst="roundRect">
            <a:avLst>
              <a:gd name="adj" fmla="val 4571"/>
            </a:avLst>
          </a:prstGeom>
          <a:solidFill>
            <a:srgbClr val="EEF3F0"/>
          </a:solidFill>
          <a:ln w="12700">
            <a:solidFill>
              <a:srgbClr val="EEF3F0"/>
            </a:solidFill>
            <a:prstDash val="solid"/>
          </a:ln>
        </p:spPr>
      </p:sp>
      <p:sp>
        <p:nvSpPr>
          <p:cNvPr id="25" name="Shape 22"/>
          <p:cNvSpPr/>
          <p:nvPr/>
        </p:nvSpPr>
        <p:spPr>
          <a:xfrm>
            <a:off x="594360" y="3017520"/>
            <a:ext cx="347472" cy="347472"/>
          </a:xfrm>
          <a:prstGeom prst="ellipse">
            <a:avLst/>
          </a:prstGeom>
          <a:solidFill>
            <a:srgbClr val="1B6B4F"/>
          </a:solidFill>
          <a:ln w="12700">
            <a:solidFill>
              <a:srgbClr val="1B6B4F"/>
            </a:solidFill>
            <a:prstDash val="solid"/>
          </a:ln>
        </p:spPr>
      </p:sp>
      <p:sp>
        <p:nvSpPr>
          <p:cNvPr id="26" name="Text 23"/>
          <p:cNvSpPr txBox="1"/>
          <p:nvPr/>
        </p:nvSpPr>
        <p:spPr>
          <a:xfrm>
            <a:off x="594360" y="30175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4"/>
          <p:cNvSpPr txBox="1"/>
          <p:nvPr/>
        </p:nvSpPr>
        <p:spPr>
          <a:xfrm>
            <a:off x="1051560" y="2990088"/>
            <a:ext cx="1965960" cy="41148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Serial verbs, negation, adverbs</a:t>
            </a:r>
            <a:endParaRPr lang="en-US" sz="1250" dirty="0"/>
          </a:p>
        </p:txBody>
      </p:sp>
      <p:sp>
        <p:nvSpPr>
          <p:cNvPr id="28" name="Text 25"/>
          <p:cNvSpPr txBox="1"/>
          <p:nvPr/>
        </p:nvSpPr>
        <p:spPr>
          <a:xfrm>
            <a:off x="640080" y="3520440"/>
            <a:ext cx="2331720" cy="457200"/>
          </a:xfrm>
          <a:prstGeom prst="rect">
            <a:avLst/>
          </a:prstGeom>
          <a:noFill/>
          <a:ln/>
        </p:spPr>
        <p:txBody>
          <a:bodyPr wrap="square" lIns="0" tIns="0" rIns="0" bIns="0" rtlCol="0" anchor="t"/>
          <a:lstStyle/>
          <a:p>
            <a:pPr indent="0" marL="0">
              <a:buNone/>
            </a:pPr>
            <a:r>
              <a:rPr lang="en-US" sz="1150" dirty="0">
                <a:solidFill>
                  <a:srgbClr val="1F2A26"/>
                </a:solidFill>
                <a:latin typeface="Calibri" pitchFamily="34" charset="0"/>
                <a:ea typeface="Calibri" pitchFamily="34" charset="-122"/>
                <a:cs typeface="Calibri" pitchFamily="34" charset="-120"/>
              </a:rPr>
              <a:t>“Le djo va djaffer le soya”</a:t>
            </a:r>
            <a:endParaRPr lang="en-US" sz="1150" dirty="0"/>
          </a:p>
        </p:txBody>
      </p:sp>
      <p:sp>
        <p:nvSpPr>
          <p:cNvPr id="29" name="Text 26"/>
          <p:cNvSpPr txBox="1"/>
          <p:nvPr/>
        </p:nvSpPr>
        <p:spPr>
          <a:xfrm>
            <a:off x="640080" y="4069080"/>
            <a:ext cx="2331720" cy="274320"/>
          </a:xfrm>
          <a:prstGeom prst="rect">
            <a:avLst/>
          </a:prstGeom>
          <a:noFill/>
          <a:ln/>
        </p:spPr>
        <p:txBody>
          <a:bodyPr wrap="square" lIns="0" tIns="0" rIns="0" bIns="0" rtlCol="0" anchor="t"/>
          <a:lstStyle/>
          <a:p>
            <a:pPr indent="0" marL="0">
              <a:buNone/>
            </a:pPr>
            <a:r>
              <a:rPr lang="en-US" sz="950" b="1" dirty="0">
                <a:solidFill>
                  <a:srgbClr val="1B6B4F"/>
                </a:solidFill>
                <a:latin typeface="Courier New" pitchFamily="34" charset="0"/>
                <a:ea typeface="Courier New" pitchFamily="34" charset="-122"/>
                <a:cs typeface="Courier New" pitchFamily="34" charset="-120"/>
              </a:rPr>
              <a:t>→ VerbTail chains</a:t>
            </a:r>
            <a:endParaRPr lang="en-US" sz="950" dirty="0"/>
          </a:p>
        </p:txBody>
      </p:sp>
      <p:sp>
        <p:nvSpPr>
          <p:cNvPr id="30" name="Shape 27"/>
          <p:cNvSpPr/>
          <p:nvPr/>
        </p:nvSpPr>
        <p:spPr>
          <a:xfrm>
            <a:off x="3246120" y="2880360"/>
            <a:ext cx="2651760" cy="1600200"/>
          </a:xfrm>
          <a:prstGeom prst="roundRect">
            <a:avLst>
              <a:gd name="adj" fmla="val 4571"/>
            </a:avLst>
          </a:prstGeom>
          <a:solidFill>
            <a:srgbClr val="EEF3F0"/>
          </a:solidFill>
          <a:ln w="12700">
            <a:solidFill>
              <a:srgbClr val="EEF3F0"/>
            </a:solidFill>
            <a:prstDash val="solid"/>
          </a:ln>
        </p:spPr>
      </p:sp>
      <p:sp>
        <p:nvSpPr>
          <p:cNvPr id="31" name="Shape 28"/>
          <p:cNvSpPr/>
          <p:nvPr/>
        </p:nvSpPr>
        <p:spPr>
          <a:xfrm>
            <a:off x="3383280" y="3017520"/>
            <a:ext cx="347472" cy="347472"/>
          </a:xfrm>
          <a:prstGeom prst="ellipse">
            <a:avLst/>
          </a:prstGeom>
          <a:solidFill>
            <a:srgbClr val="1B6B4F"/>
          </a:solidFill>
          <a:ln w="12700">
            <a:solidFill>
              <a:srgbClr val="1B6B4F"/>
            </a:solidFill>
            <a:prstDash val="solid"/>
          </a:ln>
        </p:spPr>
      </p:sp>
      <p:sp>
        <p:nvSpPr>
          <p:cNvPr id="32" name="Text 29"/>
          <p:cNvSpPr txBox="1"/>
          <p:nvPr/>
        </p:nvSpPr>
        <p:spPr>
          <a:xfrm>
            <a:off x="3383280" y="30175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0"/>
          <p:cNvSpPr txBox="1"/>
          <p:nvPr/>
        </p:nvSpPr>
        <p:spPr>
          <a:xfrm>
            <a:off x="3840480" y="2990088"/>
            <a:ext cx="1965960" cy="41148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Subject dropping</a:t>
            </a:r>
            <a:endParaRPr lang="en-US" sz="1250" dirty="0"/>
          </a:p>
        </p:txBody>
      </p:sp>
      <p:sp>
        <p:nvSpPr>
          <p:cNvPr id="34" name="Text 31"/>
          <p:cNvSpPr txBox="1"/>
          <p:nvPr/>
        </p:nvSpPr>
        <p:spPr>
          <a:xfrm>
            <a:off x="3429000" y="3520440"/>
            <a:ext cx="2331720" cy="457200"/>
          </a:xfrm>
          <a:prstGeom prst="rect">
            <a:avLst/>
          </a:prstGeom>
          <a:noFill/>
          <a:ln/>
        </p:spPr>
        <p:txBody>
          <a:bodyPr wrap="square" lIns="0" tIns="0" rIns="0" bIns="0" rtlCol="0" anchor="t"/>
          <a:lstStyle/>
          <a:p>
            <a:pPr indent="0" marL="0">
              <a:buNone/>
            </a:pPr>
            <a:r>
              <a:rPr lang="en-US" sz="1150" dirty="0">
                <a:solidFill>
                  <a:srgbClr val="1F2A26"/>
                </a:solidFill>
                <a:latin typeface="Calibri" pitchFamily="34" charset="0"/>
                <a:ea typeface="Calibri" pitchFamily="34" charset="-122"/>
                <a:cs typeface="Calibri" pitchFamily="34" charset="-120"/>
              </a:rPr>
              <a:t>A bare predicate is a full utterance</a:t>
            </a:r>
            <a:endParaRPr lang="en-US" sz="1150" dirty="0"/>
          </a:p>
        </p:txBody>
      </p:sp>
      <p:sp>
        <p:nvSpPr>
          <p:cNvPr id="35" name="Text 32"/>
          <p:cNvSpPr txBox="1"/>
          <p:nvPr/>
        </p:nvSpPr>
        <p:spPr>
          <a:xfrm>
            <a:off x="3429000" y="4069080"/>
            <a:ext cx="2331720" cy="274320"/>
          </a:xfrm>
          <a:prstGeom prst="rect">
            <a:avLst/>
          </a:prstGeom>
          <a:noFill/>
          <a:ln/>
        </p:spPr>
        <p:txBody>
          <a:bodyPr wrap="square" lIns="0" tIns="0" rIns="0" bIns="0" rtlCol="0" anchor="t"/>
          <a:lstStyle/>
          <a:p>
            <a:pPr indent="0" marL="0">
              <a:buNone/>
            </a:pPr>
            <a:r>
              <a:rPr lang="en-US" sz="950" b="1" dirty="0">
                <a:solidFill>
                  <a:srgbClr val="1B6B4F"/>
                </a:solidFill>
                <a:latin typeface="Courier New" pitchFamily="34" charset="0"/>
                <a:ea typeface="Courier New" pitchFamily="34" charset="-122"/>
                <a:cs typeface="Courier New" pitchFamily="34" charset="-120"/>
              </a:rPr>
              <a:t>→ Clause → Predicate</a:t>
            </a:r>
            <a:endParaRPr lang="en-US" sz="950" dirty="0"/>
          </a:p>
        </p:txBody>
      </p:sp>
      <p:sp>
        <p:nvSpPr>
          <p:cNvPr id="36" name="Shape 33"/>
          <p:cNvSpPr/>
          <p:nvPr/>
        </p:nvSpPr>
        <p:spPr>
          <a:xfrm>
            <a:off x="6035040" y="2880360"/>
            <a:ext cx="2651760" cy="1600200"/>
          </a:xfrm>
          <a:prstGeom prst="roundRect">
            <a:avLst>
              <a:gd name="adj" fmla="val 4571"/>
            </a:avLst>
          </a:prstGeom>
          <a:solidFill>
            <a:srgbClr val="EEF3F0"/>
          </a:solidFill>
          <a:ln w="12700">
            <a:solidFill>
              <a:srgbClr val="EEF3F0"/>
            </a:solidFill>
            <a:prstDash val="solid"/>
          </a:ln>
        </p:spPr>
      </p:sp>
      <p:sp>
        <p:nvSpPr>
          <p:cNvPr id="37" name="Shape 34"/>
          <p:cNvSpPr/>
          <p:nvPr/>
        </p:nvSpPr>
        <p:spPr>
          <a:xfrm>
            <a:off x="6172200" y="3017520"/>
            <a:ext cx="347472" cy="347472"/>
          </a:xfrm>
          <a:prstGeom prst="ellipse">
            <a:avLst/>
          </a:prstGeom>
          <a:solidFill>
            <a:srgbClr val="1B6B4F"/>
          </a:solidFill>
          <a:ln w="12700">
            <a:solidFill>
              <a:srgbClr val="1B6B4F"/>
            </a:solidFill>
            <a:prstDash val="solid"/>
          </a:ln>
        </p:spPr>
      </p:sp>
      <p:sp>
        <p:nvSpPr>
          <p:cNvPr id="38" name="Text 35"/>
          <p:cNvSpPr txBox="1"/>
          <p:nvPr/>
        </p:nvSpPr>
        <p:spPr>
          <a:xfrm>
            <a:off x="6172200" y="30175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9" name="Text 36"/>
          <p:cNvSpPr txBox="1"/>
          <p:nvPr/>
        </p:nvSpPr>
        <p:spPr>
          <a:xfrm>
            <a:off x="6629400" y="2990088"/>
            <a:ext cx="1965960" cy="41148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Left dislocation</a:t>
            </a:r>
            <a:endParaRPr lang="en-US" sz="1250" dirty="0"/>
          </a:p>
        </p:txBody>
      </p:sp>
      <p:sp>
        <p:nvSpPr>
          <p:cNvPr id="40" name="Text 37"/>
          <p:cNvSpPr txBox="1"/>
          <p:nvPr/>
        </p:nvSpPr>
        <p:spPr>
          <a:xfrm>
            <a:off x="6217920" y="3520440"/>
            <a:ext cx="2331720" cy="457200"/>
          </a:xfrm>
          <a:prstGeom prst="rect">
            <a:avLst/>
          </a:prstGeom>
          <a:noFill/>
          <a:ln/>
        </p:spPr>
        <p:txBody>
          <a:bodyPr wrap="square" lIns="0" tIns="0" rIns="0" bIns="0" rtlCol="0" anchor="t"/>
          <a:lstStyle/>
          <a:p>
            <a:pPr indent="0" marL="0">
              <a:buNone/>
            </a:pPr>
            <a:r>
              <a:rPr lang="en-US" sz="1150" dirty="0">
                <a:solidFill>
                  <a:srgbClr val="1F2A26"/>
                </a:solidFill>
                <a:latin typeface="Calibri" pitchFamily="34" charset="0"/>
                <a:ea typeface="Calibri" pitchFamily="34" charset="-122"/>
                <a:cs typeface="Calibri" pitchFamily="34" charset="-120"/>
              </a:rPr>
              <a:t>“le taximan, lui il sait”</a:t>
            </a:r>
            <a:endParaRPr lang="en-US" sz="1150" dirty="0"/>
          </a:p>
        </p:txBody>
      </p:sp>
      <p:sp>
        <p:nvSpPr>
          <p:cNvPr id="41" name="Text 38"/>
          <p:cNvSpPr txBox="1"/>
          <p:nvPr/>
        </p:nvSpPr>
        <p:spPr>
          <a:xfrm>
            <a:off x="6217920" y="4069080"/>
            <a:ext cx="2331720" cy="274320"/>
          </a:xfrm>
          <a:prstGeom prst="rect">
            <a:avLst/>
          </a:prstGeom>
          <a:noFill/>
          <a:ln/>
        </p:spPr>
        <p:txBody>
          <a:bodyPr wrap="square" lIns="0" tIns="0" rIns="0" bIns="0" rtlCol="0" anchor="t"/>
          <a:lstStyle/>
          <a:p>
            <a:pPr indent="0" marL="0">
              <a:buNone/>
            </a:pPr>
            <a:r>
              <a:rPr lang="en-US" sz="950" b="1" dirty="0">
                <a:solidFill>
                  <a:srgbClr val="1B6B4F"/>
                </a:solidFill>
                <a:latin typeface="Courier New" pitchFamily="34" charset="0"/>
                <a:ea typeface="Courier New" pitchFamily="34" charset="-122"/>
                <a:cs typeface="Courier New" pitchFamily="34" charset="-120"/>
              </a:rPr>
              <a:t>→ ClauseTail → NP Predicate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The authored grammar (left-recursive)</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13</a:t>
            </a:r>
            <a:endParaRPr lang="en-US" sz="900" dirty="0"/>
          </a:p>
        </p:txBody>
      </p:sp>
      <p:sp>
        <p:nvSpPr>
          <p:cNvPr id="6" name="Shape 3"/>
          <p:cNvSpPr/>
          <p:nvPr/>
        </p:nvSpPr>
        <p:spPr>
          <a:xfrm>
            <a:off x="457200" y="1097280"/>
            <a:ext cx="3931920" cy="2926080"/>
          </a:xfrm>
          <a:prstGeom prst="roundRect">
            <a:avLst>
              <a:gd name="adj" fmla="val 2500"/>
            </a:avLst>
          </a:prstGeom>
          <a:solidFill>
            <a:srgbClr val="14231D"/>
          </a:solidFill>
          <a:ln w="12700">
            <a:solidFill>
              <a:srgbClr val="14231D"/>
            </a:solidFill>
            <a:prstDash val="solid"/>
          </a:ln>
        </p:spPr>
      </p:sp>
      <p:sp>
        <p:nvSpPr>
          <p:cNvPr id="7" name="Text 4"/>
          <p:cNvSpPr txBox="1"/>
          <p:nvPr/>
        </p:nvSpPr>
        <p:spPr>
          <a:xfrm>
            <a:off x="594360" y="1188720"/>
            <a:ext cx="3703320" cy="2743200"/>
          </a:xfrm>
          <a:prstGeom prst="rect">
            <a:avLst/>
          </a:prstGeom>
          <a:noFill/>
          <a:ln/>
        </p:spPr>
        <p:txBody>
          <a:bodyPr wrap="square" lIns="0" tIns="0" rIns="0" bIns="0" rtlCol="0" anchor="ctr"/>
          <a:lstStyle/>
          <a:p>
            <a:pPr indent="0" marL="0">
              <a:buNone/>
            </a:pPr>
            <a:r>
              <a:rPr lang="en-US" sz="1000" dirty="0">
                <a:solidFill>
                  <a:srgbClr val="E7F1EC"/>
                </a:solidFill>
                <a:latin typeface="Courier New" pitchFamily="34" charset="0"/>
                <a:ea typeface="Courier New" pitchFamily="34" charset="-122"/>
                <a:cs typeface="Courier New" pitchFamily="34" charset="-120"/>
              </a:rPr>
              <a:t>S      → Seq</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Seq    → Seq CONJ Unit</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 Seq SEP Unit</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 Seq SEP CONJ Unit</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 Unit</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Unit   → INTJ Clause | INTJ</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 FORMULA | Clause</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Clause → PP ClauseOpt</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 NP ClauseTail</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 Predicate</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ClauseTail → Predicate</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 NP Predicate | ε</a:t>
            </a:r>
            <a:endParaRPr lang="en-US" sz="1000" dirty="0"/>
          </a:p>
        </p:txBody>
      </p:sp>
      <p:sp>
        <p:nvSpPr>
          <p:cNvPr id="8" name="Shape 5"/>
          <p:cNvSpPr/>
          <p:nvPr/>
        </p:nvSpPr>
        <p:spPr>
          <a:xfrm>
            <a:off x="4572000" y="1097280"/>
            <a:ext cx="4114800" cy="2926080"/>
          </a:xfrm>
          <a:prstGeom prst="roundRect">
            <a:avLst>
              <a:gd name="adj" fmla="val 2500"/>
            </a:avLst>
          </a:prstGeom>
          <a:solidFill>
            <a:srgbClr val="14231D"/>
          </a:solidFill>
          <a:ln w="12700">
            <a:solidFill>
              <a:srgbClr val="14231D"/>
            </a:solidFill>
            <a:prstDash val="solid"/>
          </a:ln>
        </p:spPr>
      </p:sp>
      <p:sp>
        <p:nvSpPr>
          <p:cNvPr id="9" name="Text 6"/>
          <p:cNvSpPr txBox="1"/>
          <p:nvPr/>
        </p:nvSpPr>
        <p:spPr>
          <a:xfrm>
            <a:off x="4709160" y="1188720"/>
            <a:ext cx="3886200" cy="2743200"/>
          </a:xfrm>
          <a:prstGeom prst="rect">
            <a:avLst/>
          </a:prstGeom>
          <a:noFill/>
          <a:ln/>
        </p:spPr>
        <p:txBody>
          <a:bodyPr wrap="square" lIns="0" tIns="0" rIns="0" bIns="0" rtlCol="0" anchor="ctr"/>
          <a:lstStyle/>
          <a:p>
            <a:pPr indent="0" marL="0">
              <a:buNone/>
            </a:pPr>
            <a:r>
              <a:rPr lang="en-US" sz="1000" dirty="0">
                <a:solidFill>
                  <a:srgbClr val="E7F1EC"/>
                </a:solidFill>
                <a:latin typeface="Courier New" pitchFamily="34" charset="0"/>
                <a:ea typeface="Courier New" pitchFamily="34" charset="-122"/>
                <a:cs typeface="Courier New" pitchFamily="34" charset="-120"/>
              </a:rPr>
              <a:t>Predicate → ADV Predicate</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 NegOpt VerbGroup Comps</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VerbTail  → VERB VerbTail</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 ADV VerbTail</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 NEG VerbTail | ε</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Comps     → NP Comps</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 PREP CompObj Comps</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 ADJ Comps | ε</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NP        → DET NOUN | DET ADJ NOUN</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          | PRON | NOUN</a:t>
            </a:r>
            <a:endParaRPr lang="en-US" sz="1000" dirty="0"/>
          </a:p>
          <a:p>
            <a:pPr indent="0" marL="0">
              <a:buNone/>
            </a:pPr>
            <a:r>
              <a:rPr lang="en-US" sz="1000" dirty="0">
                <a:solidFill>
                  <a:srgbClr val="E7F1EC"/>
                </a:solidFill>
                <a:latin typeface="Courier New" pitchFamily="34" charset="0"/>
                <a:ea typeface="Courier New" pitchFamily="34" charset="-122"/>
                <a:cs typeface="Courier New" pitchFamily="34" charset="-120"/>
              </a:rPr>
              <a:t>PP        → PREP NP</a:t>
            </a:r>
            <a:endParaRPr lang="en-US" sz="1000" dirty="0"/>
          </a:p>
        </p:txBody>
      </p:sp>
      <p:sp>
        <p:nvSpPr>
          <p:cNvPr id="10" name="Text 7"/>
          <p:cNvSpPr txBox="1"/>
          <p:nvPr/>
        </p:nvSpPr>
        <p:spPr>
          <a:xfrm>
            <a:off x="457200" y="4160520"/>
            <a:ext cx="8229600" cy="548640"/>
          </a:xfrm>
          <a:prstGeom prst="rect">
            <a:avLst/>
          </a:prstGeom>
          <a:noFill/>
          <a:ln/>
        </p:spPr>
        <p:txBody>
          <a:bodyPr wrap="square" lIns="0" tIns="0" rIns="0" bIns="0" rtlCol="0" anchor="t"/>
          <a:lstStyle/>
          <a:p>
            <a:pPr indent="0" marL="0">
              <a:buNone/>
            </a:pPr>
            <a:r>
              <a:rPr lang="en-US" sz="1200" b="1" dirty="0">
                <a:solidFill>
                  <a:srgbClr val="0F3D2E"/>
                </a:solidFill>
                <a:latin typeface="Courier New" pitchFamily="34" charset="0"/>
                <a:ea typeface="Courier New" pitchFamily="34" charset="-122"/>
                <a:cs typeface="Courier New" pitchFamily="34" charset="-120"/>
              </a:rPr>
              <a:t>Seq → Seq CONJ Unit </a:t>
            </a:r>
            <a:pPr indent="0" marL="0">
              <a:buNone/>
            </a:pPr>
            <a:r>
              <a:rPr lang="en-US" sz="1200" dirty="0">
                <a:solidFill>
                  <a:srgbClr val="1F2A26"/>
                </a:solidFill>
                <a:latin typeface="Calibri" pitchFamily="34" charset="0"/>
                <a:ea typeface="Calibri" pitchFamily="34" charset="-122"/>
                <a:cs typeface="Calibri" pitchFamily="34" charset="-120"/>
              </a:rPr>
              <a:t>says “a statement is a list of units”; three of its four alternatives recurse on the left. </a:t>
            </a:r>
            <a:pPr indent="0" marL="0">
              <a:buNone/>
            </a:pPr>
            <a:r>
              <a:rPr lang="en-US" sz="1200" b="1" dirty="0">
                <a:solidFill>
                  <a:srgbClr val="1F2A26"/>
                </a:solidFill>
                <a:latin typeface="Calibri" pitchFamily="34" charset="0"/>
                <a:ea typeface="Calibri" pitchFamily="34" charset="-122"/>
                <a:cs typeface="Calibri" pitchFamily="34" charset="-120"/>
              </a:rPr>
              <a:t>37 productions · 12 terminals · 14 nonterminals.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Transformation ledger: 4 recorded steps</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14</a:t>
            </a:r>
            <a:endParaRPr lang="en-US" sz="900" dirty="0"/>
          </a:p>
        </p:txBody>
      </p:sp>
      <p:sp>
        <p:nvSpPr>
          <p:cNvPr id="6" name="Shape 3"/>
          <p:cNvSpPr/>
          <p:nvPr/>
        </p:nvSpPr>
        <p:spPr>
          <a:xfrm>
            <a:off x="457200" y="1097280"/>
            <a:ext cx="8229600" cy="1417320"/>
          </a:xfrm>
          <a:prstGeom prst="roundRect">
            <a:avLst>
              <a:gd name="adj" fmla="val 5161"/>
            </a:avLst>
          </a:prstGeom>
          <a:solidFill>
            <a:srgbClr val="EEF3F0"/>
          </a:solidFill>
          <a:ln w="12700">
            <a:solidFill>
              <a:srgbClr val="EEF3F0"/>
            </a:solidFill>
            <a:prstDash val="solid"/>
          </a:ln>
        </p:spPr>
      </p:sp>
      <p:sp>
        <p:nvSpPr>
          <p:cNvPr id="7" name="Shape 4"/>
          <p:cNvSpPr/>
          <p:nvPr/>
        </p:nvSpPr>
        <p:spPr>
          <a:xfrm>
            <a:off x="594360" y="1207008"/>
            <a:ext cx="384048" cy="384048"/>
          </a:xfrm>
          <a:prstGeom prst="ellipse">
            <a:avLst/>
          </a:prstGeom>
          <a:solidFill>
            <a:srgbClr val="0F3D2E"/>
          </a:solidFill>
          <a:ln w="12700">
            <a:solidFill>
              <a:srgbClr val="0F3D2E"/>
            </a:solidFill>
            <a:prstDash val="solid"/>
          </a:ln>
        </p:spPr>
      </p:sp>
      <p:sp>
        <p:nvSpPr>
          <p:cNvPr id="8" name="Text 5"/>
          <p:cNvSpPr txBox="1"/>
          <p:nvPr/>
        </p:nvSpPr>
        <p:spPr>
          <a:xfrm>
            <a:off x="594360" y="1207008"/>
            <a:ext cx="384048" cy="384048"/>
          </a:xfrm>
          <a:prstGeom prst="rect">
            <a:avLst/>
          </a:prstGeom>
          <a:noFill/>
          <a:ln/>
        </p:spPr>
        <p:txBody>
          <a:bodyPr wrap="square" lIns="0" tIns="0" rIns="0" bIns="0" rtlCol="0" anchor="ctr"/>
          <a:lstStyle/>
          <a:p>
            <a:pPr algn="ctr" indent="0" marL="0">
              <a:buNone/>
            </a:pPr>
            <a:r>
              <a:rPr lang="en-US" sz="1300" b="1" dirty="0">
                <a:solidFill>
                  <a:srgbClr val="D9B44A"/>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143000" y="1207008"/>
            <a:ext cx="4572000" cy="384048"/>
          </a:xfrm>
          <a:prstGeom prst="rect">
            <a:avLst/>
          </a:prstGeom>
          <a:noFill/>
          <a:ln/>
        </p:spPr>
        <p:txBody>
          <a:bodyPr wrap="square" lIns="0" tIns="0" rIns="0" bIns="0" rtlCol="0" anchor="ctr"/>
          <a:lstStyle/>
          <a:p>
            <a:pPr indent="0" marL="0">
              <a:buNone/>
            </a:pPr>
            <a:r>
              <a:rPr lang="en-US" sz="1500" b="1" dirty="0">
                <a:solidFill>
                  <a:srgbClr val="0F3D2E"/>
                </a:solidFill>
                <a:latin typeface="Calibri" pitchFamily="34" charset="0"/>
                <a:ea typeface="Calibri" pitchFamily="34" charset="-122"/>
                <a:cs typeface="Calibri" pitchFamily="34" charset="-120"/>
              </a:rPr>
              <a:t>Left-recursion elimination on Seq</a:t>
            </a:r>
            <a:endParaRPr lang="en-US" sz="1500" dirty="0"/>
          </a:p>
        </p:txBody>
      </p:sp>
      <p:sp>
        <p:nvSpPr>
          <p:cNvPr id="10" name="Text 7"/>
          <p:cNvSpPr txBox="1"/>
          <p:nvPr/>
        </p:nvSpPr>
        <p:spPr>
          <a:xfrm>
            <a:off x="640080" y="1737360"/>
            <a:ext cx="7863840" cy="685800"/>
          </a:xfrm>
          <a:prstGeom prst="rect">
            <a:avLst/>
          </a:prstGeom>
          <a:noFill/>
          <a:ln/>
        </p:spPr>
        <p:txBody>
          <a:bodyPr wrap="square" lIns="0" tIns="0" rIns="0" bIns="0" rtlCol="0" anchor="t"/>
          <a:lstStyle/>
          <a:p>
            <a:pPr indent="0" marL="0">
              <a:buNone/>
            </a:pPr>
            <a:r>
              <a:rPr lang="en-US" sz="1200" dirty="0">
                <a:solidFill>
                  <a:srgbClr val="1F2A26"/>
                </a:solidFill>
                <a:latin typeface="Courier New" pitchFamily="34" charset="0"/>
                <a:ea typeface="Courier New" pitchFamily="34" charset="-122"/>
                <a:cs typeface="Courier New" pitchFamily="34" charset="-120"/>
              </a:rPr>
              <a:t>Seq  → Unit Seq′</a:t>
            </a:r>
            <a:endParaRPr lang="en-US" sz="1200" dirty="0"/>
          </a:p>
          <a:p>
            <a:pPr indent="0" marL="0">
              <a:buNone/>
            </a:pPr>
            <a:r>
              <a:rPr lang="en-US" sz="1200" dirty="0">
                <a:solidFill>
                  <a:srgbClr val="1F2A26"/>
                </a:solidFill>
                <a:latin typeface="Courier New" pitchFamily="34" charset="0"/>
                <a:ea typeface="Courier New" pitchFamily="34" charset="-122"/>
                <a:cs typeface="Courier New" pitchFamily="34" charset="-120"/>
              </a:rPr>
              <a:t>Seq′ → CONJ Unit Seq′ | SEP Unit Seq′ | SEP CONJ Unit Seq′ | ε</a:t>
            </a:r>
            <a:endParaRPr lang="en-US" sz="1200" dirty="0"/>
          </a:p>
        </p:txBody>
      </p:sp>
      <p:sp>
        <p:nvSpPr>
          <p:cNvPr id="11" name="Shape 8"/>
          <p:cNvSpPr/>
          <p:nvPr/>
        </p:nvSpPr>
        <p:spPr>
          <a:xfrm>
            <a:off x="457200" y="2697480"/>
            <a:ext cx="2651760" cy="1188720"/>
          </a:xfrm>
          <a:prstGeom prst="roundRect">
            <a:avLst>
              <a:gd name="adj" fmla="val 6154"/>
            </a:avLst>
          </a:prstGeom>
          <a:solidFill>
            <a:srgbClr val="EEF3F0"/>
          </a:solidFill>
          <a:ln w="12700">
            <a:solidFill>
              <a:srgbClr val="EEF3F0"/>
            </a:solidFill>
            <a:prstDash val="solid"/>
          </a:ln>
        </p:spPr>
      </p:sp>
      <p:sp>
        <p:nvSpPr>
          <p:cNvPr id="12" name="Shape 9"/>
          <p:cNvSpPr/>
          <p:nvPr/>
        </p:nvSpPr>
        <p:spPr>
          <a:xfrm>
            <a:off x="594360" y="2788920"/>
            <a:ext cx="365760" cy="365760"/>
          </a:xfrm>
          <a:prstGeom prst="ellipse">
            <a:avLst/>
          </a:prstGeom>
          <a:solidFill>
            <a:srgbClr val="1B6B4F"/>
          </a:solidFill>
          <a:ln w="12700">
            <a:solidFill>
              <a:srgbClr val="1B6B4F"/>
            </a:solidFill>
            <a:prstDash val="solid"/>
          </a:ln>
        </p:spPr>
      </p:sp>
      <p:sp>
        <p:nvSpPr>
          <p:cNvPr id="13" name="Text 10"/>
          <p:cNvSpPr txBox="1"/>
          <p:nvPr/>
        </p:nvSpPr>
        <p:spPr>
          <a:xfrm>
            <a:off x="594360" y="2788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1051560" y="2788920"/>
            <a:ext cx="2011680" cy="36576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Factor SEP on Seq′</a:t>
            </a:r>
            <a:endParaRPr lang="en-US" sz="1250" dirty="0"/>
          </a:p>
        </p:txBody>
      </p:sp>
      <p:sp>
        <p:nvSpPr>
          <p:cNvPr id="15" name="Text 12"/>
          <p:cNvSpPr txBox="1"/>
          <p:nvPr/>
        </p:nvSpPr>
        <p:spPr>
          <a:xfrm>
            <a:off x="640080" y="3246120"/>
            <a:ext cx="2377440" cy="201168"/>
          </a:xfrm>
          <a:prstGeom prst="rect">
            <a:avLst/>
          </a:prstGeom>
          <a:noFill/>
          <a:ln/>
        </p:spPr>
        <p:txBody>
          <a:bodyPr wrap="square" lIns="0" tIns="0" rIns="0" bIns="0" rtlCol="0" anchor="t"/>
          <a:lstStyle/>
          <a:p>
            <a:pPr indent="0" marL="0">
              <a:buNone/>
            </a:pPr>
            <a:r>
              <a:rPr lang="en-US" sz="1050" dirty="0">
                <a:solidFill>
                  <a:srgbClr val="5F6F68"/>
                </a:solidFill>
                <a:latin typeface="Calibri" pitchFamily="34" charset="0"/>
                <a:ea typeface="Calibri" pitchFamily="34" charset="-122"/>
                <a:cs typeface="Calibri" pitchFamily="34" charset="-120"/>
              </a:rPr>
              <a:t>fresh: Seq″</a:t>
            </a:r>
            <a:endParaRPr lang="en-US" sz="1050" dirty="0"/>
          </a:p>
        </p:txBody>
      </p:sp>
      <p:sp>
        <p:nvSpPr>
          <p:cNvPr id="16" name="Text 13"/>
          <p:cNvSpPr txBox="1"/>
          <p:nvPr/>
        </p:nvSpPr>
        <p:spPr>
          <a:xfrm>
            <a:off x="640080" y="3493008"/>
            <a:ext cx="2377440" cy="320040"/>
          </a:xfrm>
          <a:prstGeom prst="rect">
            <a:avLst/>
          </a:prstGeom>
          <a:noFill/>
          <a:ln/>
        </p:spPr>
        <p:txBody>
          <a:bodyPr wrap="square" lIns="0" tIns="0" rIns="0" bIns="0" rtlCol="0" anchor="t"/>
          <a:lstStyle/>
          <a:p>
            <a:pPr indent="0" marL="0">
              <a:buNone/>
            </a:pPr>
            <a:r>
              <a:rPr lang="en-US" sz="850" dirty="0">
                <a:solidFill>
                  <a:srgbClr val="1F2A26"/>
                </a:solidFill>
                <a:latin typeface="Courier New" pitchFamily="34" charset="0"/>
                <a:ea typeface="Courier New" pitchFamily="34" charset="-122"/>
                <a:cs typeface="Courier New" pitchFamily="34" charset="-120"/>
              </a:rPr>
              <a:t>Seq″ → Unit Seq′ | CONJ Unit Seq′</a:t>
            </a:r>
            <a:endParaRPr lang="en-US" sz="850" dirty="0"/>
          </a:p>
        </p:txBody>
      </p:sp>
      <p:sp>
        <p:nvSpPr>
          <p:cNvPr id="17" name="Shape 14"/>
          <p:cNvSpPr/>
          <p:nvPr/>
        </p:nvSpPr>
        <p:spPr>
          <a:xfrm>
            <a:off x="3246120" y="2697480"/>
            <a:ext cx="2651760" cy="1188720"/>
          </a:xfrm>
          <a:prstGeom prst="roundRect">
            <a:avLst>
              <a:gd name="adj" fmla="val 6154"/>
            </a:avLst>
          </a:prstGeom>
          <a:solidFill>
            <a:srgbClr val="EEF3F0"/>
          </a:solidFill>
          <a:ln w="12700">
            <a:solidFill>
              <a:srgbClr val="EEF3F0"/>
            </a:solidFill>
            <a:prstDash val="solid"/>
          </a:ln>
        </p:spPr>
      </p:sp>
      <p:sp>
        <p:nvSpPr>
          <p:cNvPr id="18" name="Shape 15"/>
          <p:cNvSpPr/>
          <p:nvPr/>
        </p:nvSpPr>
        <p:spPr>
          <a:xfrm>
            <a:off x="3383280" y="2788920"/>
            <a:ext cx="365760" cy="365760"/>
          </a:xfrm>
          <a:prstGeom prst="ellipse">
            <a:avLst/>
          </a:prstGeom>
          <a:solidFill>
            <a:srgbClr val="1B6B4F"/>
          </a:solidFill>
          <a:ln w="12700">
            <a:solidFill>
              <a:srgbClr val="1B6B4F"/>
            </a:solidFill>
            <a:prstDash val="solid"/>
          </a:ln>
        </p:spPr>
      </p:sp>
      <p:sp>
        <p:nvSpPr>
          <p:cNvPr id="19" name="Text 16"/>
          <p:cNvSpPr txBox="1"/>
          <p:nvPr/>
        </p:nvSpPr>
        <p:spPr>
          <a:xfrm>
            <a:off x="3383280" y="2788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txBox="1"/>
          <p:nvPr/>
        </p:nvSpPr>
        <p:spPr>
          <a:xfrm>
            <a:off x="3840480" y="2788920"/>
            <a:ext cx="2011680" cy="36576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Factor INTJ on Unit</a:t>
            </a:r>
            <a:endParaRPr lang="en-US" sz="1250" dirty="0"/>
          </a:p>
        </p:txBody>
      </p:sp>
      <p:sp>
        <p:nvSpPr>
          <p:cNvPr id="21" name="Text 18"/>
          <p:cNvSpPr txBox="1"/>
          <p:nvPr/>
        </p:nvSpPr>
        <p:spPr>
          <a:xfrm>
            <a:off x="3429000" y="3246120"/>
            <a:ext cx="2377440" cy="201168"/>
          </a:xfrm>
          <a:prstGeom prst="rect">
            <a:avLst/>
          </a:prstGeom>
          <a:noFill/>
          <a:ln/>
        </p:spPr>
        <p:txBody>
          <a:bodyPr wrap="square" lIns="0" tIns="0" rIns="0" bIns="0" rtlCol="0" anchor="t"/>
          <a:lstStyle/>
          <a:p>
            <a:pPr indent="0" marL="0">
              <a:buNone/>
            </a:pPr>
            <a:r>
              <a:rPr lang="en-US" sz="1050" dirty="0">
                <a:solidFill>
                  <a:srgbClr val="5F6F68"/>
                </a:solidFill>
                <a:latin typeface="Calibri" pitchFamily="34" charset="0"/>
                <a:ea typeface="Calibri" pitchFamily="34" charset="-122"/>
                <a:cs typeface="Calibri" pitchFamily="34" charset="-120"/>
              </a:rPr>
              <a:t>fresh: Unit′</a:t>
            </a:r>
            <a:endParaRPr lang="en-US" sz="1050" dirty="0"/>
          </a:p>
        </p:txBody>
      </p:sp>
      <p:sp>
        <p:nvSpPr>
          <p:cNvPr id="22" name="Text 19"/>
          <p:cNvSpPr txBox="1"/>
          <p:nvPr/>
        </p:nvSpPr>
        <p:spPr>
          <a:xfrm>
            <a:off x="3429000" y="3493008"/>
            <a:ext cx="2377440" cy="320040"/>
          </a:xfrm>
          <a:prstGeom prst="rect">
            <a:avLst/>
          </a:prstGeom>
          <a:noFill/>
          <a:ln/>
        </p:spPr>
        <p:txBody>
          <a:bodyPr wrap="square" lIns="0" tIns="0" rIns="0" bIns="0" rtlCol="0" anchor="t"/>
          <a:lstStyle/>
          <a:p>
            <a:pPr indent="0" marL="0">
              <a:buNone/>
            </a:pPr>
            <a:r>
              <a:rPr lang="en-US" sz="850" dirty="0">
                <a:solidFill>
                  <a:srgbClr val="1F2A26"/>
                </a:solidFill>
                <a:latin typeface="Courier New" pitchFamily="34" charset="0"/>
                <a:ea typeface="Courier New" pitchFamily="34" charset="-122"/>
                <a:cs typeface="Courier New" pitchFamily="34" charset="-120"/>
              </a:rPr>
              <a:t>Unit′ → Clause | ε</a:t>
            </a:r>
            <a:endParaRPr lang="en-US" sz="850" dirty="0"/>
          </a:p>
        </p:txBody>
      </p:sp>
      <p:sp>
        <p:nvSpPr>
          <p:cNvPr id="23" name="Shape 20"/>
          <p:cNvSpPr/>
          <p:nvPr/>
        </p:nvSpPr>
        <p:spPr>
          <a:xfrm>
            <a:off x="6035040" y="2697480"/>
            <a:ext cx="2651760" cy="1188720"/>
          </a:xfrm>
          <a:prstGeom prst="roundRect">
            <a:avLst>
              <a:gd name="adj" fmla="val 6154"/>
            </a:avLst>
          </a:prstGeom>
          <a:solidFill>
            <a:srgbClr val="EEF3F0"/>
          </a:solidFill>
          <a:ln w="12700">
            <a:solidFill>
              <a:srgbClr val="EEF3F0"/>
            </a:solidFill>
            <a:prstDash val="solid"/>
          </a:ln>
        </p:spPr>
      </p:sp>
      <p:sp>
        <p:nvSpPr>
          <p:cNvPr id="24" name="Shape 21"/>
          <p:cNvSpPr/>
          <p:nvPr/>
        </p:nvSpPr>
        <p:spPr>
          <a:xfrm>
            <a:off x="6172200" y="2788920"/>
            <a:ext cx="365760" cy="365760"/>
          </a:xfrm>
          <a:prstGeom prst="ellipse">
            <a:avLst/>
          </a:prstGeom>
          <a:solidFill>
            <a:srgbClr val="1B6B4F"/>
          </a:solidFill>
          <a:ln w="12700">
            <a:solidFill>
              <a:srgbClr val="1B6B4F"/>
            </a:solidFill>
            <a:prstDash val="solid"/>
          </a:ln>
        </p:spPr>
      </p:sp>
      <p:sp>
        <p:nvSpPr>
          <p:cNvPr id="25" name="Text 22"/>
          <p:cNvSpPr txBox="1"/>
          <p:nvPr/>
        </p:nvSpPr>
        <p:spPr>
          <a:xfrm>
            <a:off x="6172200" y="2788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3"/>
          <p:cNvSpPr txBox="1"/>
          <p:nvPr/>
        </p:nvSpPr>
        <p:spPr>
          <a:xfrm>
            <a:off x="6629400" y="2788920"/>
            <a:ext cx="2011680" cy="36576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Factor DET on NP</a:t>
            </a:r>
            <a:endParaRPr lang="en-US" sz="1250" dirty="0"/>
          </a:p>
        </p:txBody>
      </p:sp>
      <p:sp>
        <p:nvSpPr>
          <p:cNvPr id="27" name="Text 24"/>
          <p:cNvSpPr txBox="1"/>
          <p:nvPr/>
        </p:nvSpPr>
        <p:spPr>
          <a:xfrm>
            <a:off x="6217920" y="3246120"/>
            <a:ext cx="2377440" cy="201168"/>
          </a:xfrm>
          <a:prstGeom prst="rect">
            <a:avLst/>
          </a:prstGeom>
          <a:noFill/>
          <a:ln/>
        </p:spPr>
        <p:txBody>
          <a:bodyPr wrap="square" lIns="0" tIns="0" rIns="0" bIns="0" rtlCol="0" anchor="t"/>
          <a:lstStyle/>
          <a:p>
            <a:pPr indent="0" marL="0">
              <a:buNone/>
            </a:pPr>
            <a:r>
              <a:rPr lang="en-US" sz="1050" dirty="0">
                <a:solidFill>
                  <a:srgbClr val="5F6F68"/>
                </a:solidFill>
                <a:latin typeface="Calibri" pitchFamily="34" charset="0"/>
                <a:ea typeface="Calibri" pitchFamily="34" charset="-122"/>
                <a:cs typeface="Calibri" pitchFamily="34" charset="-120"/>
              </a:rPr>
              <a:t>fresh: NP′</a:t>
            </a:r>
            <a:endParaRPr lang="en-US" sz="1050" dirty="0"/>
          </a:p>
        </p:txBody>
      </p:sp>
      <p:sp>
        <p:nvSpPr>
          <p:cNvPr id="28" name="Text 25"/>
          <p:cNvSpPr txBox="1"/>
          <p:nvPr/>
        </p:nvSpPr>
        <p:spPr>
          <a:xfrm>
            <a:off x="6217920" y="3493008"/>
            <a:ext cx="2377440" cy="320040"/>
          </a:xfrm>
          <a:prstGeom prst="rect">
            <a:avLst/>
          </a:prstGeom>
          <a:noFill/>
          <a:ln/>
        </p:spPr>
        <p:txBody>
          <a:bodyPr wrap="square" lIns="0" tIns="0" rIns="0" bIns="0" rtlCol="0" anchor="t"/>
          <a:lstStyle/>
          <a:p>
            <a:pPr indent="0" marL="0">
              <a:buNone/>
            </a:pPr>
            <a:r>
              <a:rPr lang="en-US" sz="850" dirty="0">
                <a:solidFill>
                  <a:srgbClr val="1F2A26"/>
                </a:solidFill>
                <a:latin typeface="Courier New" pitchFamily="34" charset="0"/>
                <a:ea typeface="Courier New" pitchFamily="34" charset="-122"/>
                <a:cs typeface="Courier New" pitchFamily="34" charset="-120"/>
              </a:rPr>
              <a:t>NP′ → NOUN | ADJ NOUN</a:t>
            </a:r>
            <a:endParaRPr lang="en-US" sz="850" dirty="0"/>
          </a:p>
        </p:txBody>
      </p:sp>
      <p:sp>
        <p:nvSpPr>
          <p:cNvPr id="29" name="Shape 26"/>
          <p:cNvSpPr/>
          <p:nvPr/>
        </p:nvSpPr>
        <p:spPr>
          <a:xfrm>
            <a:off x="457200" y="4069080"/>
            <a:ext cx="8229600" cy="548640"/>
          </a:xfrm>
          <a:prstGeom prst="roundRect">
            <a:avLst>
              <a:gd name="adj" fmla="val 13333"/>
            </a:avLst>
          </a:prstGeom>
          <a:solidFill>
            <a:srgbClr val="0F3D2E"/>
          </a:solidFill>
          <a:ln w="12700">
            <a:solidFill>
              <a:srgbClr val="0F3D2E"/>
            </a:solidFill>
            <a:prstDash val="solid"/>
          </a:ln>
        </p:spPr>
      </p:sp>
      <p:sp>
        <p:nvSpPr>
          <p:cNvPr id="30" name="Text 2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250" b="1" dirty="0">
                <a:solidFill>
                  <a:srgbClr val="D9B44A"/>
                </a:solidFill>
                <a:latin typeface="Calibri" pitchFamily="34" charset="0"/>
                <a:ea typeface="Calibri" pitchFamily="34" charset="-122"/>
                <a:cs typeface="Calibri" pitchFamily="34" charset="-120"/>
              </a:rPr>
              <a:t>Order matters: </a:t>
            </a:r>
            <a:pPr indent="0" marL="0">
              <a:buNone/>
            </a:pPr>
            <a:r>
              <a:rPr lang="en-US" sz="1250" dirty="0">
                <a:solidFill>
                  <a:srgbClr val="FFFFFF"/>
                </a:solidFill>
                <a:latin typeface="Calibri" pitchFamily="34" charset="0"/>
                <a:ea typeface="Calibri" pitchFamily="34" charset="-122"/>
                <a:cs typeface="Calibri" pitchFamily="34" charset="-120"/>
              </a:rPr>
              <a:t>factor after eliminating recursion, or the SEP conflict remains.  37 → 41 productions.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FIRST, FOLLOW and the LL(1) table</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5212080" cy="914400"/>
        </p:xfrm>
        <a:graphic>
          <a:graphicData uri="http://schemas.openxmlformats.org/drawingml/2006/table">
            <a:tbl>
              <a:tblPr/>
              <a:tblGrid>
                <a:gridCol w="914400"/>
                <a:gridCol w="1828800"/>
                <a:gridCol w="246888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Symbol</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FIRST</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FOLLOW</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r>
              <a:tr h="0">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Seq′</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CONJ, SEP</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0">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NegOpt</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NEG</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VERB</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0">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Predicate</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ADV, NEG, VERB</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 CONJ, SEP</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0">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Comps</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ADJ, DET, NOUN, PREP, PRON</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 CONJ, SEP</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0">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VerbTail</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ADV, NEG, VERB</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50" dirty="0">
                          <a:solidFill>
                            <a:srgbClr val="1F2A26"/>
                          </a:solidFill>
                          <a:latin typeface="Calibri" pitchFamily="34" charset="0"/>
                          <a:ea typeface="Calibri" pitchFamily="34" charset="-122"/>
                          <a:cs typeface="Calibri" pitchFamily="34" charset="-120"/>
                        </a:rPr>
                        <a:t>$, ADJ, CONJ, DET, NOUN, PREP, PRON, SEP</a:t>
                      </a:r>
                      <a:endParaRPr lang="en-US" sz="105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bl>
          </a:graphicData>
        </a:graphic>
      </p:graphicFrame>
      <p:sp>
        <p:nvSpPr>
          <p:cNvPr id="7" name="Text 3"/>
          <p:cNvSpPr txBox="1"/>
          <p:nvPr/>
        </p:nvSpPr>
        <p:spPr>
          <a:xfrm>
            <a:off x="457200" y="3429000"/>
            <a:ext cx="5212080" cy="457200"/>
          </a:xfrm>
          <a:prstGeom prst="rect">
            <a:avLst/>
          </a:prstGeom>
          <a:noFill/>
          <a:ln/>
        </p:spPr>
        <p:txBody>
          <a:bodyPr wrap="square" lIns="0" tIns="0" rIns="0" bIns="0" rtlCol="0" anchor="t"/>
          <a:lstStyle/>
          <a:p>
            <a:pPr indent="0" marL="0">
              <a:buNone/>
            </a:pPr>
            <a:r>
              <a:rPr lang="en-US" sz="1150" b="1" dirty="0">
                <a:solidFill>
                  <a:srgbClr val="0F3D2E"/>
                </a:solidFill>
                <a:latin typeface="Calibri" pitchFamily="34" charset="0"/>
                <a:ea typeface="Calibri" pitchFamily="34" charset="-122"/>
                <a:cs typeface="Calibri" pitchFamily="34" charset="-120"/>
              </a:rPr>
              <a:t>Nullable: </a:t>
            </a:r>
            <a:pPr indent="0" marL="0">
              <a:buNone/>
            </a:pPr>
            <a:r>
              <a:rPr lang="en-US" sz="1150" dirty="0">
                <a:solidFill>
                  <a:srgbClr val="1F2A26"/>
                </a:solidFill>
                <a:latin typeface="Calibri" pitchFamily="34" charset="0"/>
                <a:ea typeface="Calibri" pitchFamily="34" charset="-122"/>
                <a:cs typeface="Calibri" pitchFamily="34" charset="-120"/>
              </a:rPr>
              <a:t>ClauseOpt, ClauseTail, Comps, NegOpt, Seq′, Unit′, VerbTail</a:t>
            </a:r>
            <a:endParaRPr lang="en-US" sz="1150" dirty="0"/>
          </a:p>
        </p:txBody>
      </p:sp>
      <p:sp>
        <p:nvSpPr>
          <p:cNvPr id="8" name="Text 4"/>
          <p:cNvSpPr txBox="1"/>
          <p:nvPr/>
        </p:nvSpPr>
        <p:spPr>
          <a:xfrm>
            <a:off x="457200" y="3977640"/>
            <a:ext cx="5212080" cy="548640"/>
          </a:xfrm>
          <a:prstGeom prst="rect">
            <a:avLst/>
          </a:prstGeom>
          <a:noFill/>
          <a:ln/>
        </p:spPr>
        <p:txBody>
          <a:bodyPr wrap="square" lIns="0" tIns="0" rIns="0" bIns="0" rtlCol="0" anchor="t"/>
          <a:lstStyle/>
          <a:p>
            <a:pPr indent="0" marL="0">
              <a:buNone/>
            </a:pPr>
            <a:r>
              <a:rPr lang="en-US" sz="1150" i="1" dirty="0">
                <a:solidFill>
                  <a:srgbClr val="5F6F68"/>
                </a:solidFill>
                <a:latin typeface="Calibri" pitchFamily="34" charset="0"/>
                <a:ea typeface="Calibri" pitchFamily="34" charset="-122"/>
                <a:cs typeface="Calibri" pitchFamily="34" charset="-120"/>
              </a:rPr>
              <a:t>Rule: add A → α at [A, t] for every t ∈ FIRST(α); if α is nullable, also for every t ∈ FOLLOW(A).</a:t>
            </a:r>
            <a:endParaRPr lang="en-US" sz="1150" dirty="0"/>
          </a:p>
        </p:txBody>
      </p:sp>
      <p:sp>
        <p:nvSpPr>
          <p:cNvPr id="9" name="Shape 5"/>
          <p:cNvSpPr/>
          <p:nvPr/>
        </p:nvSpPr>
        <p:spPr>
          <a:xfrm>
            <a:off x="5943600" y="1143000"/>
            <a:ext cx="2743200" cy="3383280"/>
          </a:xfrm>
          <a:prstGeom prst="roundRect">
            <a:avLst>
              <a:gd name="adj" fmla="val 2667"/>
            </a:avLst>
          </a:prstGeom>
          <a:solidFill>
            <a:srgbClr val="0F3D2E"/>
          </a:solidFill>
          <a:ln w="12700">
            <a:solidFill>
              <a:srgbClr val="0F3D2E"/>
            </a:solidFill>
            <a:prstDash val="solid"/>
          </a:ln>
        </p:spPr>
      </p:sp>
      <p:sp>
        <p:nvSpPr>
          <p:cNvPr id="10" name="Shape 6"/>
          <p:cNvSpPr/>
          <p:nvPr/>
        </p:nvSpPr>
        <p:spPr>
          <a:xfrm>
            <a:off x="6903720" y="1371600"/>
            <a:ext cx="822960" cy="822960"/>
          </a:xfrm>
          <a:prstGeom prst="ellipse">
            <a:avLst/>
          </a:prstGeom>
          <a:solidFill>
            <a:srgbClr val="D9B44A"/>
          </a:solidFill>
          <a:ln w="12700">
            <a:solidFill>
              <a:srgbClr val="D9B44A"/>
            </a:solidFill>
            <a:prstDash val="solid"/>
          </a:ln>
        </p:spPr>
      </p:sp>
      <p:sp>
        <p:nvSpPr>
          <p:cNvPr id="11" name="Text 7"/>
          <p:cNvSpPr txBox="1"/>
          <p:nvPr/>
        </p:nvSpPr>
        <p:spPr>
          <a:xfrm>
            <a:off x="6903720" y="1371600"/>
            <a:ext cx="822960" cy="822960"/>
          </a:xfrm>
          <a:prstGeom prst="rect">
            <a:avLst/>
          </a:prstGeom>
          <a:noFill/>
          <a:ln/>
        </p:spPr>
        <p:txBody>
          <a:bodyPr wrap="square" lIns="0" tIns="0" rIns="0" bIns="0" rtlCol="0" anchor="ctr"/>
          <a:lstStyle/>
          <a:p>
            <a:pPr algn="ctr" indent="0" marL="0">
              <a:buNone/>
            </a:pPr>
            <a:r>
              <a:rPr lang="en-US" sz="3400" b="1" dirty="0">
                <a:solidFill>
                  <a:srgbClr val="0F3D2E"/>
                </a:solidFill>
                <a:latin typeface="Calibri" pitchFamily="34" charset="0"/>
                <a:ea typeface="Calibri" pitchFamily="34" charset="-122"/>
                <a:cs typeface="Calibri" pitchFamily="34" charset="-120"/>
              </a:rPr>
              <a:t>✓</a:t>
            </a:r>
            <a:endParaRPr lang="en-US" sz="3400" dirty="0"/>
          </a:p>
        </p:txBody>
      </p:sp>
      <p:sp>
        <p:nvSpPr>
          <p:cNvPr id="12" name="Text 8"/>
          <p:cNvSpPr txBox="1"/>
          <p:nvPr/>
        </p:nvSpPr>
        <p:spPr>
          <a:xfrm>
            <a:off x="6035040" y="2377440"/>
            <a:ext cx="2560320" cy="365760"/>
          </a:xfrm>
          <a:prstGeom prst="rect">
            <a:avLst/>
          </a:prstGeom>
          <a:noFill/>
          <a:ln/>
        </p:spPr>
        <p:txBody>
          <a:bodyPr wrap="square" lIns="0" tIns="0" rIns="0" bIns="0" rtlCol="0" anchor="t"/>
          <a:lstStyle/>
          <a:p>
            <a:pPr algn="ctr" indent="0" marL="0">
              <a:buNone/>
            </a:pPr>
            <a:r>
              <a:rPr lang="en-US" sz="2000" b="1" dirty="0">
                <a:solidFill>
                  <a:srgbClr val="FFFFFF"/>
                </a:solidFill>
                <a:latin typeface="Cambria" pitchFamily="34" charset="0"/>
                <a:ea typeface="Cambria" pitchFamily="34" charset="-122"/>
                <a:cs typeface="Cambria" pitchFamily="34" charset="-120"/>
              </a:rPr>
              <a:t>Conflict-free</a:t>
            </a:r>
            <a:endParaRPr lang="en-US" sz="2000" dirty="0"/>
          </a:p>
        </p:txBody>
      </p:sp>
      <p:sp>
        <p:nvSpPr>
          <p:cNvPr id="13" name="Text 9"/>
          <p:cNvSpPr txBox="1"/>
          <p:nvPr/>
        </p:nvSpPr>
        <p:spPr>
          <a:xfrm>
            <a:off x="6172200" y="2834640"/>
            <a:ext cx="2286000" cy="914400"/>
          </a:xfrm>
          <a:prstGeom prst="rect">
            <a:avLst/>
          </a:prstGeom>
          <a:noFill/>
          <a:ln/>
        </p:spPr>
        <p:txBody>
          <a:bodyPr wrap="square" lIns="0" tIns="0" rIns="0" bIns="0" rtlCol="0" anchor="t"/>
          <a:lstStyle/>
          <a:p>
            <a:pPr algn="ctr" indent="0" marL="0">
              <a:buNone/>
            </a:pPr>
            <a:r>
              <a:rPr lang="en-US" sz="1150" dirty="0">
                <a:solidFill>
                  <a:srgbClr val="CFE3D9"/>
                </a:solidFill>
                <a:latin typeface="Calibri" pitchFamily="34" charset="0"/>
                <a:ea typeface="Calibri" pitchFamily="34" charset="-122"/>
                <a:cs typeface="Calibri" pitchFamily="34" charset="-120"/>
              </a:rPr>
              <a:t>No duplicated cells. One token of lookahead, no backtracking, no ambiguity heuristics.</a:t>
            </a:r>
            <a:endParaRPr lang="en-US" sz="1150" dirty="0"/>
          </a:p>
        </p:txBody>
      </p:sp>
      <p:sp>
        <p:nvSpPr>
          <p:cNvPr id="14" name="Text 10"/>
          <p:cNvSpPr txBox="1"/>
          <p:nvPr/>
        </p:nvSpPr>
        <p:spPr>
          <a:xfrm>
            <a:off x="6035040" y="3977640"/>
            <a:ext cx="2560320" cy="274320"/>
          </a:xfrm>
          <a:prstGeom prst="rect">
            <a:avLst/>
          </a:prstGeom>
          <a:noFill/>
          <a:ln/>
        </p:spPr>
        <p:txBody>
          <a:bodyPr wrap="square" lIns="0" tIns="0" rIns="0" bIns="0" rtlCol="0" anchor="t"/>
          <a:lstStyle/>
          <a:p>
            <a:pPr algn="ctr" indent="0" marL="0">
              <a:buNone/>
            </a:pPr>
            <a:r>
              <a:rPr lang="en-US" sz="1000" dirty="0">
                <a:solidFill>
                  <a:srgbClr val="D9B44A"/>
                </a:solidFill>
                <a:latin typeface="Courier New" pitchFamily="34" charset="0"/>
                <a:ea typeface="Courier New" pitchFamily="34" charset="-122"/>
                <a:cs typeface="Courier New" pitchFamily="34" charset="-120"/>
              </a:rPr>
              <a:t>enforced by test_ll1.py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Table-driven predictive parser</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16</a:t>
            </a:r>
            <a:endParaRPr lang="en-US" sz="900" dirty="0"/>
          </a:p>
        </p:txBody>
      </p:sp>
      <p:sp>
        <p:nvSpPr>
          <p:cNvPr id="6" name="Shape 3"/>
          <p:cNvSpPr/>
          <p:nvPr/>
        </p:nvSpPr>
        <p:spPr>
          <a:xfrm>
            <a:off x="457200" y="1216152"/>
            <a:ext cx="365760" cy="365760"/>
          </a:xfrm>
          <a:prstGeom prst="ellipse">
            <a:avLst/>
          </a:prstGeom>
          <a:solidFill>
            <a:srgbClr val="1B6B4F"/>
          </a:solidFill>
          <a:ln w="12700">
            <a:solidFill>
              <a:srgbClr val="1B6B4F"/>
            </a:solidFill>
            <a:prstDash val="solid"/>
          </a:ln>
        </p:spPr>
      </p:sp>
      <p:sp>
        <p:nvSpPr>
          <p:cNvPr id="7" name="Text 4"/>
          <p:cNvSpPr txBox="1"/>
          <p:nvPr/>
        </p:nvSpPr>
        <p:spPr>
          <a:xfrm>
            <a:off x="457200" y="12161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960120" y="1143000"/>
            <a:ext cx="3200400" cy="548640"/>
          </a:xfrm>
          <a:prstGeom prst="rect">
            <a:avLst/>
          </a:prstGeom>
          <a:noFill/>
          <a:ln/>
        </p:spPr>
        <p:txBody>
          <a:bodyPr wrap="square" lIns="0" tIns="0" rIns="0" bIns="0" rtlCol="0" anchor="ctr"/>
          <a:lstStyle/>
          <a:p>
            <a:pPr indent="0" marL="0">
              <a:buNone/>
            </a:pPr>
            <a:r>
              <a:rPr lang="en-US" sz="1200" dirty="0">
                <a:solidFill>
                  <a:srgbClr val="1F2A26"/>
                </a:solidFill>
                <a:latin typeface="Calibri" pitchFamily="34" charset="0"/>
                <a:ea typeface="Calibri" pitchFamily="34" charset="-122"/>
                <a:cs typeface="Calibri" pitchFamily="34" charset="-120"/>
              </a:rPr>
              <a:t>Push $ and the start symbol S</a:t>
            </a:r>
            <a:endParaRPr lang="en-US" sz="1200" dirty="0"/>
          </a:p>
        </p:txBody>
      </p:sp>
      <p:sp>
        <p:nvSpPr>
          <p:cNvPr id="9" name="Shape 6"/>
          <p:cNvSpPr/>
          <p:nvPr/>
        </p:nvSpPr>
        <p:spPr>
          <a:xfrm>
            <a:off x="457200" y="1901952"/>
            <a:ext cx="365760" cy="365760"/>
          </a:xfrm>
          <a:prstGeom prst="ellipse">
            <a:avLst/>
          </a:prstGeom>
          <a:solidFill>
            <a:srgbClr val="1B6B4F"/>
          </a:solidFill>
          <a:ln w="12700">
            <a:solidFill>
              <a:srgbClr val="1B6B4F"/>
            </a:solidFill>
            <a:prstDash val="solid"/>
          </a:ln>
        </p:spPr>
      </p:sp>
      <p:sp>
        <p:nvSpPr>
          <p:cNvPr id="10" name="Text 7"/>
          <p:cNvSpPr txBox="1"/>
          <p:nvPr/>
        </p:nvSpPr>
        <p:spPr>
          <a:xfrm>
            <a:off x="457200" y="19019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txBox="1"/>
          <p:nvPr/>
        </p:nvSpPr>
        <p:spPr>
          <a:xfrm>
            <a:off x="960120" y="1828800"/>
            <a:ext cx="3200400" cy="548640"/>
          </a:xfrm>
          <a:prstGeom prst="rect">
            <a:avLst/>
          </a:prstGeom>
          <a:noFill/>
          <a:ln/>
        </p:spPr>
        <p:txBody>
          <a:bodyPr wrap="square" lIns="0" tIns="0" rIns="0" bIns="0" rtlCol="0" anchor="ctr"/>
          <a:lstStyle/>
          <a:p>
            <a:pPr indent="0" marL="0">
              <a:buNone/>
            </a:pPr>
            <a:r>
              <a:rPr lang="en-US" sz="1200" dirty="0">
                <a:solidFill>
                  <a:srgbClr val="1F2A26"/>
                </a:solidFill>
                <a:latin typeface="Calibri" pitchFamily="34" charset="0"/>
                <a:ea typeface="Calibri" pitchFamily="34" charset="-122"/>
                <a:cs typeface="Calibri" pitchFamily="34" charset="-120"/>
              </a:rPr>
              <a:t>Look at stack top X and lookahead t</a:t>
            </a:r>
            <a:endParaRPr lang="en-US" sz="1200" dirty="0"/>
          </a:p>
        </p:txBody>
      </p:sp>
      <p:sp>
        <p:nvSpPr>
          <p:cNvPr id="12" name="Shape 9"/>
          <p:cNvSpPr/>
          <p:nvPr/>
        </p:nvSpPr>
        <p:spPr>
          <a:xfrm>
            <a:off x="457200" y="2587752"/>
            <a:ext cx="365760" cy="365760"/>
          </a:xfrm>
          <a:prstGeom prst="ellipse">
            <a:avLst/>
          </a:prstGeom>
          <a:solidFill>
            <a:srgbClr val="1B6B4F"/>
          </a:solidFill>
          <a:ln w="12700">
            <a:solidFill>
              <a:srgbClr val="1B6B4F"/>
            </a:solidFill>
            <a:prstDash val="solid"/>
          </a:ln>
        </p:spPr>
      </p:sp>
      <p:sp>
        <p:nvSpPr>
          <p:cNvPr id="13" name="Text 10"/>
          <p:cNvSpPr txBox="1"/>
          <p:nvPr/>
        </p:nvSpPr>
        <p:spPr>
          <a:xfrm>
            <a:off x="457200" y="25877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1"/>
          <p:cNvSpPr txBox="1"/>
          <p:nvPr/>
        </p:nvSpPr>
        <p:spPr>
          <a:xfrm>
            <a:off x="960120" y="2514600"/>
            <a:ext cx="3200400" cy="548640"/>
          </a:xfrm>
          <a:prstGeom prst="rect">
            <a:avLst/>
          </a:prstGeom>
          <a:noFill/>
          <a:ln/>
        </p:spPr>
        <p:txBody>
          <a:bodyPr wrap="square" lIns="0" tIns="0" rIns="0" bIns="0" rtlCol="0" anchor="ctr"/>
          <a:lstStyle/>
          <a:p>
            <a:pPr indent="0" marL="0">
              <a:buNone/>
            </a:pPr>
            <a:r>
              <a:rPr lang="en-US" sz="1200" dirty="0">
                <a:solidFill>
                  <a:srgbClr val="1F2A26"/>
                </a:solidFill>
                <a:latin typeface="Calibri" pitchFamily="34" charset="0"/>
                <a:ea typeface="Calibri" pitchFamily="34" charset="-122"/>
                <a:cs typeface="Calibri" pitchFamily="34" charset="-120"/>
              </a:rPr>
              <a:t>Terminal: must equal t, then pop and advance</a:t>
            </a:r>
            <a:endParaRPr lang="en-US" sz="1200" dirty="0"/>
          </a:p>
        </p:txBody>
      </p:sp>
      <p:sp>
        <p:nvSpPr>
          <p:cNvPr id="15" name="Shape 12"/>
          <p:cNvSpPr/>
          <p:nvPr/>
        </p:nvSpPr>
        <p:spPr>
          <a:xfrm>
            <a:off x="457200" y="3273552"/>
            <a:ext cx="365760" cy="365760"/>
          </a:xfrm>
          <a:prstGeom prst="ellipse">
            <a:avLst/>
          </a:prstGeom>
          <a:solidFill>
            <a:srgbClr val="1B6B4F"/>
          </a:solidFill>
          <a:ln w="12700">
            <a:solidFill>
              <a:srgbClr val="1B6B4F"/>
            </a:solidFill>
            <a:prstDash val="solid"/>
          </a:ln>
        </p:spPr>
      </p:sp>
      <p:sp>
        <p:nvSpPr>
          <p:cNvPr id="16" name="Text 13"/>
          <p:cNvSpPr txBox="1"/>
          <p:nvPr/>
        </p:nvSpPr>
        <p:spPr>
          <a:xfrm>
            <a:off x="457200" y="32735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4"/>
          <p:cNvSpPr txBox="1"/>
          <p:nvPr/>
        </p:nvSpPr>
        <p:spPr>
          <a:xfrm>
            <a:off x="960120" y="3200400"/>
            <a:ext cx="3200400" cy="548640"/>
          </a:xfrm>
          <a:prstGeom prst="rect">
            <a:avLst/>
          </a:prstGeom>
          <a:noFill/>
          <a:ln/>
        </p:spPr>
        <p:txBody>
          <a:bodyPr wrap="square" lIns="0" tIns="0" rIns="0" bIns="0" rtlCol="0" anchor="ctr"/>
          <a:lstStyle/>
          <a:p>
            <a:pPr indent="0" marL="0">
              <a:buNone/>
            </a:pPr>
            <a:r>
              <a:rPr lang="en-US" sz="1200" dirty="0">
                <a:solidFill>
                  <a:srgbClr val="1F2A26"/>
                </a:solidFill>
                <a:latin typeface="Calibri" pitchFamily="34" charset="0"/>
                <a:ea typeface="Calibri" pitchFamily="34" charset="-122"/>
                <a:cs typeface="Calibri" pitchFamily="34" charset="-120"/>
              </a:rPr>
              <a:t>Nonterminal: look up [X, t], push RHS reversed, record production id</a:t>
            </a:r>
            <a:endParaRPr lang="en-US" sz="1200" dirty="0"/>
          </a:p>
        </p:txBody>
      </p:sp>
      <p:sp>
        <p:nvSpPr>
          <p:cNvPr id="18" name="Shape 15"/>
          <p:cNvSpPr/>
          <p:nvPr/>
        </p:nvSpPr>
        <p:spPr>
          <a:xfrm>
            <a:off x="457200" y="3959352"/>
            <a:ext cx="365760" cy="365760"/>
          </a:xfrm>
          <a:prstGeom prst="ellipse">
            <a:avLst/>
          </a:prstGeom>
          <a:solidFill>
            <a:srgbClr val="1B6B4F"/>
          </a:solidFill>
          <a:ln w="12700">
            <a:solidFill>
              <a:srgbClr val="1B6B4F"/>
            </a:solidFill>
            <a:prstDash val="solid"/>
          </a:ln>
        </p:spPr>
      </p:sp>
      <p:sp>
        <p:nvSpPr>
          <p:cNvPr id="19" name="Text 16"/>
          <p:cNvSpPr txBox="1"/>
          <p:nvPr/>
        </p:nvSpPr>
        <p:spPr>
          <a:xfrm>
            <a:off x="457200" y="3959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7"/>
          <p:cNvSpPr txBox="1"/>
          <p:nvPr/>
        </p:nvSpPr>
        <p:spPr>
          <a:xfrm>
            <a:off x="960120" y="3886200"/>
            <a:ext cx="3200400" cy="548640"/>
          </a:xfrm>
          <a:prstGeom prst="rect">
            <a:avLst/>
          </a:prstGeom>
          <a:noFill/>
          <a:ln/>
        </p:spPr>
        <p:txBody>
          <a:bodyPr wrap="square" lIns="0" tIns="0" rIns="0" bIns="0" rtlCol="0" anchor="ctr"/>
          <a:lstStyle/>
          <a:p>
            <a:pPr indent="0" marL="0">
              <a:buNone/>
            </a:pPr>
            <a:r>
              <a:rPr lang="en-US" sz="1200" dirty="0">
                <a:solidFill>
                  <a:srgbClr val="1F2A26"/>
                </a:solidFill>
                <a:latin typeface="Calibri" pitchFamily="34" charset="0"/>
                <a:ea typeface="Calibri" pitchFamily="34" charset="-122"/>
                <a:cs typeface="Calibri" pitchFamily="34" charset="-120"/>
              </a:rPr>
              <a:t>X = $ = t: accepted. Empty cell: rejected with expected set</a:t>
            </a:r>
            <a:endParaRPr lang="en-US" sz="1200" dirty="0"/>
          </a:p>
        </p:txBody>
      </p:sp>
      <p:sp>
        <p:nvSpPr>
          <p:cNvPr id="21" name="Text 18"/>
          <p:cNvSpPr txBox="1"/>
          <p:nvPr/>
        </p:nvSpPr>
        <p:spPr>
          <a:xfrm>
            <a:off x="4434840" y="1097280"/>
            <a:ext cx="4297680" cy="274320"/>
          </a:xfrm>
          <a:prstGeom prst="rect">
            <a:avLst/>
          </a:prstGeom>
          <a:noFill/>
          <a:ln/>
        </p:spPr>
        <p:txBody>
          <a:bodyPr wrap="square" lIns="0" tIns="0" rIns="0" bIns="0" rtlCol="0" anchor="t"/>
          <a:lstStyle/>
          <a:p>
            <a:pPr indent="0" marL="0">
              <a:buNone/>
            </a:pPr>
            <a:r>
              <a:rPr lang="en-US" sz="1100" b="1" dirty="0">
                <a:solidFill>
                  <a:srgbClr val="1F2A26"/>
                </a:solidFill>
                <a:latin typeface="Calibri" pitchFamily="34" charset="0"/>
                <a:ea typeface="Calibri" pitchFamily="34" charset="-122"/>
                <a:cs typeface="Calibri" pitchFamily="34" charset="-120"/>
              </a:rPr>
              <a:t>le taximan a une voiture</a:t>
            </a:r>
            <a:pPr indent="0" marL="0">
              <a:buNone/>
            </a:pPr>
            <a:r>
              <a:rPr lang="en-US" sz="1100" dirty="0">
                <a:solidFill>
                  <a:srgbClr val="1B6B4F"/>
                </a:solidFill>
                <a:latin typeface="Courier New" pitchFamily="34" charset="0"/>
                <a:ea typeface="Courier New" pitchFamily="34" charset="-122"/>
                <a:cs typeface="Courier New" pitchFamily="34" charset="-120"/>
              </a:rPr>
              <a:t>  →  DET NOUN VERB DET NOUN</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434840" y="1463040"/>
          <a:ext cx="4251960" cy="914400"/>
        </p:xfrm>
        <a:graphic>
          <a:graphicData uri="http://schemas.openxmlformats.org/drawingml/2006/table">
            <a:tbl>
              <a:tblPr/>
              <a:tblGrid>
                <a:gridCol w="365760"/>
                <a:gridCol w="1371600"/>
                <a:gridCol w="548640"/>
                <a:gridCol w="196596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Stack (top first)</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Look</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Action</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solidFill>
                      <a:srgbClr val="1B6B4F"/>
                    </a:solidFill>
                  </a:tcPr>
                </a:tc>
              </a:tr>
              <a:tr h="329184">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S $</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DET</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S → Seq</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329184">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NP ClauseTail …</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DET</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NP → DET NP′</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329184">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DET NP′ …</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DET</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match le</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329184">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NOUN …</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NOUN</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match taximan</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329184">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NegOpt …</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VERB</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NegOpt → ε (VERB ∈ FOLLOW)</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329184">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VerbTail …</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DET</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VerbTail → ε</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329184">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Comps Seq′ $</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Comps → ε, Seq′ → ε</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r h="329184">
                <a:tc>
                  <a:txBody>
                    <a:bodyPr/>
                    <a:lstStyle/>
                    <a:p>
                      <a:pPr indent="0" marL="0">
                        <a:buNone/>
                      </a:pPr>
                      <a:r>
                        <a:rPr lang="en-US" sz="1000" b="1" dirty="0">
                          <a:solidFill>
                            <a:srgbClr val="1F2A26"/>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dirty="0">
                          <a:solidFill>
                            <a:srgbClr val="1F2A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c>
                  <a:txBody>
                    <a:bodyPr/>
                    <a:lstStyle/>
                    <a:p>
                      <a:pPr indent="0" marL="0">
                        <a:buNone/>
                      </a:pPr>
                      <a:r>
                        <a:rPr lang="en-US" sz="1000" b="1" dirty="0">
                          <a:solidFill>
                            <a:srgbClr val="1B6B4F"/>
                          </a:solidFill>
                          <a:latin typeface="Calibri" pitchFamily="34" charset="0"/>
                          <a:ea typeface="Calibri" pitchFamily="34" charset="-122"/>
                          <a:cs typeface="Calibri" pitchFamily="34" charset="-120"/>
                        </a:rPr>
                        <a:t>accepted</a:t>
                      </a:r>
                      <a:endParaRPr lang="en-US" sz="1000" dirty="0">
                        <a:latin typeface="Calibri" charset="0"/>
                        <a:ea typeface="Calibri" charset="0"/>
                        <a:cs typeface="Calibri" charset="0"/>
                      </a:endParaRPr>
                    </a:p>
                  </a:txBody>
                  <a:tcPr marL="91440" marR="91440" marT="45720" marB="45720">
                    <a:lnL w="6350" cap="flat" cmpd="sng" algn="ctr">
                      <a:solidFill>
                        <a:srgbClr val="D5DDD9"/>
                      </a:solidFill>
                      <a:prstDash val="solid"/>
                      <a:round/>
                      <a:headEnd type="none" w="med" len="med"/>
                      <a:tailEnd type="none" w="med" len="med"/>
                    </a:lnL>
                    <a:lnR w="6350" cap="flat" cmpd="sng" algn="ctr">
                      <a:solidFill>
                        <a:srgbClr val="D5DDD9"/>
                      </a:solidFill>
                      <a:prstDash val="solid"/>
                      <a:round/>
                      <a:headEnd type="none" w="med" len="med"/>
                      <a:tailEnd type="none" w="med" len="med"/>
                    </a:lnR>
                    <a:lnT w="6350" cap="flat" cmpd="sng" algn="ctr">
                      <a:solidFill>
                        <a:srgbClr val="D5DDD9"/>
                      </a:solidFill>
                      <a:prstDash val="solid"/>
                      <a:round/>
                      <a:headEnd type="none" w="med" len="med"/>
                      <a:tailEnd type="none" w="med" len="med"/>
                    </a:lnT>
                    <a:lnB w="6350" cap="flat" cmpd="sng" algn="ctr">
                      <a:solidFill>
                        <a:srgbClr val="D5DDD9"/>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Rejections come with repairs</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17</a:t>
            </a:r>
            <a:endParaRPr lang="en-US" sz="900" dirty="0"/>
          </a:p>
        </p:txBody>
      </p:sp>
      <p:sp>
        <p:nvSpPr>
          <p:cNvPr id="6" name="Shape 3"/>
          <p:cNvSpPr/>
          <p:nvPr/>
        </p:nvSpPr>
        <p:spPr>
          <a:xfrm>
            <a:off x="457200" y="1143000"/>
            <a:ext cx="2651760" cy="1600200"/>
          </a:xfrm>
          <a:prstGeom prst="roundRect">
            <a:avLst>
              <a:gd name="adj" fmla="val 4571"/>
            </a:avLst>
          </a:prstGeom>
          <a:solidFill>
            <a:srgbClr val="EEF3F0"/>
          </a:solidFill>
          <a:ln w="12700">
            <a:solidFill>
              <a:srgbClr val="EEF3F0"/>
            </a:solidFill>
            <a:prstDash val="solid"/>
          </a:ln>
        </p:spPr>
      </p:sp>
      <p:sp>
        <p:nvSpPr>
          <p:cNvPr id="7" name="Text 4"/>
          <p:cNvSpPr txBox="1"/>
          <p:nvPr/>
        </p:nvSpPr>
        <p:spPr>
          <a:xfrm>
            <a:off x="640080" y="1280160"/>
            <a:ext cx="2286000" cy="274320"/>
          </a:xfrm>
          <a:prstGeom prst="rect">
            <a:avLst/>
          </a:prstGeom>
          <a:noFill/>
          <a:ln/>
        </p:spPr>
        <p:txBody>
          <a:bodyPr wrap="square" lIns="0" tIns="0" rIns="0" bIns="0" rtlCol="0" anchor="t"/>
          <a:lstStyle/>
          <a:p>
            <a:pPr indent="0" marL="0">
              <a:buNone/>
            </a:pPr>
            <a:r>
              <a:rPr lang="en-US" sz="1200" b="1" dirty="0">
                <a:solidFill>
                  <a:srgbClr val="1B6B4F"/>
                </a:solidFill>
                <a:latin typeface="Courier New" pitchFamily="34" charset="0"/>
                <a:ea typeface="Courier New" pitchFamily="34" charset="-122"/>
                <a:cs typeface="Courier New" pitchFamily="34" charset="-120"/>
              </a:rPr>
              <a:t>unknown_word</a:t>
            </a:r>
            <a:endParaRPr lang="en-US" sz="1200" dirty="0"/>
          </a:p>
        </p:txBody>
      </p:sp>
      <p:sp>
        <p:nvSpPr>
          <p:cNvPr id="8" name="Text 5"/>
          <p:cNvSpPr txBox="1"/>
          <p:nvPr/>
        </p:nvSpPr>
        <p:spPr>
          <a:xfrm>
            <a:off x="640080" y="1645920"/>
            <a:ext cx="2286000" cy="1005840"/>
          </a:xfrm>
          <a:prstGeom prst="rect">
            <a:avLst/>
          </a:prstGeom>
          <a:noFill/>
          <a:ln/>
        </p:spPr>
        <p:txBody>
          <a:bodyPr wrap="square" lIns="0" tIns="0" rIns="0" bIns="0" rtlCol="0" anchor="t"/>
          <a:lstStyle/>
          <a:p>
            <a:pPr indent="0" marL="0">
              <a:buNone/>
            </a:pPr>
            <a:r>
              <a:rPr lang="en-US" sz="1200" dirty="0">
                <a:solidFill>
                  <a:srgbClr val="1F2A26"/>
                </a:solidFill>
                <a:latin typeface="Calibri" pitchFamily="34" charset="0"/>
                <a:ea typeface="Calibri" pitchFamily="34" charset="-122"/>
                <a:cs typeface="Calibri" pitchFamily="34" charset="-120"/>
              </a:rPr>
              <a:t>Near matches via difflib over folded forms at a 0.6 cut-off, so an accent slip still finds its target.</a:t>
            </a:r>
            <a:endParaRPr lang="en-US" sz="1200" dirty="0"/>
          </a:p>
        </p:txBody>
      </p:sp>
      <p:sp>
        <p:nvSpPr>
          <p:cNvPr id="9" name="Shape 6"/>
          <p:cNvSpPr/>
          <p:nvPr/>
        </p:nvSpPr>
        <p:spPr>
          <a:xfrm>
            <a:off x="3246120" y="1143000"/>
            <a:ext cx="2651760" cy="1600200"/>
          </a:xfrm>
          <a:prstGeom prst="roundRect">
            <a:avLst>
              <a:gd name="adj" fmla="val 4571"/>
            </a:avLst>
          </a:prstGeom>
          <a:solidFill>
            <a:srgbClr val="EEF3F0"/>
          </a:solidFill>
          <a:ln w="12700">
            <a:solidFill>
              <a:srgbClr val="EEF3F0"/>
            </a:solidFill>
            <a:prstDash val="solid"/>
          </a:ln>
        </p:spPr>
      </p:sp>
      <p:sp>
        <p:nvSpPr>
          <p:cNvPr id="10" name="Text 7"/>
          <p:cNvSpPr txBox="1"/>
          <p:nvPr/>
        </p:nvSpPr>
        <p:spPr>
          <a:xfrm>
            <a:off x="3429000" y="1280160"/>
            <a:ext cx="2286000" cy="274320"/>
          </a:xfrm>
          <a:prstGeom prst="rect">
            <a:avLst/>
          </a:prstGeom>
          <a:noFill/>
          <a:ln/>
        </p:spPr>
        <p:txBody>
          <a:bodyPr wrap="square" lIns="0" tIns="0" rIns="0" bIns="0" rtlCol="0" anchor="t"/>
          <a:lstStyle/>
          <a:p>
            <a:pPr indent="0" marL="0">
              <a:buNone/>
            </a:pPr>
            <a:r>
              <a:rPr lang="en-US" sz="1200" b="1" dirty="0">
                <a:solidFill>
                  <a:srgbClr val="1B6B4F"/>
                </a:solidFill>
                <a:latin typeface="Courier New" pitchFamily="34" charset="0"/>
                <a:ea typeface="Courier New" pitchFamily="34" charset="-122"/>
                <a:cs typeface="Courier New" pitchFamily="34" charset="-120"/>
              </a:rPr>
              <a:t>unexpected_token</a:t>
            </a:r>
            <a:endParaRPr lang="en-US" sz="1200" dirty="0"/>
          </a:p>
        </p:txBody>
      </p:sp>
      <p:sp>
        <p:nvSpPr>
          <p:cNvPr id="11" name="Text 8"/>
          <p:cNvSpPr txBox="1"/>
          <p:nvPr/>
        </p:nvSpPr>
        <p:spPr>
          <a:xfrm>
            <a:off x="3429000" y="1645920"/>
            <a:ext cx="2286000" cy="1005840"/>
          </a:xfrm>
          <a:prstGeom prst="rect">
            <a:avLst/>
          </a:prstGeom>
          <a:noFill/>
          <a:ln/>
        </p:spPr>
        <p:txBody>
          <a:bodyPr wrap="square" lIns="0" tIns="0" rIns="0" bIns="0" rtlCol="0" anchor="t"/>
          <a:lstStyle/>
          <a:p>
            <a:pPr indent="0" marL="0">
              <a:buNone/>
            </a:pPr>
            <a:r>
              <a:rPr lang="en-US" sz="1200" dirty="0">
                <a:solidFill>
                  <a:srgbClr val="1F2A26"/>
                </a:solidFill>
                <a:latin typeface="Calibri" pitchFamily="34" charset="0"/>
                <a:ea typeface="Calibri" pitchFamily="34" charset="-122"/>
                <a:cs typeface="Calibri" pitchFamily="34" charset="-120"/>
              </a:rPr>
              <a:t>Names the expected terminal classes, with up to three real lexicon words for each.</a:t>
            </a:r>
            <a:endParaRPr lang="en-US" sz="1200" dirty="0"/>
          </a:p>
        </p:txBody>
      </p:sp>
      <p:sp>
        <p:nvSpPr>
          <p:cNvPr id="12" name="Shape 9"/>
          <p:cNvSpPr/>
          <p:nvPr/>
        </p:nvSpPr>
        <p:spPr>
          <a:xfrm>
            <a:off x="6035040" y="1143000"/>
            <a:ext cx="2651760" cy="1600200"/>
          </a:xfrm>
          <a:prstGeom prst="roundRect">
            <a:avLst>
              <a:gd name="adj" fmla="val 4571"/>
            </a:avLst>
          </a:prstGeom>
          <a:solidFill>
            <a:srgbClr val="EEF3F0"/>
          </a:solidFill>
          <a:ln w="12700">
            <a:solidFill>
              <a:srgbClr val="EEF3F0"/>
            </a:solidFill>
            <a:prstDash val="solid"/>
          </a:ln>
        </p:spPr>
      </p:sp>
      <p:sp>
        <p:nvSpPr>
          <p:cNvPr id="13" name="Text 10"/>
          <p:cNvSpPr txBox="1"/>
          <p:nvPr/>
        </p:nvSpPr>
        <p:spPr>
          <a:xfrm>
            <a:off x="6217920" y="1280160"/>
            <a:ext cx="2286000" cy="274320"/>
          </a:xfrm>
          <a:prstGeom prst="rect">
            <a:avLst/>
          </a:prstGeom>
          <a:noFill/>
          <a:ln/>
        </p:spPr>
        <p:txBody>
          <a:bodyPr wrap="square" lIns="0" tIns="0" rIns="0" bIns="0" rtlCol="0" anchor="t"/>
          <a:lstStyle/>
          <a:p>
            <a:pPr indent="0" marL="0">
              <a:buNone/>
            </a:pPr>
            <a:r>
              <a:rPr lang="en-US" sz="1200" b="1" dirty="0">
                <a:solidFill>
                  <a:srgbClr val="1B6B4F"/>
                </a:solidFill>
                <a:latin typeface="Courier New" pitchFamily="34" charset="0"/>
                <a:ea typeface="Courier New" pitchFamily="34" charset="-122"/>
                <a:cs typeface="Courier New" pitchFamily="34" charset="-120"/>
              </a:rPr>
              <a:t>trailing_input</a:t>
            </a:r>
            <a:endParaRPr lang="en-US" sz="1200" dirty="0"/>
          </a:p>
        </p:txBody>
      </p:sp>
      <p:sp>
        <p:nvSpPr>
          <p:cNvPr id="14" name="Text 11"/>
          <p:cNvSpPr txBox="1"/>
          <p:nvPr/>
        </p:nvSpPr>
        <p:spPr>
          <a:xfrm>
            <a:off x="6217920" y="1645920"/>
            <a:ext cx="2286000" cy="1005840"/>
          </a:xfrm>
          <a:prstGeom prst="rect">
            <a:avLst/>
          </a:prstGeom>
          <a:noFill/>
          <a:ln/>
        </p:spPr>
        <p:txBody>
          <a:bodyPr wrap="square" lIns="0" tIns="0" rIns="0" bIns="0" rtlCol="0" anchor="t"/>
          <a:lstStyle/>
          <a:p>
            <a:pPr indent="0" marL="0">
              <a:buNone/>
            </a:pPr>
            <a:r>
              <a:rPr lang="en-US" sz="1200" dirty="0">
                <a:solidFill>
                  <a:srgbClr val="1F2A26"/>
                </a:solidFill>
                <a:latin typeface="Calibri" pitchFamily="34" charset="0"/>
                <a:ea typeface="Calibri" pitchFamily="34" charset="-122"/>
                <a:cs typeface="Calibri" pitchFamily="34" charset="-120"/>
              </a:rPr>
              <a:t>Reports two clauses run together with no conjunction or separator.</a:t>
            </a:r>
            <a:endParaRPr lang="en-US" sz="1200" dirty="0"/>
          </a:p>
        </p:txBody>
      </p:sp>
      <p:sp>
        <p:nvSpPr>
          <p:cNvPr id="15" name="Shape 12"/>
          <p:cNvSpPr/>
          <p:nvPr/>
        </p:nvSpPr>
        <p:spPr>
          <a:xfrm>
            <a:off x="457200" y="2971800"/>
            <a:ext cx="8229600" cy="1600200"/>
          </a:xfrm>
          <a:prstGeom prst="roundRect">
            <a:avLst>
              <a:gd name="adj" fmla="val 4571"/>
            </a:avLst>
          </a:prstGeom>
          <a:solidFill>
            <a:srgbClr val="FBEFEF"/>
          </a:solidFill>
          <a:ln w="12700">
            <a:solidFill>
              <a:srgbClr val="FBEFEF"/>
            </a:solidFill>
            <a:prstDash val="solid"/>
          </a:ln>
        </p:spPr>
      </p:sp>
      <p:sp>
        <p:nvSpPr>
          <p:cNvPr id="16" name="Text 13"/>
          <p:cNvSpPr txBox="1"/>
          <p:nvPr/>
        </p:nvSpPr>
        <p:spPr>
          <a:xfrm>
            <a:off x="640080" y="3063240"/>
            <a:ext cx="3657600" cy="274320"/>
          </a:xfrm>
          <a:prstGeom prst="rect">
            <a:avLst/>
          </a:prstGeom>
          <a:noFill/>
          <a:ln/>
        </p:spPr>
        <p:txBody>
          <a:bodyPr wrap="square" lIns="0" tIns="0" rIns="0" bIns="0" rtlCol="0" anchor="t"/>
          <a:lstStyle/>
          <a:p>
            <a:pPr indent="0" marL="0">
              <a:buNone/>
            </a:pPr>
            <a:r>
              <a:rPr lang="en-US" sz="1300" b="1" dirty="0">
                <a:solidFill>
                  <a:srgbClr val="B23A3A"/>
                </a:solidFill>
                <a:latin typeface="Calibri" pitchFamily="34" charset="0"/>
                <a:ea typeface="Calibri" pitchFamily="34" charset="-122"/>
                <a:cs typeface="Calibri" pitchFamily="34" charset="-120"/>
              </a:rPr>
              <a:t>✗ Rejected by the grammar</a:t>
            </a:r>
            <a:endParaRPr lang="en-US" sz="1300" dirty="0"/>
          </a:p>
        </p:txBody>
      </p:sp>
      <p:sp>
        <p:nvSpPr>
          <p:cNvPr id="17" name="Text 14"/>
          <p:cNvSpPr txBox="1"/>
          <p:nvPr/>
        </p:nvSpPr>
        <p:spPr>
          <a:xfrm>
            <a:off x="640080" y="3383280"/>
            <a:ext cx="7863840" cy="274320"/>
          </a:xfrm>
          <a:prstGeom prst="rect">
            <a:avLst/>
          </a:prstGeom>
          <a:noFill/>
          <a:ln/>
        </p:spPr>
        <p:txBody>
          <a:bodyPr wrap="square" lIns="0" tIns="0" rIns="0" bIns="0" rtlCol="0" anchor="t"/>
          <a:lstStyle/>
          <a:p>
            <a:pPr indent="0" marL="0">
              <a:buNone/>
            </a:pPr>
            <a:r>
              <a:rPr lang="en-US" sz="1150" dirty="0">
                <a:solidFill>
                  <a:srgbClr val="1F2A26"/>
                </a:solidFill>
                <a:latin typeface="Courier New" pitchFamily="34" charset="0"/>
                <a:ea typeface="Courier New" pitchFamily="34" charset="-122"/>
                <a:cs typeface="Courier New" pitchFamily="34" charset="-120"/>
              </a:rPr>
              <a:t>Le resau ne passe pas.  →  reason: lexical unknown token</a:t>
            </a:r>
            <a:endParaRPr lang="en-US" sz="1150" dirty="0"/>
          </a:p>
        </p:txBody>
      </p:sp>
      <p:sp>
        <p:nvSpPr>
          <p:cNvPr id="18" name="Text 15"/>
          <p:cNvSpPr txBox="1"/>
          <p:nvPr/>
        </p:nvSpPr>
        <p:spPr>
          <a:xfrm>
            <a:off x="640080" y="3749040"/>
            <a:ext cx="3017520" cy="274320"/>
          </a:xfrm>
          <a:prstGeom prst="rect">
            <a:avLst/>
          </a:prstGeom>
          <a:noFill/>
          <a:ln/>
        </p:spPr>
        <p:txBody>
          <a:bodyPr wrap="square" lIns="0" tIns="0" rIns="0" bIns="0" rtlCol="0" anchor="t"/>
          <a:lstStyle/>
          <a:p>
            <a:pPr indent="0" marL="0">
              <a:buNone/>
            </a:pPr>
            <a:r>
              <a:rPr lang="en-US" sz="1200" dirty="0">
                <a:solidFill>
                  <a:srgbClr val="1F2A26"/>
                </a:solidFill>
                <a:latin typeface="Calibri" pitchFamily="34" charset="0"/>
                <a:ea typeface="Calibri" pitchFamily="34" charset="-122"/>
                <a:cs typeface="Calibri" pitchFamily="34" charset="-120"/>
              </a:rPr>
              <a:t>‘resau’ is not in the lexicon.   Try:</a:t>
            </a:r>
            <a:endParaRPr lang="en-US" sz="1200" dirty="0"/>
          </a:p>
        </p:txBody>
      </p:sp>
      <p:sp>
        <p:nvSpPr>
          <p:cNvPr id="19" name="Shape 16"/>
          <p:cNvSpPr/>
          <p:nvPr/>
        </p:nvSpPr>
        <p:spPr>
          <a:xfrm>
            <a:off x="3657600" y="3730752"/>
            <a:ext cx="896112" cy="292608"/>
          </a:xfrm>
          <a:prstGeom prst="roundRect">
            <a:avLst>
              <a:gd name="adj" fmla="val 18750"/>
            </a:avLst>
          </a:prstGeom>
          <a:solidFill>
            <a:srgbClr val="FFFFFF"/>
          </a:solidFill>
          <a:ln w="12700">
            <a:solidFill>
              <a:srgbClr val="E2C4C4"/>
            </a:solidFill>
            <a:prstDash val="solid"/>
          </a:ln>
        </p:spPr>
      </p:sp>
      <p:sp>
        <p:nvSpPr>
          <p:cNvPr id="20" name="Text 17"/>
          <p:cNvSpPr txBox="1"/>
          <p:nvPr/>
        </p:nvSpPr>
        <p:spPr>
          <a:xfrm>
            <a:off x="3657600" y="3730752"/>
            <a:ext cx="896112" cy="292608"/>
          </a:xfrm>
          <a:prstGeom prst="rect">
            <a:avLst/>
          </a:prstGeom>
          <a:noFill/>
          <a:ln/>
        </p:spPr>
        <p:txBody>
          <a:bodyPr wrap="square" lIns="0" tIns="0" rIns="0" bIns="0" rtlCol="0" anchor="ctr"/>
          <a:lstStyle/>
          <a:p>
            <a:pPr algn="ctr" indent="0" marL="0">
              <a:buNone/>
            </a:pPr>
            <a:r>
              <a:rPr lang="en-US" sz="1050" b="1" dirty="0">
                <a:solidFill>
                  <a:srgbClr val="1B6B4F"/>
                </a:solidFill>
                <a:latin typeface="Courier New" pitchFamily="34" charset="0"/>
                <a:ea typeface="Courier New" pitchFamily="34" charset="-122"/>
                <a:cs typeface="Courier New" pitchFamily="34" charset="-120"/>
              </a:rPr>
              <a:t>réseau</a:t>
            </a:r>
            <a:endParaRPr lang="en-US" sz="1050" dirty="0"/>
          </a:p>
        </p:txBody>
      </p:sp>
      <p:sp>
        <p:nvSpPr>
          <p:cNvPr id="21" name="Shape 18"/>
          <p:cNvSpPr/>
          <p:nvPr/>
        </p:nvSpPr>
        <p:spPr>
          <a:xfrm>
            <a:off x="4645152" y="3730752"/>
            <a:ext cx="896112" cy="292608"/>
          </a:xfrm>
          <a:prstGeom prst="roundRect">
            <a:avLst>
              <a:gd name="adj" fmla="val 18750"/>
            </a:avLst>
          </a:prstGeom>
          <a:solidFill>
            <a:srgbClr val="FFFFFF"/>
          </a:solidFill>
          <a:ln w="12700">
            <a:solidFill>
              <a:srgbClr val="E2C4C4"/>
            </a:solidFill>
            <a:prstDash val="solid"/>
          </a:ln>
        </p:spPr>
      </p:sp>
      <p:sp>
        <p:nvSpPr>
          <p:cNvPr id="22" name="Text 19"/>
          <p:cNvSpPr txBox="1"/>
          <p:nvPr/>
        </p:nvSpPr>
        <p:spPr>
          <a:xfrm>
            <a:off x="4645152" y="3730752"/>
            <a:ext cx="896112" cy="292608"/>
          </a:xfrm>
          <a:prstGeom prst="rect">
            <a:avLst/>
          </a:prstGeom>
          <a:noFill/>
          <a:ln/>
        </p:spPr>
        <p:txBody>
          <a:bodyPr wrap="square" lIns="0" tIns="0" rIns="0" bIns="0" rtlCol="0" anchor="ctr"/>
          <a:lstStyle/>
          <a:p>
            <a:pPr algn="ctr" indent="0" marL="0">
              <a:buNone/>
            </a:pPr>
            <a:r>
              <a:rPr lang="en-US" sz="1050" dirty="0">
                <a:solidFill>
                  <a:srgbClr val="1F2A26"/>
                </a:solidFill>
                <a:latin typeface="Courier New" pitchFamily="34" charset="0"/>
                <a:ea typeface="Courier New" pitchFamily="34" charset="-122"/>
                <a:cs typeface="Courier New" pitchFamily="34" charset="-120"/>
              </a:rPr>
              <a:t>très</a:t>
            </a:r>
            <a:endParaRPr lang="en-US" sz="1050" dirty="0"/>
          </a:p>
        </p:txBody>
      </p:sp>
      <p:sp>
        <p:nvSpPr>
          <p:cNvPr id="23" name="Shape 20"/>
          <p:cNvSpPr/>
          <p:nvPr/>
        </p:nvSpPr>
        <p:spPr>
          <a:xfrm>
            <a:off x="5632704" y="3730752"/>
            <a:ext cx="896112" cy="292608"/>
          </a:xfrm>
          <a:prstGeom prst="roundRect">
            <a:avLst>
              <a:gd name="adj" fmla="val 18750"/>
            </a:avLst>
          </a:prstGeom>
          <a:solidFill>
            <a:srgbClr val="FFFFFF"/>
          </a:solidFill>
          <a:ln w="12700">
            <a:solidFill>
              <a:srgbClr val="E2C4C4"/>
            </a:solidFill>
            <a:prstDash val="solid"/>
          </a:ln>
        </p:spPr>
      </p:sp>
      <p:sp>
        <p:nvSpPr>
          <p:cNvPr id="24" name="Text 21"/>
          <p:cNvSpPr txBox="1"/>
          <p:nvPr/>
        </p:nvSpPr>
        <p:spPr>
          <a:xfrm>
            <a:off x="5632704" y="3730752"/>
            <a:ext cx="896112" cy="292608"/>
          </a:xfrm>
          <a:prstGeom prst="rect">
            <a:avLst/>
          </a:prstGeom>
          <a:noFill/>
          <a:ln/>
        </p:spPr>
        <p:txBody>
          <a:bodyPr wrap="square" lIns="0" tIns="0" rIns="0" bIns="0" rtlCol="0" anchor="ctr"/>
          <a:lstStyle/>
          <a:p>
            <a:pPr algn="ctr" indent="0" marL="0">
              <a:buNone/>
            </a:pPr>
            <a:r>
              <a:rPr lang="en-US" sz="1050" dirty="0">
                <a:solidFill>
                  <a:srgbClr val="1F2A26"/>
                </a:solidFill>
                <a:latin typeface="Courier New" pitchFamily="34" charset="0"/>
                <a:ea typeface="Courier New" pitchFamily="34" charset="-122"/>
                <a:cs typeface="Courier New" pitchFamily="34" charset="-120"/>
              </a:rPr>
              <a:t>reste</a:t>
            </a:r>
            <a:endParaRPr lang="en-US" sz="1050" dirty="0"/>
          </a:p>
        </p:txBody>
      </p:sp>
      <p:sp>
        <p:nvSpPr>
          <p:cNvPr id="25" name="Shape 22"/>
          <p:cNvSpPr/>
          <p:nvPr/>
        </p:nvSpPr>
        <p:spPr>
          <a:xfrm>
            <a:off x="6620256" y="3730752"/>
            <a:ext cx="896112" cy="292608"/>
          </a:xfrm>
          <a:prstGeom prst="roundRect">
            <a:avLst>
              <a:gd name="adj" fmla="val 18750"/>
            </a:avLst>
          </a:prstGeom>
          <a:solidFill>
            <a:srgbClr val="FFFFFF"/>
          </a:solidFill>
          <a:ln w="12700">
            <a:solidFill>
              <a:srgbClr val="E2C4C4"/>
            </a:solidFill>
            <a:prstDash val="solid"/>
          </a:ln>
        </p:spPr>
      </p:sp>
      <p:sp>
        <p:nvSpPr>
          <p:cNvPr id="26" name="Text 23"/>
          <p:cNvSpPr txBox="1"/>
          <p:nvPr/>
        </p:nvSpPr>
        <p:spPr>
          <a:xfrm>
            <a:off x="6620256" y="3730752"/>
            <a:ext cx="896112" cy="292608"/>
          </a:xfrm>
          <a:prstGeom prst="rect">
            <a:avLst/>
          </a:prstGeom>
          <a:noFill/>
          <a:ln/>
        </p:spPr>
        <p:txBody>
          <a:bodyPr wrap="square" lIns="0" tIns="0" rIns="0" bIns="0" rtlCol="0" anchor="ctr"/>
          <a:lstStyle/>
          <a:p>
            <a:pPr algn="ctr" indent="0" marL="0">
              <a:buNone/>
            </a:pPr>
            <a:r>
              <a:rPr lang="en-US" sz="1050" dirty="0">
                <a:solidFill>
                  <a:srgbClr val="1F2A26"/>
                </a:solidFill>
                <a:latin typeface="Courier New" pitchFamily="34" charset="0"/>
                <a:ea typeface="Courier New" pitchFamily="34" charset="-122"/>
                <a:cs typeface="Courier New" pitchFamily="34" charset="-120"/>
              </a:rPr>
              <a:t>ressé</a:t>
            </a:r>
            <a:endParaRPr lang="en-US" sz="1050" dirty="0"/>
          </a:p>
        </p:txBody>
      </p:sp>
      <p:sp>
        <p:nvSpPr>
          <p:cNvPr id="27" name="Shape 24"/>
          <p:cNvSpPr/>
          <p:nvPr/>
        </p:nvSpPr>
        <p:spPr>
          <a:xfrm>
            <a:off x="7607808" y="3730752"/>
            <a:ext cx="896112" cy="292608"/>
          </a:xfrm>
          <a:prstGeom prst="roundRect">
            <a:avLst>
              <a:gd name="adj" fmla="val 18750"/>
            </a:avLst>
          </a:prstGeom>
          <a:solidFill>
            <a:srgbClr val="FFFFFF"/>
          </a:solidFill>
          <a:ln w="12700">
            <a:solidFill>
              <a:srgbClr val="E2C4C4"/>
            </a:solidFill>
            <a:prstDash val="solid"/>
          </a:ln>
        </p:spPr>
      </p:sp>
      <p:sp>
        <p:nvSpPr>
          <p:cNvPr id="28" name="Text 25"/>
          <p:cNvSpPr txBox="1"/>
          <p:nvPr/>
        </p:nvSpPr>
        <p:spPr>
          <a:xfrm>
            <a:off x="7607808" y="3730752"/>
            <a:ext cx="896112" cy="292608"/>
          </a:xfrm>
          <a:prstGeom prst="rect">
            <a:avLst/>
          </a:prstGeom>
          <a:noFill/>
          <a:ln/>
        </p:spPr>
        <p:txBody>
          <a:bodyPr wrap="square" lIns="0" tIns="0" rIns="0" bIns="0" rtlCol="0" anchor="ctr"/>
          <a:lstStyle/>
          <a:p>
            <a:pPr algn="ctr" indent="0" marL="0">
              <a:buNone/>
            </a:pPr>
            <a:r>
              <a:rPr lang="en-US" sz="1050" dirty="0">
                <a:solidFill>
                  <a:srgbClr val="1F2A26"/>
                </a:solidFill>
                <a:latin typeface="Courier New" pitchFamily="34" charset="0"/>
                <a:ea typeface="Courier New" pitchFamily="34" charset="-122"/>
                <a:cs typeface="Courier New" pitchFamily="34" charset="-120"/>
              </a:rPr>
              <a:t>après</a:t>
            </a:r>
            <a:endParaRPr lang="en-US" sz="1050" dirty="0"/>
          </a:p>
        </p:txBody>
      </p:sp>
      <p:sp>
        <p:nvSpPr>
          <p:cNvPr id="29" name="Text 26"/>
          <p:cNvSpPr txBox="1"/>
          <p:nvPr/>
        </p:nvSpPr>
        <p:spPr>
          <a:xfrm>
            <a:off x="640080" y="4160520"/>
            <a:ext cx="7863840" cy="274320"/>
          </a:xfrm>
          <a:prstGeom prst="rect">
            <a:avLst/>
          </a:prstGeom>
          <a:noFill/>
          <a:ln/>
        </p:spPr>
        <p:txBody>
          <a:bodyPr wrap="square" lIns="0" tIns="0" rIns="0" bIns="0" rtlCol="0" anchor="t"/>
          <a:lstStyle/>
          <a:p>
            <a:pPr indent="0" marL="0">
              <a:buNone/>
            </a:pPr>
            <a:r>
              <a:rPr lang="en-US" sz="1100" i="1" dirty="0">
                <a:solidFill>
                  <a:srgbClr val="5F6F68"/>
                </a:solidFill>
                <a:latin typeface="Calibri" pitchFamily="34" charset="0"/>
                <a:ea typeface="Calibri" pitchFamily="34" charset="-122"/>
                <a:cs typeface="Calibri" pitchFamily="34" charset="-120"/>
              </a:rPr>
              <a:t>Derived, not generated: the same input always yields the same advice.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Results: 20 of 22 statements accepted</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18</a:t>
            </a:r>
            <a:endParaRPr lang="en-US" sz="900" dirty="0"/>
          </a:p>
        </p:txBody>
      </p:sp>
      <p:graphicFrame>
        <p:nvGraphicFramePr>
          <p:cNvPr id="6" name="Chart 0" descr=""/>
          <p:cNvGraphicFramePr/>
          <p:nvPr/>
        </p:nvGraphicFramePr>
        <p:xfrm>
          <a:off x="365760" y="1051560"/>
          <a:ext cx="3566160" cy="310896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4297680" y="1051560"/>
            <a:ext cx="2194560" cy="822960"/>
          </a:xfrm>
          <a:prstGeom prst="rect">
            <a:avLst/>
          </a:prstGeom>
          <a:noFill/>
          <a:ln/>
        </p:spPr>
        <p:txBody>
          <a:bodyPr wrap="square" lIns="0" tIns="0" rIns="0" bIns="0" rtlCol="0" anchor="t"/>
          <a:lstStyle/>
          <a:p>
            <a:pPr indent="0" marL="0">
              <a:buNone/>
            </a:pPr>
            <a:r>
              <a:rPr lang="en-US" sz="5400" b="1" dirty="0">
                <a:solidFill>
                  <a:srgbClr val="1B6B4F"/>
                </a:solidFill>
                <a:latin typeface="Cambria" pitchFamily="34" charset="0"/>
                <a:ea typeface="Cambria" pitchFamily="34" charset="-122"/>
                <a:cs typeface="Cambria" pitchFamily="34" charset="-120"/>
              </a:rPr>
              <a:t>91%</a:t>
            </a:r>
            <a:endParaRPr lang="en-US" sz="5400" dirty="0"/>
          </a:p>
        </p:txBody>
      </p:sp>
      <p:sp>
        <p:nvSpPr>
          <p:cNvPr id="8" name="Text 4"/>
          <p:cNvSpPr txBox="1"/>
          <p:nvPr/>
        </p:nvSpPr>
        <p:spPr>
          <a:xfrm>
            <a:off x="6309360" y="1188720"/>
            <a:ext cx="2377440" cy="685800"/>
          </a:xfrm>
          <a:prstGeom prst="rect">
            <a:avLst/>
          </a:prstGeom>
          <a:noFill/>
          <a:ln/>
        </p:spPr>
        <p:txBody>
          <a:bodyPr wrap="square" lIns="0" tIns="0" rIns="0" bIns="0" rtlCol="0" anchor="t"/>
          <a:lstStyle/>
          <a:p>
            <a:pPr indent="0" marL="0">
              <a:buNone/>
            </a:pPr>
            <a:r>
              <a:rPr lang="en-US" sz="1150" dirty="0">
                <a:solidFill>
                  <a:srgbClr val="5F6F68"/>
                </a:solidFill>
                <a:latin typeface="Calibri" pitchFamily="34" charset="0"/>
                <a:ea typeface="Calibri" pitchFamily="34" charset="-122"/>
                <a:cs typeface="Calibri" pitchFamily="34" charset="-120"/>
              </a:rPr>
              <a:t>acceptance rate, each with a derivation or an expected-terminal set</a:t>
            </a:r>
            <a:endParaRPr lang="en-US" sz="1150" dirty="0"/>
          </a:p>
        </p:txBody>
      </p:sp>
      <p:sp>
        <p:nvSpPr>
          <p:cNvPr id="9" name="Shape 5"/>
          <p:cNvSpPr/>
          <p:nvPr/>
        </p:nvSpPr>
        <p:spPr>
          <a:xfrm>
            <a:off x="4297680" y="2103120"/>
            <a:ext cx="4389120" cy="960120"/>
          </a:xfrm>
          <a:prstGeom prst="roundRect">
            <a:avLst>
              <a:gd name="adj" fmla="val 7619"/>
            </a:avLst>
          </a:prstGeom>
          <a:solidFill>
            <a:srgbClr val="FBEFEF"/>
          </a:solidFill>
          <a:ln w="12700">
            <a:solidFill>
              <a:srgbClr val="FBEFEF"/>
            </a:solidFill>
            <a:prstDash val="solid"/>
          </a:ln>
        </p:spPr>
      </p:sp>
      <p:sp>
        <p:nvSpPr>
          <p:cNvPr id="10" name="Text 6"/>
          <p:cNvSpPr txBox="1"/>
          <p:nvPr/>
        </p:nvSpPr>
        <p:spPr>
          <a:xfrm>
            <a:off x="4480560" y="2194560"/>
            <a:ext cx="4023360" cy="256032"/>
          </a:xfrm>
          <a:prstGeom prst="rect">
            <a:avLst/>
          </a:prstGeom>
          <a:noFill/>
          <a:ln/>
        </p:spPr>
        <p:txBody>
          <a:bodyPr wrap="square" lIns="0" tIns="0" rIns="0" bIns="0" rtlCol="0" anchor="t"/>
          <a:lstStyle/>
          <a:p>
            <a:pPr indent="0" marL="0">
              <a:buNone/>
            </a:pPr>
            <a:r>
              <a:rPr lang="en-US" sz="1150" b="1" dirty="0">
                <a:solidFill>
                  <a:srgbClr val="B23A3A"/>
                </a:solidFill>
                <a:latin typeface="Courier New" pitchFamily="34" charset="0"/>
                <a:ea typeface="Courier New" pitchFamily="34" charset="-122"/>
                <a:cs typeface="Courier New" pitchFamily="34" charset="-120"/>
              </a:rPr>
              <a:t>ycf-007</a:t>
            </a:r>
            <a:pPr indent="0" marL="0">
              <a:buNone/>
            </a:pPr>
            <a:r>
              <a:rPr lang="en-US" sz="1050" dirty="0">
                <a:solidFill>
                  <a:srgbClr val="B23A3A"/>
                </a:solidFill>
                <a:latin typeface="Calibri" pitchFamily="34" charset="0"/>
                <a:ea typeface="Calibri" pitchFamily="34" charset="-122"/>
                <a:cs typeface="Calibri" pitchFamily="34" charset="-120"/>
              </a:rPr>
              <a:t>   rejected: syntax no table entry</a:t>
            </a:r>
            <a:endParaRPr lang="en-US" sz="1150" dirty="0"/>
          </a:p>
        </p:txBody>
      </p:sp>
      <p:sp>
        <p:nvSpPr>
          <p:cNvPr id="11" name="Text 7"/>
          <p:cNvSpPr txBox="1"/>
          <p:nvPr/>
        </p:nvSpPr>
        <p:spPr>
          <a:xfrm>
            <a:off x="4480560" y="2514600"/>
            <a:ext cx="4023360" cy="502920"/>
          </a:xfrm>
          <a:prstGeom prst="rect">
            <a:avLst/>
          </a:prstGeom>
          <a:noFill/>
          <a:ln/>
        </p:spPr>
        <p:txBody>
          <a:bodyPr wrap="square" lIns="0" tIns="0" rIns="0" bIns="0" rtlCol="0" anchor="t"/>
          <a:lstStyle/>
          <a:p>
            <a:pPr indent="0" marL="0">
              <a:buNone/>
            </a:pPr>
            <a:r>
              <a:rPr lang="en-US" sz="1200" i="1" dirty="0">
                <a:solidFill>
                  <a:srgbClr val="1F2A26"/>
                </a:solidFill>
                <a:latin typeface="Calibri" pitchFamily="34" charset="0"/>
                <a:ea typeface="Calibri" pitchFamily="34" charset="-122"/>
                <a:cs typeface="Calibri" pitchFamily="34" charset="-120"/>
              </a:rPr>
              <a:t>Combi, viens tchop le poisson ici, on peut discuter le prix.</a:t>
            </a:r>
            <a:endParaRPr lang="en-US" sz="1200" dirty="0"/>
          </a:p>
        </p:txBody>
      </p:sp>
      <p:sp>
        <p:nvSpPr>
          <p:cNvPr id="12" name="Shape 8"/>
          <p:cNvSpPr/>
          <p:nvPr/>
        </p:nvSpPr>
        <p:spPr>
          <a:xfrm>
            <a:off x="4297680" y="3200400"/>
            <a:ext cx="4389120" cy="960120"/>
          </a:xfrm>
          <a:prstGeom prst="roundRect">
            <a:avLst>
              <a:gd name="adj" fmla="val 7619"/>
            </a:avLst>
          </a:prstGeom>
          <a:solidFill>
            <a:srgbClr val="FBEFEF"/>
          </a:solidFill>
          <a:ln w="12700">
            <a:solidFill>
              <a:srgbClr val="FBEFEF"/>
            </a:solidFill>
            <a:prstDash val="solid"/>
          </a:ln>
        </p:spPr>
      </p:sp>
      <p:sp>
        <p:nvSpPr>
          <p:cNvPr id="13" name="Text 9"/>
          <p:cNvSpPr txBox="1"/>
          <p:nvPr/>
        </p:nvSpPr>
        <p:spPr>
          <a:xfrm>
            <a:off x="4480560" y="3291840"/>
            <a:ext cx="4023360" cy="256032"/>
          </a:xfrm>
          <a:prstGeom prst="rect">
            <a:avLst/>
          </a:prstGeom>
          <a:noFill/>
          <a:ln/>
        </p:spPr>
        <p:txBody>
          <a:bodyPr wrap="square" lIns="0" tIns="0" rIns="0" bIns="0" rtlCol="0" anchor="t"/>
          <a:lstStyle/>
          <a:p>
            <a:pPr indent="0" marL="0">
              <a:buNone/>
            </a:pPr>
            <a:r>
              <a:rPr lang="en-US" sz="1150" b="1" dirty="0">
                <a:solidFill>
                  <a:srgbClr val="B23A3A"/>
                </a:solidFill>
                <a:latin typeface="Courier New" pitchFamily="34" charset="0"/>
                <a:ea typeface="Courier New" pitchFamily="34" charset="-122"/>
                <a:cs typeface="Courier New" pitchFamily="34" charset="-120"/>
              </a:rPr>
              <a:t>ycf-008</a:t>
            </a:r>
            <a:pPr indent="0" marL="0">
              <a:buNone/>
            </a:pPr>
            <a:r>
              <a:rPr lang="en-US" sz="1050" dirty="0">
                <a:solidFill>
                  <a:srgbClr val="B23A3A"/>
                </a:solidFill>
                <a:latin typeface="Calibri" pitchFamily="34" charset="0"/>
                <a:ea typeface="Calibri" pitchFamily="34" charset="-122"/>
                <a:cs typeface="Calibri" pitchFamily="34" charset="-120"/>
              </a:rPr>
              <a:t>   rejected: syntax no table entry</a:t>
            </a:r>
            <a:endParaRPr lang="en-US" sz="1150" dirty="0"/>
          </a:p>
        </p:txBody>
      </p:sp>
      <p:sp>
        <p:nvSpPr>
          <p:cNvPr id="14" name="Text 10"/>
          <p:cNvSpPr txBox="1"/>
          <p:nvPr/>
        </p:nvSpPr>
        <p:spPr>
          <a:xfrm>
            <a:off x="4480560" y="3611880"/>
            <a:ext cx="4023360" cy="502920"/>
          </a:xfrm>
          <a:prstGeom prst="rect">
            <a:avLst/>
          </a:prstGeom>
          <a:noFill/>
          <a:ln/>
        </p:spPr>
        <p:txBody>
          <a:bodyPr wrap="square" lIns="0" tIns="0" rIns="0" bIns="0" rtlCol="0" anchor="t"/>
          <a:lstStyle/>
          <a:p>
            <a:pPr indent="0" marL="0">
              <a:buNone/>
            </a:pPr>
            <a:r>
              <a:rPr lang="en-US" sz="1200" i="1" dirty="0">
                <a:solidFill>
                  <a:srgbClr val="1F2A26"/>
                </a:solidFill>
                <a:latin typeface="Calibri" pitchFamily="34" charset="0"/>
                <a:ea typeface="Calibri" pitchFamily="34" charset="-122"/>
                <a:cs typeface="Calibri" pitchFamily="34" charset="-120"/>
              </a:rPr>
              <a:t>Le bendskin va me bring au kwatt, je ne veux pas waka jusqu’à la piol.</a:t>
            </a:r>
            <a:endParaRPr lang="en-US" sz="1200" dirty="0"/>
          </a:p>
        </p:txBody>
      </p:sp>
      <p:sp>
        <p:nvSpPr>
          <p:cNvPr id="15" name="Text 11"/>
          <p:cNvSpPr txBox="1"/>
          <p:nvPr/>
        </p:nvSpPr>
        <p:spPr>
          <a:xfrm>
            <a:off x="4297680" y="4343400"/>
            <a:ext cx="4389120" cy="274320"/>
          </a:xfrm>
          <a:prstGeom prst="rect">
            <a:avLst/>
          </a:prstGeom>
          <a:noFill/>
          <a:ln/>
        </p:spPr>
        <p:txBody>
          <a:bodyPr wrap="square" lIns="0" tIns="0" rIns="0" bIns="0" rtlCol="0" anchor="t"/>
          <a:lstStyle/>
          <a:p>
            <a:pPr indent="0" marL="0">
              <a:buNone/>
            </a:pPr>
            <a:r>
              <a:rPr lang="en-US" sz="1100" i="1" dirty="0">
                <a:solidFill>
                  <a:srgbClr val="5F6F68"/>
                </a:solidFill>
                <a:latin typeface="Calibri" pitchFamily="34" charset="0"/>
                <a:ea typeface="Calibri" pitchFamily="34" charset="-122"/>
                <a:cs typeface="Calibri" pitchFamily="34" charset="-120"/>
              </a:rPr>
              <a:t>Nothing was dropped for failing to parse.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The two rejections are the grammar’s boundary</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19</a:t>
            </a:r>
            <a:endParaRPr lang="en-US" sz="900" dirty="0"/>
          </a:p>
        </p:txBody>
      </p:sp>
      <p:sp>
        <p:nvSpPr>
          <p:cNvPr id="6" name="Shape 3"/>
          <p:cNvSpPr/>
          <p:nvPr/>
        </p:nvSpPr>
        <p:spPr>
          <a:xfrm>
            <a:off x="457200" y="1143000"/>
            <a:ext cx="4023360" cy="2514600"/>
          </a:xfrm>
          <a:prstGeom prst="roundRect">
            <a:avLst>
              <a:gd name="adj" fmla="val 2909"/>
            </a:avLst>
          </a:prstGeom>
          <a:solidFill>
            <a:srgbClr val="EEF3F0"/>
          </a:solidFill>
          <a:ln w="12700">
            <a:solidFill>
              <a:srgbClr val="EEF3F0"/>
            </a:solidFill>
            <a:prstDash val="solid"/>
          </a:ln>
        </p:spPr>
      </p:sp>
      <p:sp>
        <p:nvSpPr>
          <p:cNvPr id="7" name="Shape 4"/>
          <p:cNvSpPr/>
          <p:nvPr/>
        </p:nvSpPr>
        <p:spPr>
          <a:xfrm>
            <a:off x="640080" y="1280160"/>
            <a:ext cx="384048" cy="384048"/>
          </a:xfrm>
          <a:prstGeom prst="ellipse">
            <a:avLst/>
          </a:prstGeom>
          <a:solidFill>
            <a:srgbClr val="B23A3A"/>
          </a:solidFill>
          <a:ln w="12700">
            <a:solidFill>
              <a:srgbClr val="B23A3A"/>
            </a:solidFill>
            <a:prstDash val="solid"/>
          </a:ln>
        </p:spPr>
      </p:sp>
      <p:sp>
        <p:nvSpPr>
          <p:cNvPr id="8" name="Text 5"/>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143000" y="1280160"/>
            <a:ext cx="3200400" cy="384048"/>
          </a:xfrm>
          <a:prstGeom prst="rect">
            <a:avLst/>
          </a:prstGeom>
          <a:noFill/>
          <a:ln/>
        </p:spPr>
        <p:txBody>
          <a:bodyPr wrap="square" lIns="0" tIns="0" rIns="0" bIns="0" rtlCol="0" anchor="ctr"/>
          <a:lstStyle/>
          <a:p>
            <a:pPr indent="0" marL="0">
              <a:buNone/>
            </a:pPr>
            <a:r>
              <a:rPr lang="en-US" sz="1500" b="1" dirty="0">
                <a:solidFill>
                  <a:srgbClr val="0F3D2E"/>
                </a:solidFill>
                <a:latin typeface="Calibri" pitchFamily="34" charset="0"/>
                <a:ea typeface="Calibri" pitchFamily="34" charset="-122"/>
                <a:cs typeface="Calibri" pitchFamily="34" charset="-120"/>
              </a:rPr>
              <a:t>Adverb after the object</a:t>
            </a:r>
            <a:endParaRPr lang="en-US" sz="1500" dirty="0"/>
          </a:p>
        </p:txBody>
      </p:sp>
      <p:sp>
        <p:nvSpPr>
          <p:cNvPr id="10" name="Text 7"/>
          <p:cNvSpPr txBox="1"/>
          <p:nvPr/>
        </p:nvSpPr>
        <p:spPr>
          <a:xfrm>
            <a:off x="640080" y="1828800"/>
            <a:ext cx="3657600" cy="1280160"/>
          </a:xfrm>
          <a:prstGeom prst="rect">
            <a:avLst/>
          </a:prstGeom>
          <a:noFill/>
          <a:ln/>
        </p:spPr>
        <p:txBody>
          <a:bodyPr wrap="square" lIns="0" tIns="0" rIns="0" bIns="0" rtlCol="0" anchor="t"/>
          <a:lstStyle/>
          <a:p>
            <a:pPr indent="0" marL="0">
              <a:buNone/>
            </a:pPr>
            <a:r>
              <a:rPr lang="en-US" sz="1150" dirty="0">
                <a:solidFill>
                  <a:srgbClr val="1F2A26"/>
                </a:solidFill>
                <a:latin typeface="Calibri" pitchFamily="34" charset="0"/>
                <a:ea typeface="Calibri" pitchFamily="34" charset="-122"/>
                <a:cs typeface="Calibri" pitchFamily="34" charset="-120"/>
              </a:rPr>
              <a:t>The grammar places adverbs before the verb group or inside it. No production admits an adverb after a completed object noun phrase, so the parser reaches Comps with an ADV lookahead, finds an empty cell, and reports the expected set:</a:t>
            </a:r>
            <a:endParaRPr lang="en-US" sz="1150" dirty="0"/>
          </a:p>
        </p:txBody>
      </p:sp>
      <p:sp>
        <p:nvSpPr>
          <p:cNvPr id="11" name="Text 8"/>
          <p:cNvSpPr txBox="1"/>
          <p:nvPr/>
        </p:nvSpPr>
        <p:spPr>
          <a:xfrm>
            <a:off x="640080" y="3200400"/>
            <a:ext cx="3657600" cy="320040"/>
          </a:xfrm>
          <a:prstGeom prst="rect">
            <a:avLst/>
          </a:prstGeom>
          <a:noFill/>
          <a:ln/>
        </p:spPr>
        <p:txBody>
          <a:bodyPr wrap="square" lIns="0" tIns="0" rIns="0" bIns="0" rtlCol="0" anchor="t"/>
          <a:lstStyle/>
          <a:p>
            <a:pPr indent="0" marL="0">
              <a:buNone/>
            </a:pPr>
            <a:r>
              <a:rPr lang="en-US" sz="1150" b="1" dirty="0">
                <a:solidFill>
                  <a:srgbClr val="B23A3A"/>
                </a:solidFill>
                <a:latin typeface="Courier New" pitchFamily="34" charset="0"/>
                <a:ea typeface="Courier New" pitchFamily="34" charset="-122"/>
                <a:cs typeface="Courier New" pitchFamily="34" charset="-120"/>
              </a:rPr>
              <a:t>{NOUN, DET, PRON, PREP, ADJ}</a:t>
            </a:r>
            <a:endParaRPr lang="en-US" sz="1150" dirty="0"/>
          </a:p>
        </p:txBody>
      </p:sp>
      <p:sp>
        <p:nvSpPr>
          <p:cNvPr id="12" name="Shape 9"/>
          <p:cNvSpPr/>
          <p:nvPr/>
        </p:nvSpPr>
        <p:spPr>
          <a:xfrm>
            <a:off x="4663440" y="1143000"/>
            <a:ext cx="4023360" cy="2514600"/>
          </a:xfrm>
          <a:prstGeom prst="roundRect">
            <a:avLst>
              <a:gd name="adj" fmla="val 2909"/>
            </a:avLst>
          </a:prstGeom>
          <a:solidFill>
            <a:srgbClr val="EEF3F0"/>
          </a:solidFill>
          <a:ln w="12700">
            <a:solidFill>
              <a:srgbClr val="EEF3F0"/>
            </a:solidFill>
            <a:prstDash val="solid"/>
          </a:ln>
        </p:spPr>
      </p:sp>
      <p:sp>
        <p:nvSpPr>
          <p:cNvPr id="13" name="Shape 10"/>
          <p:cNvSpPr/>
          <p:nvPr/>
        </p:nvSpPr>
        <p:spPr>
          <a:xfrm>
            <a:off x="4846320" y="1280160"/>
            <a:ext cx="384048" cy="384048"/>
          </a:xfrm>
          <a:prstGeom prst="ellipse">
            <a:avLst/>
          </a:prstGeom>
          <a:solidFill>
            <a:srgbClr val="B23A3A"/>
          </a:solidFill>
          <a:ln w="12700">
            <a:solidFill>
              <a:srgbClr val="B23A3A"/>
            </a:solidFill>
            <a:prstDash val="solid"/>
          </a:ln>
        </p:spPr>
      </p:sp>
      <p:sp>
        <p:nvSpPr>
          <p:cNvPr id="14" name="Text 11"/>
          <p:cNvSpPr txBox="1"/>
          <p:nvPr/>
        </p:nvSpPr>
        <p:spPr>
          <a:xfrm>
            <a:off x="484632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5349240" y="1280160"/>
            <a:ext cx="3200400" cy="384048"/>
          </a:xfrm>
          <a:prstGeom prst="rect">
            <a:avLst/>
          </a:prstGeom>
          <a:noFill/>
          <a:ln/>
        </p:spPr>
        <p:txBody>
          <a:bodyPr wrap="square" lIns="0" tIns="0" rIns="0" bIns="0" rtlCol="0" anchor="ctr"/>
          <a:lstStyle/>
          <a:p>
            <a:pPr indent="0" marL="0">
              <a:buNone/>
            </a:pPr>
            <a:r>
              <a:rPr lang="en-US" sz="1500" b="1" dirty="0">
                <a:solidFill>
                  <a:srgbClr val="0F3D2E"/>
                </a:solidFill>
                <a:latin typeface="Calibri" pitchFamily="34" charset="0"/>
                <a:ea typeface="Calibri" pitchFamily="34" charset="-122"/>
                <a:cs typeface="Calibri" pitchFamily="34" charset="-120"/>
              </a:rPr>
              <a:t>Post-verbal clitic pronoun</a:t>
            </a:r>
            <a:endParaRPr lang="en-US" sz="1500" dirty="0"/>
          </a:p>
        </p:txBody>
      </p:sp>
      <p:sp>
        <p:nvSpPr>
          <p:cNvPr id="16" name="Text 13"/>
          <p:cNvSpPr txBox="1"/>
          <p:nvPr/>
        </p:nvSpPr>
        <p:spPr>
          <a:xfrm>
            <a:off x="4846320" y="1828800"/>
            <a:ext cx="3657600" cy="1280160"/>
          </a:xfrm>
          <a:prstGeom prst="rect">
            <a:avLst/>
          </a:prstGeom>
          <a:noFill/>
          <a:ln/>
        </p:spPr>
        <p:txBody>
          <a:bodyPr wrap="square" lIns="0" tIns="0" rIns="0" bIns="0" rtlCol="0" anchor="t"/>
          <a:lstStyle/>
          <a:p>
            <a:pPr indent="0" marL="0">
              <a:buNone/>
            </a:pPr>
            <a:r>
              <a:rPr lang="en-US" sz="1150" dirty="0">
                <a:solidFill>
                  <a:srgbClr val="1F2A26"/>
                </a:solidFill>
                <a:latin typeface="Calibri" pitchFamily="34" charset="0"/>
                <a:ea typeface="Calibri" pitchFamily="34" charset="-122"/>
                <a:cs typeface="Calibri" pitchFamily="34" charset="-120"/>
              </a:rPr>
              <a:t>A clitic after the verb must be told apart from a full pronominal NP, but both are PRON. Adding a post-verbal PRON alternative to Comps would collide with Comps → NP Comps, since PRON ∈ FIRST(NP):</a:t>
            </a:r>
            <a:endParaRPr lang="en-US" sz="1150" dirty="0"/>
          </a:p>
        </p:txBody>
      </p:sp>
      <p:sp>
        <p:nvSpPr>
          <p:cNvPr id="17" name="Text 14"/>
          <p:cNvSpPr txBox="1"/>
          <p:nvPr/>
        </p:nvSpPr>
        <p:spPr>
          <a:xfrm>
            <a:off x="4846320" y="3200400"/>
            <a:ext cx="3657600" cy="320040"/>
          </a:xfrm>
          <a:prstGeom prst="rect">
            <a:avLst/>
          </a:prstGeom>
          <a:noFill/>
          <a:ln/>
        </p:spPr>
        <p:txBody>
          <a:bodyPr wrap="square" lIns="0" tIns="0" rIns="0" bIns="0" rtlCol="0" anchor="t"/>
          <a:lstStyle/>
          <a:p>
            <a:pPr indent="0" marL="0">
              <a:buNone/>
            </a:pPr>
            <a:r>
              <a:rPr lang="en-US" sz="1150" b="1" dirty="0">
                <a:solidFill>
                  <a:srgbClr val="B23A3A"/>
                </a:solidFill>
                <a:latin typeface="Courier New" pitchFamily="34" charset="0"/>
                <a:ea typeface="Courier New" pitchFamily="34" charset="-122"/>
                <a:cs typeface="Courier New" pitchFamily="34" charset="-120"/>
              </a:rPr>
              <a:t>an LL(1) conflict</a:t>
            </a:r>
            <a:endParaRPr lang="en-US" sz="1150" dirty="0"/>
          </a:p>
        </p:txBody>
      </p:sp>
      <p:sp>
        <p:nvSpPr>
          <p:cNvPr id="18" name="Shape 15"/>
          <p:cNvSpPr/>
          <p:nvPr/>
        </p:nvSpPr>
        <p:spPr>
          <a:xfrm>
            <a:off x="457200" y="3886200"/>
            <a:ext cx="8229600" cy="731520"/>
          </a:xfrm>
          <a:prstGeom prst="roundRect">
            <a:avLst>
              <a:gd name="adj" fmla="val 10000"/>
            </a:avLst>
          </a:prstGeom>
          <a:solidFill>
            <a:srgbClr val="0F3D2E"/>
          </a:solidFill>
          <a:ln w="12700">
            <a:solidFill>
              <a:srgbClr val="0F3D2E"/>
            </a:solidFill>
            <a:prstDash val="solid"/>
          </a:ln>
        </p:spPr>
      </p:sp>
      <p:sp>
        <p:nvSpPr>
          <p:cNvPr id="19" name="Text 16"/>
          <p:cNvSpPr txBox="1"/>
          <p:nvPr/>
        </p:nvSpPr>
        <p:spPr>
          <a:xfrm>
            <a:off x="640080" y="3886200"/>
            <a:ext cx="7863840" cy="731520"/>
          </a:xfrm>
          <a:prstGeom prst="rect">
            <a:avLst/>
          </a:prstGeom>
          <a:noFill/>
          <a:ln/>
        </p:spPr>
        <p:txBody>
          <a:bodyPr wrap="square" lIns="0" tIns="0" rIns="0" bIns="0" rtlCol="0" anchor="ctr"/>
          <a:lstStyle/>
          <a:p>
            <a:pPr indent="0" marL="0">
              <a:buNone/>
            </a:pPr>
            <a:r>
              <a:rPr lang="en-US" sz="1300" b="1" dirty="0">
                <a:solidFill>
                  <a:srgbClr val="D9B44A"/>
                </a:solidFill>
                <a:latin typeface="Calibri" pitchFamily="34" charset="0"/>
                <a:ea typeface="Calibri" pitchFamily="34" charset="-122"/>
                <a:cs typeface="Calibri" pitchFamily="34" charset="-120"/>
              </a:rPr>
              <a:t>The honest trade-off: </a:t>
            </a:r>
            <a:pPr indent="0" marL="0">
              <a:buNone/>
            </a:pPr>
            <a:r>
              <a:rPr lang="en-US" sz="1300" dirty="0">
                <a:solidFill>
                  <a:srgbClr val="FFFFFF"/>
                </a:solidFill>
                <a:latin typeface="Calibri" pitchFamily="34" charset="0"/>
                <a:ea typeface="Calibri" pitchFamily="34" charset="-122"/>
                <a:cs typeface="Calibri" pitchFamily="34" charset="-120"/>
              </a:rPr>
              <a:t>we did not widen the grammar until everything passed. A grammar that accepts every string proves nothing.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Verification: every claim is tested</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20</a:t>
            </a:r>
            <a:endParaRPr lang="en-US" sz="900" dirty="0"/>
          </a:p>
        </p:txBody>
      </p:sp>
      <p:sp>
        <p:nvSpPr>
          <p:cNvPr id="6" name="Shape 3"/>
          <p:cNvSpPr/>
          <p:nvPr/>
        </p:nvSpPr>
        <p:spPr>
          <a:xfrm>
            <a:off x="457200" y="1143000"/>
            <a:ext cx="1554480" cy="1600200"/>
          </a:xfrm>
          <a:prstGeom prst="roundRect">
            <a:avLst>
              <a:gd name="adj" fmla="val 4706"/>
            </a:avLst>
          </a:prstGeom>
          <a:solidFill>
            <a:srgbClr val="EEF3F0"/>
          </a:solidFill>
          <a:ln w="12700">
            <a:solidFill>
              <a:srgbClr val="EEF3F0"/>
            </a:solidFill>
            <a:prstDash val="solid"/>
          </a:ln>
        </p:spPr>
      </p:sp>
      <p:sp>
        <p:nvSpPr>
          <p:cNvPr id="7" name="Shape 4"/>
          <p:cNvSpPr/>
          <p:nvPr/>
        </p:nvSpPr>
        <p:spPr>
          <a:xfrm>
            <a:off x="1051560" y="1234440"/>
            <a:ext cx="365760" cy="365760"/>
          </a:xfrm>
          <a:prstGeom prst="ellipse">
            <a:avLst/>
          </a:prstGeom>
          <a:solidFill>
            <a:srgbClr val="1B6B4F"/>
          </a:solidFill>
          <a:ln w="12700">
            <a:solidFill>
              <a:srgbClr val="1B6B4F"/>
            </a:solidFill>
            <a:prstDash val="solid"/>
          </a:ln>
        </p:spPr>
      </p:sp>
      <p:sp>
        <p:nvSpPr>
          <p:cNvPr id="8" name="Text 5"/>
          <p:cNvSpPr txBox="1"/>
          <p:nvPr/>
        </p:nvSpPr>
        <p:spPr>
          <a:xfrm>
            <a:off x="1051560" y="12344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6"/>
          <p:cNvSpPr txBox="1"/>
          <p:nvPr/>
        </p:nvSpPr>
        <p:spPr>
          <a:xfrm>
            <a:off x="457200" y="1664208"/>
            <a:ext cx="1554480" cy="411480"/>
          </a:xfrm>
          <a:prstGeom prst="rect">
            <a:avLst/>
          </a:prstGeom>
          <a:noFill/>
          <a:ln/>
        </p:spPr>
        <p:txBody>
          <a:bodyPr wrap="square" lIns="0" tIns="0" rIns="0" bIns="0" rtlCol="0" anchor="t"/>
          <a:lstStyle/>
          <a:p>
            <a:pPr algn="ctr" indent="0" marL="0">
              <a:buNone/>
            </a:pPr>
            <a:r>
              <a:rPr lang="en-US" sz="2200" b="1" dirty="0">
                <a:solidFill>
                  <a:srgbClr val="0F3D2E"/>
                </a:solidFill>
                <a:latin typeface="Cambria" pitchFamily="34" charset="0"/>
                <a:ea typeface="Cambria" pitchFamily="34" charset="-122"/>
                <a:cs typeface="Cambria" pitchFamily="34" charset="-120"/>
              </a:rPr>
              <a:t>158</a:t>
            </a:r>
            <a:endParaRPr lang="en-US" sz="2200" dirty="0"/>
          </a:p>
        </p:txBody>
      </p:sp>
      <p:sp>
        <p:nvSpPr>
          <p:cNvPr id="10" name="Text 7"/>
          <p:cNvSpPr txBox="1"/>
          <p:nvPr/>
        </p:nvSpPr>
        <p:spPr>
          <a:xfrm>
            <a:off x="457200" y="2103120"/>
            <a:ext cx="1554480" cy="274320"/>
          </a:xfrm>
          <a:prstGeom prst="rect">
            <a:avLst/>
          </a:prstGeom>
          <a:noFill/>
          <a:ln/>
        </p:spPr>
        <p:txBody>
          <a:bodyPr wrap="square" lIns="0" tIns="0" rIns="0" bIns="0" rtlCol="0" anchor="t"/>
          <a:lstStyle/>
          <a:p>
            <a:pPr algn="ctr" indent="0" marL="0">
              <a:buNone/>
            </a:pPr>
            <a:r>
              <a:rPr lang="en-US" sz="1100" dirty="0">
                <a:solidFill>
                  <a:srgbClr val="5F6F68"/>
                </a:solidFill>
                <a:latin typeface="Calibri" pitchFamily="34" charset="0"/>
                <a:ea typeface="Calibri" pitchFamily="34" charset="-122"/>
                <a:cs typeface="Calibri" pitchFamily="34" charset="-120"/>
              </a:rPr>
              <a:t>pytest tests</a:t>
            </a:r>
            <a:endParaRPr lang="en-US" sz="1100" dirty="0"/>
          </a:p>
        </p:txBody>
      </p:sp>
      <p:sp>
        <p:nvSpPr>
          <p:cNvPr id="11" name="Text 8"/>
          <p:cNvSpPr txBox="1"/>
          <p:nvPr/>
        </p:nvSpPr>
        <p:spPr>
          <a:xfrm>
            <a:off x="457200" y="2377440"/>
            <a:ext cx="1554480" cy="274320"/>
          </a:xfrm>
          <a:prstGeom prst="rect">
            <a:avLst/>
          </a:prstGeom>
          <a:noFill/>
          <a:ln/>
        </p:spPr>
        <p:txBody>
          <a:bodyPr wrap="square" lIns="0" tIns="0" rIns="0" bIns="0" rtlCol="0" anchor="t"/>
          <a:lstStyle/>
          <a:p>
            <a:pPr algn="ctr" indent="0" marL="0">
              <a:buNone/>
            </a:pPr>
            <a:r>
              <a:rPr lang="en-US" sz="1150" b="1" dirty="0">
                <a:solidFill>
                  <a:srgbClr val="1B6B4F"/>
                </a:solidFill>
                <a:latin typeface="Calibri" pitchFamily="34" charset="0"/>
                <a:ea typeface="Calibri" pitchFamily="34" charset="-122"/>
                <a:cs typeface="Calibri" pitchFamily="34" charset="-120"/>
              </a:rPr>
              <a:t>pass</a:t>
            </a:r>
            <a:endParaRPr lang="en-US" sz="1150" dirty="0"/>
          </a:p>
        </p:txBody>
      </p:sp>
      <p:sp>
        <p:nvSpPr>
          <p:cNvPr id="12" name="Shape 9"/>
          <p:cNvSpPr/>
          <p:nvPr/>
        </p:nvSpPr>
        <p:spPr>
          <a:xfrm>
            <a:off x="2125980" y="1143000"/>
            <a:ext cx="1554480" cy="1600200"/>
          </a:xfrm>
          <a:prstGeom prst="roundRect">
            <a:avLst>
              <a:gd name="adj" fmla="val 4706"/>
            </a:avLst>
          </a:prstGeom>
          <a:solidFill>
            <a:srgbClr val="EEF3F0"/>
          </a:solidFill>
          <a:ln w="12700">
            <a:solidFill>
              <a:srgbClr val="EEF3F0"/>
            </a:solidFill>
            <a:prstDash val="solid"/>
          </a:ln>
        </p:spPr>
      </p:sp>
      <p:sp>
        <p:nvSpPr>
          <p:cNvPr id="13" name="Shape 10"/>
          <p:cNvSpPr/>
          <p:nvPr/>
        </p:nvSpPr>
        <p:spPr>
          <a:xfrm>
            <a:off x="2720340" y="1234440"/>
            <a:ext cx="365760" cy="365760"/>
          </a:xfrm>
          <a:prstGeom prst="ellipse">
            <a:avLst/>
          </a:prstGeom>
          <a:solidFill>
            <a:srgbClr val="1B6B4F"/>
          </a:solidFill>
          <a:ln w="12700">
            <a:solidFill>
              <a:srgbClr val="1B6B4F"/>
            </a:solidFill>
            <a:prstDash val="solid"/>
          </a:ln>
        </p:spPr>
      </p:sp>
      <p:sp>
        <p:nvSpPr>
          <p:cNvPr id="14" name="Text 11"/>
          <p:cNvSpPr txBox="1"/>
          <p:nvPr/>
        </p:nvSpPr>
        <p:spPr>
          <a:xfrm>
            <a:off x="2720340" y="12344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5" name="Text 12"/>
          <p:cNvSpPr txBox="1"/>
          <p:nvPr/>
        </p:nvSpPr>
        <p:spPr>
          <a:xfrm>
            <a:off x="2125980" y="1664208"/>
            <a:ext cx="1554480" cy="411480"/>
          </a:xfrm>
          <a:prstGeom prst="rect">
            <a:avLst/>
          </a:prstGeom>
          <a:noFill/>
          <a:ln/>
        </p:spPr>
        <p:txBody>
          <a:bodyPr wrap="square" lIns="0" tIns="0" rIns="0" bIns="0" rtlCol="0" anchor="t"/>
          <a:lstStyle/>
          <a:p>
            <a:pPr algn="ctr" indent="0" marL="0">
              <a:buNone/>
            </a:pPr>
            <a:r>
              <a:rPr lang="en-US" sz="2200" b="1" dirty="0">
                <a:solidFill>
                  <a:srgbClr val="0F3D2E"/>
                </a:solidFill>
                <a:latin typeface="Cambria" pitchFamily="34" charset="0"/>
                <a:ea typeface="Cambria" pitchFamily="34" charset="-122"/>
                <a:cs typeface="Cambria" pitchFamily="34" charset="-120"/>
              </a:rPr>
              <a:t>ruff</a:t>
            </a:r>
            <a:endParaRPr lang="en-US" sz="2200" dirty="0"/>
          </a:p>
        </p:txBody>
      </p:sp>
      <p:sp>
        <p:nvSpPr>
          <p:cNvPr id="16" name="Text 13"/>
          <p:cNvSpPr txBox="1"/>
          <p:nvPr/>
        </p:nvSpPr>
        <p:spPr>
          <a:xfrm>
            <a:off x="2125980" y="2103120"/>
            <a:ext cx="1554480" cy="274320"/>
          </a:xfrm>
          <a:prstGeom prst="rect">
            <a:avLst/>
          </a:prstGeom>
          <a:noFill/>
          <a:ln/>
        </p:spPr>
        <p:txBody>
          <a:bodyPr wrap="square" lIns="0" tIns="0" rIns="0" bIns="0" rtlCol="0" anchor="t"/>
          <a:lstStyle/>
          <a:p>
            <a:pPr algn="ctr" indent="0" marL="0">
              <a:buNone/>
            </a:pPr>
            <a:r>
              <a:rPr lang="en-US" sz="1100" dirty="0">
                <a:solidFill>
                  <a:srgbClr val="5F6F68"/>
                </a:solidFill>
                <a:latin typeface="Calibri" pitchFamily="34" charset="0"/>
                <a:ea typeface="Calibri" pitchFamily="34" charset="-122"/>
                <a:cs typeface="Calibri" pitchFamily="34" charset="-120"/>
              </a:rPr>
              <a:t>full tree</a:t>
            </a:r>
            <a:endParaRPr lang="en-US" sz="1100" dirty="0"/>
          </a:p>
        </p:txBody>
      </p:sp>
      <p:sp>
        <p:nvSpPr>
          <p:cNvPr id="17" name="Text 14"/>
          <p:cNvSpPr txBox="1"/>
          <p:nvPr/>
        </p:nvSpPr>
        <p:spPr>
          <a:xfrm>
            <a:off x="2125980" y="2377440"/>
            <a:ext cx="1554480" cy="274320"/>
          </a:xfrm>
          <a:prstGeom prst="rect">
            <a:avLst/>
          </a:prstGeom>
          <a:noFill/>
          <a:ln/>
        </p:spPr>
        <p:txBody>
          <a:bodyPr wrap="square" lIns="0" tIns="0" rIns="0" bIns="0" rtlCol="0" anchor="t"/>
          <a:lstStyle/>
          <a:p>
            <a:pPr algn="ctr" indent="0" marL="0">
              <a:buNone/>
            </a:pPr>
            <a:r>
              <a:rPr lang="en-US" sz="1150" b="1" dirty="0">
                <a:solidFill>
                  <a:srgbClr val="1B6B4F"/>
                </a:solidFill>
                <a:latin typeface="Calibri" pitchFamily="34" charset="0"/>
                <a:ea typeface="Calibri" pitchFamily="34" charset="-122"/>
                <a:cs typeface="Calibri" pitchFamily="34" charset="-120"/>
              </a:rPr>
              <a:t>clean</a:t>
            </a:r>
            <a:endParaRPr lang="en-US" sz="1150" dirty="0"/>
          </a:p>
        </p:txBody>
      </p:sp>
      <p:sp>
        <p:nvSpPr>
          <p:cNvPr id="18" name="Shape 15"/>
          <p:cNvSpPr/>
          <p:nvPr/>
        </p:nvSpPr>
        <p:spPr>
          <a:xfrm>
            <a:off x="3794760" y="1143000"/>
            <a:ext cx="1554480" cy="1600200"/>
          </a:xfrm>
          <a:prstGeom prst="roundRect">
            <a:avLst>
              <a:gd name="adj" fmla="val 4706"/>
            </a:avLst>
          </a:prstGeom>
          <a:solidFill>
            <a:srgbClr val="EEF3F0"/>
          </a:solidFill>
          <a:ln w="12700">
            <a:solidFill>
              <a:srgbClr val="EEF3F0"/>
            </a:solidFill>
            <a:prstDash val="solid"/>
          </a:ln>
        </p:spPr>
      </p:sp>
      <p:sp>
        <p:nvSpPr>
          <p:cNvPr id="19" name="Shape 16"/>
          <p:cNvSpPr/>
          <p:nvPr/>
        </p:nvSpPr>
        <p:spPr>
          <a:xfrm>
            <a:off x="4389120" y="1234440"/>
            <a:ext cx="365760" cy="365760"/>
          </a:xfrm>
          <a:prstGeom prst="ellipse">
            <a:avLst/>
          </a:prstGeom>
          <a:solidFill>
            <a:srgbClr val="1B6B4F"/>
          </a:solidFill>
          <a:ln w="12700">
            <a:solidFill>
              <a:srgbClr val="1B6B4F"/>
            </a:solidFill>
            <a:prstDash val="solid"/>
          </a:ln>
        </p:spPr>
      </p:sp>
      <p:sp>
        <p:nvSpPr>
          <p:cNvPr id="20" name="Text 17"/>
          <p:cNvSpPr txBox="1"/>
          <p:nvPr/>
        </p:nvSpPr>
        <p:spPr>
          <a:xfrm>
            <a:off x="4389120" y="12344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1" name="Text 18"/>
          <p:cNvSpPr txBox="1"/>
          <p:nvPr/>
        </p:nvSpPr>
        <p:spPr>
          <a:xfrm>
            <a:off x="3794760" y="1664208"/>
            <a:ext cx="1554480" cy="411480"/>
          </a:xfrm>
          <a:prstGeom prst="rect">
            <a:avLst/>
          </a:prstGeom>
          <a:noFill/>
          <a:ln/>
        </p:spPr>
        <p:txBody>
          <a:bodyPr wrap="square" lIns="0" tIns="0" rIns="0" bIns="0" rtlCol="0" anchor="t"/>
          <a:lstStyle/>
          <a:p>
            <a:pPr algn="ctr" indent="0" marL="0">
              <a:buNone/>
            </a:pPr>
            <a:r>
              <a:rPr lang="en-US" sz="2200" b="1" dirty="0">
                <a:solidFill>
                  <a:srgbClr val="0F3D2E"/>
                </a:solidFill>
                <a:latin typeface="Cambria" pitchFamily="34" charset="0"/>
                <a:ea typeface="Cambria" pitchFamily="34" charset="-122"/>
                <a:cs typeface="Cambria" pitchFamily="34" charset="-120"/>
              </a:rPr>
              <a:t>strict</a:t>
            </a:r>
            <a:endParaRPr lang="en-US" sz="2200" dirty="0"/>
          </a:p>
        </p:txBody>
      </p:sp>
      <p:sp>
        <p:nvSpPr>
          <p:cNvPr id="22" name="Text 19"/>
          <p:cNvSpPr txBox="1"/>
          <p:nvPr/>
        </p:nvSpPr>
        <p:spPr>
          <a:xfrm>
            <a:off x="3794760" y="2103120"/>
            <a:ext cx="1554480" cy="274320"/>
          </a:xfrm>
          <a:prstGeom prst="rect">
            <a:avLst/>
          </a:prstGeom>
          <a:noFill/>
          <a:ln/>
        </p:spPr>
        <p:txBody>
          <a:bodyPr wrap="square" lIns="0" tIns="0" rIns="0" bIns="0" rtlCol="0" anchor="t"/>
          <a:lstStyle/>
          <a:p>
            <a:pPr algn="ctr" indent="0" marL="0">
              <a:buNone/>
            </a:pPr>
            <a:r>
              <a:rPr lang="en-US" sz="1100" dirty="0">
                <a:solidFill>
                  <a:srgbClr val="5F6F68"/>
                </a:solidFill>
                <a:latin typeface="Calibri" pitchFamily="34" charset="0"/>
                <a:ea typeface="Calibri" pitchFamily="34" charset="-122"/>
                <a:cs typeface="Calibri" pitchFamily="34" charset="-120"/>
              </a:rPr>
              <a:t>pyright</a:t>
            </a:r>
            <a:endParaRPr lang="en-US" sz="1100" dirty="0"/>
          </a:p>
        </p:txBody>
      </p:sp>
      <p:sp>
        <p:nvSpPr>
          <p:cNvPr id="23" name="Text 20"/>
          <p:cNvSpPr txBox="1"/>
          <p:nvPr/>
        </p:nvSpPr>
        <p:spPr>
          <a:xfrm>
            <a:off x="3794760" y="2377440"/>
            <a:ext cx="1554480" cy="274320"/>
          </a:xfrm>
          <a:prstGeom prst="rect">
            <a:avLst/>
          </a:prstGeom>
          <a:noFill/>
          <a:ln/>
        </p:spPr>
        <p:txBody>
          <a:bodyPr wrap="square" lIns="0" tIns="0" rIns="0" bIns="0" rtlCol="0" anchor="t"/>
          <a:lstStyle/>
          <a:p>
            <a:pPr algn="ctr" indent="0" marL="0">
              <a:buNone/>
            </a:pPr>
            <a:r>
              <a:rPr lang="en-US" sz="1150" b="1" dirty="0">
                <a:solidFill>
                  <a:srgbClr val="1B6B4F"/>
                </a:solidFill>
                <a:latin typeface="Calibri" pitchFamily="34" charset="0"/>
                <a:ea typeface="Calibri" pitchFamily="34" charset="-122"/>
                <a:cs typeface="Calibri" pitchFamily="34" charset="-120"/>
              </a:rPr>
              <a:t>0 errors</a:t>
            </a:r>
            <a:endParaRPr lang="en-US" sz="1150" dirty="0"/>
          </a:p>
        </p:txBody>
      </p:sp>
      <p:sp>
        <p:nvSpPr>
          <p:cNvPr id="24" name="Shape 21"/>
          <p:cNvSpPr/>
          <p:nvPr/>
        </p:nvSpPr>
        <p:spPr>
          <a:xfrm>
            <a:off x="5463540" y="1143000"/>
            <a:ext cx="1554480" cy="1600200"/>
          </a:xfrm>
          <a:prstGeom prst="roundRect">
            <a:avLst>
              <a:gd name="adj" fmla="val 4706"/>
            </a:avLst>
          </a:prstGeom>
          <a:solidFill>
            <a:srgbClr val="EEF3F0"/>
          </a:solidFill>
          <a:ln w="12700">
            <a:solidFill>
              <a:srgbClr val="EEF3F0"/>
            </a:solidFill>
            <a:prstDash val="solid"/>
          </a:ln>
        </p:spPr>
      </p:sp>
      <p:sp>
        <p:nvSpPr>
          <p:cNvPr id="25" name="Shape 22"/>
          <p:cNvSpPr/>
          <p:nvPr/>
        </p:nvSpPr>
        <p:spPr>
          <a:xfrm>
            <a:off x="6057900" y="1234440"/>
            <a:ext cx="365760" cy="365760"/>
          </a:xfrm>
          <a:prstGeom prst="ellipse">
            <a:avLst/>
          </a:prstGeom>
          <a:solidFill>
            <a:srgbClr val="1B6B4F"/>
          </a:solidFill>
          <a:ln w="12700">
            <a:solidFill>
              <a:srgbClr val="1B6B4F"/>
            </a:solidFill>
            <a:prstDash val="solid"/>
          </a:ln>
        </p:spPr>
      </p:sp>
      <p:sp>
        <p:nvSpPr>
          <p:cNvPr id="26" name="Text 23"/>
          <p:cNvSpPr txBox="1"/>
          <p:nvPr/>
        </p:nvSpPr>
        <p:spPr>
          <a:xfrm>
            <a:off x="6057900" y="12344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7" name="Text 24"/>
          <p:cNvSpPr txBox="1"/>
          <p:nvPr/>
        </p:nvSpPr>
        <p:spPr>
          <a:xfrm>
            <a:off x="5463540" y="1664208"/>
            <a:ext cx="1554480" cy="411480"/>
          </a:xfrm>
          <a:prstGeom prst="rect">
            <a:avLst/>
          </a:prstGeom>
          <a:noFill/>
          <a:ln/>
        </p:spPr>
        <p:txBody>
          <a:bodyPr wrap="square" lIns="0" tIns="0" rIns="0" bIns="0" rtlCol="0" anchor="t"/>
          <a:lstStyle/>
          <a:p>
            <a:pPr algn="ctr" indent="0" marL="0">
              <a:buNone/>
            </a:pPr>
            <a:r>
              <a:rPr lang="en-US" sz="2200" b="1" dirty="0">
                <a:solidFill>
                  <a:srgbClr val="0F3D2E"/>
                </a:solidFill>
                <a:latin typeface="Cambria" pitchFamily="34" charset="0"/>
                <a:ea typeface="Cambria" pitchFamily="34" charset="-122"/>
                <a:cs typeface="Cambria" pitchFamily="34" charset="-120"/>
              </a:rPr>
              <a:t>84</a:t>
            </a:r>
            <a:endParaRPr lang="en-US" sz="2200" dirty="0"/>
          </a:p>
        </p:txBody>
      </p:sp>
      <p:sp>
        <p:nvSpPr>
          <p:cNvPr id="28" name="Text 25"/>
          <p:cNvSpPr txBox="1"/>
          <p:nvPr/>
        </p:nvSpPr>
        <p:spPr>
          <a:xfrm>
            <a:off x="5463540" y="2103120"/>
            <a:ext cx="1554480" cy="274320"/>
          </a:xfrm>
          <a:prstGeom prst="rect">
            <a:avLst/>
          </a:prstGeom>
          <a:noFill/>
          <a:ln/>
        </p:spPr>
        <p:txBody>
          <a:bodyPr wrap="square" lIns="0" tIns="0" rIns="0" bIns="0" rtlCol="0" anchor="t"/>
          <a:lstStyle/>
          <a:p>
            <a:pPr algn="ctr" indent="0" marL="0">
              <a:buNone/>
            </a:pPr>
            <a:r>
              <a:rPr lang="en-US" sz="1100" dirty="0">
                <a:solidFill>
                  <a:srgbClr val="5F6F68"/>
                </a:solidFill>
                <a:latin typeface="Calibri" pitchFamily="34" charset="0"/>
                <a:ea typeface="Calibri" pitchFamily="34" charset="-122"/>
                <a:cs typeface="Calibri" pitchFamily="34" charset="-120"/>
              </a:rPr>
              <a:t>Playwright e2e</a:t>
            </a:r>
            <a:endParaRPr lang="en-US" sz="1100" dirty="0"/>
          </a:p>
        </p:txBody>
      </p:sp>
      <p:sp>
        <p:nvSpPr>
          <p:cNvPr id="29" name="Text 26"/>
          <p:cNvSpPr txBox="1"/>
          <p:nvPr/>
        </p:nvSpPr>
        <p:spPr>
          <a:xfrm>
            <a:off x="5463540" y="2377440"/>
            <a:ext cx="1554480" cy="274320"/>
          </a:xfrm>
          <a:prstGeom prst="rect">
            <a:avLst/>
          </a:prstGeom>
          <a:noFill/>
          <a:ln/>
        </p:spPr>
        <p:txBody>
          <a:bodyPr wrap="square" lIns="0" tIns="0" rIns="0" bIns="0" rtlCol="0" anchor="t"/>
          <a:lstStyle/>
          <a:p>
            <a:pPr algn="ctr" indent="0" marL="0">
              <a:buNone/>
            </a:pPr>
            <a:r>
              <a:rPr lang="en-US" sz="1150" b="1" dirty="0">
                <a:solidFill>
                  <a:srgbClr val="1B6B4F"/>
                </a:solidFill>
                <a:latin typeface="Calibri" pitchFamily="34" charset="0"/>
                <a:ea typeface="Calibri" pitchFamily="34" charset="-122"/>
                <a:cs typeface="Calibri" pitchFamily="34" charset="-120"/>
              </a:rPr>
              <a:t>pass</a:t>
            </a:r>
            <a:endParaRPr lang="en-US" sz="1150" dirty="0"/>
          </a:p>
        </p:txBody>
      </p:sp>
      <p:sp>
        <p:nvSpPr>
          <p:cNvPr id="30" name="Shape 27"/>
          <p:cNvSpPr/>
          <p:nvPr/>
        </p:nvSpPr>
        <p:spPr>
          <a:xfrm>
            <a:off x="7132320" y="1143000"/>
            <a:ext cx="1554480" cy="1600200"/>
          </a:xfrm>
          <a:prstGeom prst="roundRect">
            <a:avLst>
              <a:gd name="adj" fmla="val 4706"/>
            </a:avLst>
          </a:prstGeom>
          <a:solidFill>
            <a:srgbClr val="EEF3F0"/>
          </a:solidFill>
          <a:ln w="12700">
            <a:solidFill>
              <a:srgbClr val="EEF3F0"/>
            </a:solidFill>
            <a:prstDash val="solid"/>
          </a:ln>
        </p:spPr>
      </p:sp>
      <p:sp>
        <p:nvSpPr>
          <p:cNvPr id="31" name="Shape 28"/>
          <p:cNvSpPr/>
          <p:nvPr/>
        </p:nvSpPr>
        <p:spPr>
          <a:xfrm>
            <a:off x="7726680" y="1234440"/>
            <a:ext cx="365760" cy="365760"/>
          </a:xfrm>
          <a:prstGeom prst="ellipse">
            <a:avLst/>
          </a:prstGeom>
          <a:solidFill>
            <a:srgbClr val="1B6B4F"/>
          </a:solidFill>
          <a:ln w="12700">
            <a:solidFill>
              <a:srgbClr val="1B6B4F"/>
            </a:solidFill>
            <a:prstDash val="solid"/>
          </a:ln>
        </p:spPr>
      </p:sp>
      <p:sp>
        <p:nvSpPr>
          <p:cNvPr id="32" name="Text 29"/>
          <p:cNvSpPr txBox="1"/>
          <p:nvPr/>
        </p:nvSpPr>
        <p:spPr>
          <a:xfrm>
            <a:off x="7726680" y="12344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3" name="Text 30"/>
          <p:cNvSpPr txBox="1"/>
          <p:nvPr/>
        </p:nvSpPr>
        <p:spPr>
          <a:xfrm>
            <a:off x="7132320" y="1664208"/>
            <a:ext cx="1554480" cy="411480"/>
          </a:xfrm>
          <a:prstGeom prst="rect">
            <a:avLst/>
          </a:prstGeom>
          <a:noFill/>
          <a:ln/>
        </p:spPr>
        <p:txBody>
          <a:bodyPr wrap="square" lIns="0" tIns="0" rIns="0" bIns="0" rtlCol="0" anchor="t"/>
          <a:lstStyle/>
          <a:p>
            <a:pPr algn="ctr" indent="0" marL="0">
              <a:buNone/>
            </a:pPr>
            <a:r>
              <a:rPr lang="en-US" sz="2200" b="1" dirty="0">
                <a:solidFill>
                  <a:srgbClr val="0F3D2E"/>
                </a:solidFill>
                <a:latin typeface="Cambria" pitchFamily="34" charset="0"/>
                <a:ea typeface="Cambria" pitchFamily="34" charset="-122"/>
                <a:cs typeface="Cambria" pitchFamily="34" charset="-120"/>
              </a:rPr>
              <a:t>build</a:t>
            </a:r>
            <a:endParaRPr lang="en-US" sz="2200" dirty="0"/>
          </a:p>
        </p:txBody>
      </p:sp>
      <p:sp>
        <p:nvSpPr>
          <p:cNvPr id="34" name="Text 31"/>
          <p:cNvSpPr txBox="1"/>
          <p:nvPr/>
        </p:nvSpPr>
        <p:spPr>
          <a:xfrm>
            <a:off x="7132320" y="2103120"/>
            <a:ext cx="1554480" cy="274320"/>
          </a:xfrm>
          <a:prstGeom prst="rect">
            <a:avLst/>
          </a:prstGeom>
          <a:noFill/>
          <a:ln/>
        </p:spPr>
        <p:txBody>
          <a:bodyPr wrap="square" lIns="0" tIns="0" rIns="0" bIns="0" rtlCol="0" anchor="t"/>
          <a:lstStyle/>
          <a:p>
            <a:pPr algn="ctr" indent="0" marL="0">
              <a:buNone/>
            </a:pPr>
            <a:r>
              <a:rPr lang="en-US" sz="1100" dirty="0">
                <a:solidFill>
                  <a:srgbClr val="5F6F68"/>
                </a:solidFill>
                <a:latin typeface="Calibri" pitchFamily="34" charset="0"/>
                <a:ea typeface="Calibri" pitchFamily="34" charset="-122"/>
                <a:cs typeface="Calibri" pitchFamily="34" charset="-120"/>
              </a:rPr>
              <a:t>frontend typecheck</a:t>
            </a:r>
            <a:endParaRPr lang="en-US" sz="1100" dirty="0"/>
          </a:p>
        </p:txBody>
      </p:sp>
      <p:sp>
        <p:nvSpPr>
          <p:cNvPr id="35" name="Text 32"/>
          <p:cNvSpPr txBox="1"/>
          <p:nvPr/>
        </p:nvSpPr>
        <p:spPr>
          <a:xfrm>
            <a:off x="7132320" y="2377440"/>
            <a:ext cx="1554480" cy="274320"/>
          </a:xfrm>
          <a:prstGeom prst="rect">
            <a:avLst/>
          </a:prstGeom>
          <a:noFill/>
          <a:ln/>
        </p:spPr>
        <p:txBody>
          <a:bodyPr wrap="square" lIns="0" tIns="0" rIns="0" bIns="0" rtlCol="0" anchor="t"/>
          <a:lstStyle/>
          <a:p>
            <a:pPr algn="ctr" indent="0" marL="0">
              <a:buNone/>
            </a:pPr>
            <a:r>
              <a:rPr lang="en-US" sz="1150" b="1" dirty="0">
                <a:solidFill>
                  <a:srgbClr val="1B6B4F"/>
                </a:solidFill>
                <a:latin typeface="Calibri" pitchFamily="34" charset="0"/>
                <a:ea typeface="Calibri" pitchFamily="34" charset="-122"/>
                <a:cs typeface="Calibri" pitchFamily="34" charset="-120"/>
              </a:rPr>
              <a:t>clean</a:t>
            </a:r>
            <a:endParaRPr lang="en-US" sz="1150" dirty="0"/>
          </a:p>
        </p:txBody>
      </p:sp>
      <p:sp>
        <p:nvSpPr>
          <p:cNvPr id="36" name="Text 33"/>
          <p:cNvSpPr txBox="1"/>
          <p:nvPr/>
        </p:nvSpPr>
        <p:spPr>
          <a:xfrm>
            <a:off x="457200" y="2971800"/>
            <a:ext cx="8229600" cy="274320"/>
          </a:xfrm>
          <a:prstGeom prst="rect">
            <a:avLst/>
          </a:prstGeom>
          <a:noFill/>
          <a:ln/>
        </p:spPr>
        <p:txBody>
          <a:bodyPr wrap="square" lIns="0" tIns="0" rIns="0" bIns="0" rtlCol="0" anchor="t"/>
          <a:lstStyle/>
          <a:p>
            <a:pPr indent="0" marL="0">
              <a:buNone/>
            </a:pPr>
            <a:r>
              <a:rPr lang="en-US" sz="1600" b="1" dirty="0">
                <a:solidFill>
                  <a:srgbClr val="1B6B4F"/>
                </a:solidFill>
                <a:latin typeface="Cambria" pitchFamily="34" charset="0"/>
                <a:ea typeface="Cambria" pitchFamily="34" charset="-122"/>
                <a:cs typeface="Cambria" pitchFamily="34" charset="-120"/>
              </a:rPr>
              <a:t>Tests pinned to the assessed claims</a:t>
            </a:r>
            <a:endParaRPr lang="en-US" sz="1600" dirty="0"/>
          </a:p>
        </p:txBody>
      </p:sp>
      <p:sp>
        <p:nvSpPr>
          <p:cNvPr id="37" name="Shape 34"/>
          <p:cNvSpPr/>
          <p:nvPr/>
        </p:nvSpPr>
        <p:spPr>
          <a:xfrm>
            <a:off x="457200" y="3337560"/>
            <a:ext cx="4023360" cy="530352"/>
          </a:xfrm>
          <a:prstGeom prst="roundRect">
            <a:avLst>
              <a:gd name="adj" fmla="val 13793"/>
            </a:avLst>
          </a:prstGeom>
          <a:solidFill>
            <a:srgbClr val="EEF3F0"/>
          </a:solidFill>
          <a:ln w="12700">
            <a:solidFill>
              <a:srgbClr val="EEF3F0"/>
            </a:solidFill>
            <a:prstDash val="solid"/>
          </a:ln>
        </p:spPr>
      </p:sp>
      <p:sp>
        <p:nvSpPr>
          <p:cNvPr id="38" name="Text 35"/>
          <p:cNvSpPr txBox="1"/>
          <p:nvPr/>
        </p:nvSpPr>
        <p:spPr>
          <a:xfrm>
            <a:off x="594360" y="3374136"/>
            <a:ext cx="3749040" cy="457200"/>
          </a:xfrm>
          <a:prstGeom prst="rect">
            <a:avLst/>
          </a:prstGeom>
          <a:noFill/>
          <a:ln/>
        </p:spPr>
        <p:txBody>
          <a:bodyPr wrap="square" lIns="0" tIns="0" rIns="0" bIns="0" rtlCol="0" anchor="ctr"/>
          <a:lstStyle/>
          <a:p>
            <a:pPr indent="0" marL="0">
              <a:buNone/>
            </a:pPr>
            <a:r>
              <a:rPr lang="en-US" sz="1050" b="1" dirty="0">
                <a:solidFill>
                  <a:srgbClr val="0F3D2E"/>
                </a:solidFill>
                <a:latin typeface="Courier New" pitchFamily="34" charset="0"/>
                <a:ea typeface="Courier New" pitchFamily="34" charset="-122"/>
                <a:cs typeface="Courier New" pitchFamily="34" charset="-120"/>
              </a:rPr>
              <a:t>test_ll1.py</a:t>
            </a:r>
            <a:endParaRPr lang="en-US" sz="1400" dirty="0"/>
          </a:p>
          <a:p>
            <a:pPr indent="0" marL="0">
              <a:buNone/>
            </a:pPr>
            <a:r>
              <a:rPr lang="en-US" sz="1050" dirty="0">
                <a:solidFill>
                  <a:srgbClr val="1F2A26"/>
                </a:solidFill>
                <a:latin typeface="Calibri" pitchFamily="34" charset="0"/>
                <a:ea typeface="Calibri" pitchFamily="34" charset="-122"/>
                <a:cs typeface="Calibri" pitchFamily="34" charset="-120"/>
              </a:rPr>
              <a:t>table has no conflicting cells</a:t>
            </a:r>
            <a:endParaRPr lang="en-US" sz="1400" dirty="0"/>
          </a:p>
        </p:txBody>
      </p:sp>
      <p:sp>
        <p:nvSpPr>
          <p:cNvPr id="39" name="Shape 36"/>
          <p:cNvSpPr/>
          <p:nvPr/>
        </p:nvSpPr>
        <p:spPr>
          <a:xfrm>
            <a:off x="4663440" y="3337560"/>
            <a:ext cx="4023360" cy="530352"/>
          </a:xfrm>
          <a:prstGeom prst="roundRect">
            <a:avLst>
              <a:gd name="adj" fmla="val 13793"/>
            </a:avLst>
          </a:prstGeom>
          <a:solidFill>
            <a:srgbClr val="EEF3F0"/>
          </a:solidFill>
          <a:ln w="12700">
            <a:solidFill>
              <a:srgbClr val="EEF3F0"/>
            </a:solidFill>
            <a:prstDash val="solid"/>
          </a:ln>
        </p:spPr>
      </p:sp>
      <p:sp>
        <p:nvSpPr>
          <p:cNvPr id="40" name="Text 37"/>
          <p:cNvSpPr txBox="1"/>
          <p:nvPr/>
        </p:nvSpPr>
        <p:spPr>
          <a:xfrm>
            <a:off x="4800600" y="3374136"/>
            <a:ext cx="3749040" cy="457200"/>
          </a:xfrm>
          <a:prstGeom prst="rect">
            <a:avLst/>
          </a:prstGeom>
          <a:noFill/>
          <a:ln/>
        </p:spPr>
        <p:txBody>
          <a:bodyPr wrap="square" lIns="0" tIns="0" rIns="0" bIns="0" rtlCol="0" anchor="ctr"/>
          <a:lstStyle/>
          <a:p>
            <a:pPr indent="0" marL="0">
              <a:buNone/>
            </a:pPr>
            <a:r>
              <a:rPr lang="en-US" sz="1050" b="1" dirty="0">
                <a:solidFill>
                  <a:srgbClr val="0F3D2E"/>
                </a:solidFill>
                <a:latin typeface="Courier New" pitchFamily="34" charset="0"/>
                <a:ea typeface="Courier New" pitchFamily="34" charset="-122"/>
                <a:cs typeface="Courier New" pitchFamily="34" charset="-120"/>
              </a:rPr>
              <a:t>test_lexer.py</a:t>
            </a:r>
            <a:endParaRPr lang="en-US" sz="1400" dirty="0"/>
          </a:p>
          <a:p>
            <a:pPr indent="0" marL="0">
              <a:buNone/>
            </a:pPr>
            <a:r>
              <a:rPr lang="en-US" sz="1050" dirty="0">
                <a:solidFill>
                  <a:srgbClr val="1F2A26"/>
                </a:solidFill>
                <a:latin typeface="Calibri" pitchFamily="34" charset="0"/>
                <a:ea typeface="Calibri" pitchFamily="34" charset="-122"/>
                <a:cs typeface="Calibri" pitchFamily="34" charset="-120"/>
              </a:rPr>
              <a:t>multiword, separator refusal, folding, homographs</a:t>
            </a:r>
            <a:endParaRPr lang="en-US" sz="1400" dirty="0"/>
          </a:p>
        </p:txBody>
      </p:sp>
      <p:sp>
        <p:nvSpPr>
          <p:cNvPr id="41" name="Shape 38"/>
          <p:cNvSpPr/>
          <p:nvPr/>
        </p:nvSpPr>
        <p:spPr>
          <a:xfrm>
            <a:off x="457200" y="3959352"/>
            <a:ext cx="4023360" cy="530352"/>
          </a:xfrm>
          <a:prstGeom prst="roundRect">
            <a:avLst>
              <a:gd name="adj" fmla="val 13793"/>
            </a:avLst>
          </a:prstGeom>
          <a:solidFill>
            <a:srgbClr val="EEF3F0"/>
          </a:solidFill>
          <a:ln w="12700">
            <a:solidFill>
              <a:srgbClr val="EEF3F0"/>
            </a:solidFill>
            <a:prstDash val="solid"/>
          </a:ln>
        </p:spPr>
      </p:sp>
      <p:sp>
        <p:nvSpPr>
          <p:cNvPr id="42" name="Text 39"/>
          <p:cNvSpPr txBox="1"/>
          <p:nvPr/>
        </p:nvSpPr>
        <p:spPr>
          <a:xfrm>
            <a:off x="594360" y="3995928"/>
            <a:ext cx="3749040" cy="457200"/>
          </a:xfrm>
          <a:prstGeom prst="rect">
            <a:avLst/>
          </a:prstGeom>
          <a:noFill/>
          <a:ln/>
        </p:spPr>
        <p:txBody>
          <a:bodyPr wrap="square" lIns="0" tIns="0" rIns="0" bIns="0" rtlCol="0" anchor="ctr"/>
          <a:lstStyle/>
          <a:p>
            <a:pPr indent="0" marL="0">
              <a:buNone/>
            </a:pPr>
            <a:r>
              <a:rPr lang="en-US" sz="1050" b="1" dirty="0">
                <a:solidFill>
                  <a:srgbClr val="0F3D2E"/>
                </a:solidFill>
                <a:latin typeface="Courier New" pitchFamily="34" charset="0"/>
                <a:ea typeface="Courier New" pitchFamily="34" charset="-122"/>
                <a:cs typeface="Courier New" pitchFamily="34" charset="-120"/>
              </a:rPr>
              <a:t>test_field_corpus.py</a:t>
            </a:r>
            <a:endParaRPr lang="en-US" sz="1400" dirty="0"/>
          </a:p>
          <a:p>
            <a:pPr indent="0" marL="0">
              <a:buNone/>
            </a:pPr>
            <a:r>
              <a:rPr lang="en-US" sz="1050" dirty="0">
                <a:solidFill>
                  <a:srgbClr val="1F2A26"/>
                </a:solidFill>
                <a:latin typeface="Calibri" pitchFamily="34" charset="0"/>
                <a:ea typeface="Calibri" pitchFamily="34" charset="-122"/>
                <a:cs typeface="Calibri" pitchFamily="34" charset="-120"/>
              </a:rPr>
              <a:t>every statement attested, attributed, byte-identical</a:t>
            </a:r>
            <a:endParaRPr lang="en-US" sz="1400" dirty="0"/>
          </a:p>
        </p:txBody>
      </p:sp>
      <p:sp>
        <p:nvSpPr>
          <p:cNvPr id="43" name="Shape 40"/>
          <p:cNvSpPr/>
          <p:nvPr/>
        </p:nvSpPr>
        <p:spPr>
          <a:xfrm>
            <a:off x="4663440" y="3959352"/>
            <a:ext cx="4023360" cy="530352"/>
          </a:xfrm>
          <a:prstGeom prst="roundRect">
            <a:avLst>
              <a:gd name="adj" fmla="val 13793"/>
            </a:avLst>
          </a:prstGeom>
          <a:solidFill>
            <a:srgbClr val="EEF3F0"/>
          </a:solidFill>
          <a:ln w="12700">
            <a:solidFill>
              <a:srgbClr val="EEF3F0"/>
            </a:solidFill>
            <a:prstDash val="solid"/>
          </a:ln>
        </p:spPr>
      </p:sp>
      <p:sp>
        <p:nvSpPr>
          <p:cNvPr id="44" name="Text 41"/>
          <p:cNvSpPr txBox="1"/>
          <p:nvPr/>
        </p:nvSpPr>
        <p:spPr>
          <a:xfrm>
            <a:off x="4800600" y="3995928"/>
            <a:ext cx="3749040" cy="457200"/>
          </a:xfrm>
          <a:prstGeom prst="rect">
            <a:avLst/>
          </a:prstGeom>
          <a:noFill/>
          <a:ln/>
        </p:spPr>
        <p:txBody>
          <a:bodyPr wrap="square" lIns="0" tIns="0" rIns="0" bIns="0" rtlCol="0" anchor="ctr"/>
          <a:lstStyle/>
          <a:p>
            <a:pPr indent="0" marL="0">
              <a:buNone/>
            </a:pPr>
            <a:r>
              <a:rPr lang="en-US" sz="1050" b="1" dirty="0">
                <a:solidFill>
                  <a:srgbClr val="0F3D2E"/>
                </a:solidFill>
                <a:latin typeface="Courier New" pitchFamily="34" charset="0"/>
                <a:ea typeface="Courier New" pitchFamily="34" charset="-122"/>
                <a:cs typeface="Courier New" pitchFamily="34" charset="-120"/>
              </a:rPr>
              <a:t>test_analysis.py</a:t>
            </a:r>
            <a:endParaRPr lang="en-US" sz="1400" dirty="0"/>
          </a:p>
          <a:p>
            <a:pPr indent="0" marL="0">
              <a:buNone/>
            </a:pPr>
            <a:r>
              <a:rPr lang="en-US" sz="1050" dirty="0">
                <a:solidFill>
                  <a:srgbClr val="1F2A26"/>
                </a:solidFill>
                <a:latin typeface="Calibri" pitchFamily="34" charset="0"/>
                <a:ea typeface="Calibri" pitchFamily="34" charset="-122"/>
                <a:cs typeface="Calibri" pitchFamily="34" charset="-120"/>
              </a:rPr>
              <a:t>pins every verdict: no silent change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0F3D2E"/>
                </a:solidFill>
                <a:latin typeface="Cambria" pitchFamily="34" charset="0"/>
                <a:ea typeface="Cambria" pitchFamily="34" charset="-122"/>
                <a:cs typeface="Cambria" pitchFamily="34" charset="-120"/>
              </a:rPr>
              <a:t>Why Yaoundé speech is so complex</a:t>
            </a:r>
            <a:endParaRPr lang="en-US" sz="3000" dirty="0"/>
          </a:p>
        </p:txBody>
      </p:sp>
      <p:sp>
        <p:nvSpPr>
          <p:cNvPr id="3" name="Text 1"/>
          <p:cNvSpPr txBox="1"/>
          <p:nvPr/>
        </p:nvSpPr>
        <p:spPr>
          <a:xfrm>
            <a:off x="457200" y="4828032"/>
            <a:ext cx="4572000" cy="201168"/>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Francanglais Studio  ·  CS4110 Compiler Construction</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t"/>
          <a:lstStyle/>
          <a:p>
            <a:pPr algn="r" indent="0" marL="0">
              <a:buNone/>
            </a:pPr>
            <a:r>
              <a:rPr lang="en-US" sz="900" dirty="0">
                <a:solidFill>
                  <a:srgbClr val="5F6F68"/>
                </a:solidFill>
                <a:latin typeface="Calibri" pitchFamily="34" charset="0"/>
                <a:ea typeface="Calibri" pitchFamily="34" charset="-122"/>
                <a:cs typeface="Calibri" pitchFamily="34" charset="-120"/>
              </a:rPr>
              <a:t>21</a:t>
            </a:r>
            <a:endParaRPr lang="en-US" sz="900" dirty="0"/>
          </a:p>
        </p:txBody>
      </p:sp>
      <p:sp>
        <p:nvSpPr>
          <p:cNvPr id="6" name="Shape 3"/>
          <p:cNvSpPr/>
          <p:nvPr/>
        </p:nvSpPr>
        <p:spPr>
          <a:xfrm>
            <a:off x="457200" y="1143000"/>
            <a:ext cx="2651760" cy="1645920"/>
          </a:xfrm>
          <a:prstGeom prst="roundRect">
            <a:avLst>
              <a:gd name="adj" fmla="val 4444"/>
            </a:avLst>
          </a:prstGeom>
          <a:solidFill>
            <a:srgbClr val="EEF3F0"/>
          </a:solidFill>
          <a:ln w="12700">
            <a:solidFill>
              <a:srgbClr val="EEF3F0"/>
            </a:solidFill>
            <a:prstDash val="solid"/>
          </a:ln>
        </p:spPr>
      </p:sp>
      <p:sp>
        <p:nvSpPr>
          <p:cNvPr id="7" name="Shape 4"/>
          <p:cNvSpPr/>
          <p:nvPr/>
        </p:nvSpPr>
        <p:spPr>
          <a:xfrm>
            <a:off x="594360" y="1280160"/>
            <a:ext cx="347472" cy="347472"/>
          </a:xfrm>
          <a:prstGeom prst="ellipse">
            <a:avLst/>
          </a:prstGeom>
          <a:solidFill>
            <a:srgbClr val="1B6B4F"/>
          </a:solidFill>
          <a:ln w="12700">
            <a:solidFill>
              <a:srgbClr val="1B6B4F"/>
            </a:solidFill>
            <a:prstDash val="solid"/>
          </a:ln>
        </p:spPr>
      </p:sp>
      <p:sp>
        <p:nvSpPr>
          <p:cNvPr id="8" name="Text 5"/>
          <p:cNvSpPr txBox="1"/>
          <p:nvPr/>
        </p:nvSpPr>
        <p:spPr>
          <a:xfrm>
            <a:off x="594360" y="1280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051560" y="1252728"/>
            <a:ext cx="1965960" cy="41148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15 donor languages</a:t>
            </a:r>
            <a:endParaRPr lang="en-US" sz="1250" dirty="0"/>
          </a:p>
        </p:txBody>
      </p:sp>
      <p:sp>
        <p:nvSpPr>
          <p:cNvPr id="10" name="Text 7"/>
          <p:cNvSpPr txBox="1"/>
          <p:nvPr/>
        </p:nvSpPr>
        <p:spPr>
          <a:xfrm>
            <a:off x="640080" y="1764792"/>
            <a:ext cx="2331720" cy="960120"/>
          </a:xfrm>
          <a:prstGeom prst="rect">
            <a:avLst/>
          </a:prstGeom>
          <a:noFill/>
          <a:ln/>
        </p:spPr>
        <p:txBody>
          <a:bodyPr wrap="square" lIns="0" tIns="0" rIns="0" bIns="0" rtlCol="0" anchor="t"/>
          <a:lstStyle/>
          <a:p>
            <a:pPr indent="0" marL="0">
              <a:buNone/>
            </a:pPr>
            <a:r>
              <a:rPr lang="en-US" sz="1100" dirty="0">
                <a:solidFill>
                  <a:srgbClr val="1F2A26"/>
                </a:solidFill>
                <a:latin typeface="Calibri" pitchFamily="34" charset="0"/>
                <a:ea typeface="Calibri" pitchFamily="34" charset="-122"/>
                <a:cs typeface="Calibri" pitchFamily="34" charset="-120"/>
              </a:rPr>
              <a:t>The keyword table is a union of vocabularies sharing no common orthography.</a:t>
            </a:r>
            <a:endParaRPr lang="en-US" sz="1100" dirty="0"/>
          </a:p>
        </p:txBody>
      </p:sp>
      <p:sp>
        <p:nvSpPr>
          <p:cNvPr id="11" name="Shape 8"/>
          <p:cNvSpPr/>
          <p:nvPr/>
        </p:nvSpPr>
        <p:spPr>
          <a:xfrm>
            <a:off x="3246120" y="1143000"/>
            <a:ext cx="2651760" cy="1645920"/>
          </a:xfrm>
          <a:prstGeom prst="roundRect">
            <a:avLst>
              <a:gd name="adj" fmla="val 4444"/>
            </a:avLst>
          </a:prstGeom>
          <a:solidFill>
            <a:srgbClr val="EEF3F0"/>
          </a:solidFill>
          <a:ln w="12700">
            <a:solidFill>
              <a:srgbClr val="EEF3F0"/>
            </a:solidFill>
            <a:prstDash val="solid"/>
          </a:ln>
        </p:spPr>
      </p:sp>
      <p:sp>
        <p:nvSpPr>
          <p:cNvPr id="12" name="Shape 9"/>
          <p:cNvSpPr/>
          <p:nvPr/>
        </p:nvSpPr>
        <p:spPr>
          <a:xfrm>
            <a:off x="3383280" y="1280160"/>
            <a:ext cx="347472" cy="347472"/>
          </a:xfrm>
          <a:prstGeom prst="ellipse">
            <a:avLst/>
          </a:prstGeom>
          <a:solidFill>
            <a:srgbClr val="1B6B4F"/>
          </a:solidFill>
          <a:ln w="12700">
            <a:solidFill>
              <a:srgbClr val="1B6B4F"/>
            </a:solidFill>
            <a:prstDash val="solid"/>
          </a:ln>
        </p:spPr>
      </p:sp>
      <p:sp>
        <p:nvSpPr>
          <p:cNvPr id="13" name="Text 10"/>
          <p:cNvSpPr txBox="1"/>
          <p:nvPr/>
        </p:nvSpPr>
        <p:spPr>
          <a:xfrm>
            <a:off x="3383280" y="1280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3840480" y="1252728"/>
            <a:ext cx="1965960" cy="41148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Mixing inside the sentence</a:t>
            </a:r>
            <a:endParaRPr lang="en-US" sz="1250" dirty="0"/>
          </a:p>
        </p:txBody>
      </p:sp>
      <p:sp>
        <p:nvSpPr>
          <p:cNvPr id="15" name="Text 12"/>
          <p:cNvSpPr txBox="1"/>
          <p:nvPr/>
        </p:nvSpPr>
        <p:spPr>
          <a:xfrm>
            <a:off x="3429000" y="1764792"/>
            <a:ext cx="2331720" cy="960120"/>
          </a:xfrm>
          <a:prstGeom prst="rect">
            <a:avLst/>
          </a:prstGeom>
          <a:noFill/>
          <a:ln/>
        </p:spPr>
        <p:txBody>
          <a:bodyPr wrap="square" lIns="0" tIns="0" rIns="0" bIns="0" rtlCol="0" anchor="t"/>
          <a:lstStyle/>
          <a:p>
            <a:pPr indent="0" marL="0">
              <a:buNone/>
            </a:pPr>
            <a:r>
              <a:rPr lang="en-US" sz="1100" dirty="0">
                <a:solidFill>
                  <a:srgbClr val="1F2A26"/>
                </a:solidFill>
                <a:latin typeface="Calibri" pitchFamily="34" charset="0"/>
                <a:ea typeface="Calibri" pitchFamily="34" charset="-122"/>
                <a:cs typeface="Calibri" pitchFamily="34" charset="-120"/>
              </a:rPr>
              <a:t>French determiner + English noun + Pidgin verb. So the donor label belongs to the token, not the statement.</a:t>
            </a:r>
            <a:endParaRPr lang="en-US" sz="1100" dirty="0"/>
          </a:p>
        </p:txBody>
      </p:sp>
      <p:sp>
        <p:nvSpPr>
          <p:cNvPr id="16" name="Shape 13"/>
          <p:cNvSpPr/>
          <p:nvPr/>
        </p:nvSpPr>
        <p:spPr>
          <a:xfrm>
            <a:off x="6035040" y="1143000"/>
            <a:ext cx="2651760" cy="1645920"/>
          </a:xfrm>
          <a:prstGeom prst="roundRect">
            <a:avLst>
              <a:gd name="adj" fmla="val 4444"/>
            </a:avLst>
          </a:prstGeom>
          <a:solidFill>
            <a:srgbClr val="EEF3F0"/>
          </a:solidFill>
          <a:ln w="12700">
            <a:solidFill>
              <a:srgbClr val="EEF3F0"/>
            </a:solidFill>
            <a:prstDash val="solid"/>
          </a:ln>
        </p:spPr>
      </p:sp>
      <p:sp>
        <p:nvSpPr>
          <p:cNvPr id="17" name="Shape 14"/>
          <p:cNvSpPr/>
          <p:nvPr/>
        </p:nvSpPr>
        <p:spPr>
          <a:xfrm>
            <a:off x="6172200" y="1280160"/>
            <a:ext cx="347472" cy="347472"/>
          </a:xfrm>
          <a:prstGeom prst="ellipse">
            <a:avLst/>
          </a:prstGeom>
          <a:solidFill>
            <a:srgbClr val="1B6B4F"/>
          </a:solidFill>
          <a:ln w="12700">
            <a:solidFill>
              <a:srgbClr val="1B6B4F"/>
            </a:solidFill>
            <a:prstDash val="solid"/>
          </a:ln>
        </p:spPr>
      </p:sp>
      <p:sp>
        <p:nvSpPr>
          <p:cNvPr id="18" name="Text 15"/>
          <p:cNvSpPr txBox="1"/>
          <p:nvPr/>
        </p:nvSpPr>
        <p:spPr>
          <a:xfrm>
            <a:off x="6172200" y="1280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6629400" y="1252728"/>
            <a:ext cx="1965960" cy="41148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Unstable orthography</a:t>
            </a:r>
            <a:endParaRPr lang="en-US" sz="1250" dirty="0"/>
          </a:p>
        </p:txBody>
      </p:sp>
      <p:sp>
        <p:nvSpPr>
          <p:cNvPr id="20" name="Text 17"/>
          <p:cNvSpPr txBox="1"/>
          <p:nvPr/>
        </p:nvSpPr>
        <p:spPr>
          <a:xfrm>
            <a:off x="6217920" y="1764792"/>
            <a:ext cx="2331720" cy="960120"/>
          </a:xfrm>
          <a:prstGeom prst="rect">
            <a:avLst/>
          </a:prstGeom>
          <a:noFill/>
          <a:ln/>
        </p:spPr>
        <p:txBody>
          <a:bodyPr wrap="square" lIns="0" tIns="0" rIns="0" bIns="0" rtlCol="0" anchor="t"/>
          <a:lstStyle/>
          <a:p>
            <a:pPr indent="0" marL="0">
              <a:buNone/>
            </a:pPr>
            <a:r>
              <a:rPr lang="en-US" sz="1100" dirty="0">
                <a:solidFill>
                  <a:srgbClr val="1F2A26"/>
                </a:solidFill>
                <a:latin typeface="Calibri" pitchFamily="34" charset="0"/>
                <a:ea typeface="Calibri" pitchFamily="34" charset="-122"/>
                <a:cs typeface="Calibri" pitchFamily="34" charset="-120"/>
              </a:rPr>
              <a:t>Accents, casing, ASCII vs typographic apostrophes, NFC vs NFD. Raw and canonical frequencies differ.</a:t>
            </a:r>
            <a:endParaRPr lang="en-US" sz="1100" dirty="0"/>
          </a:p>
        </p:txBody>
      </p:sp>
      <p:sp>
        <p:nvSpPr>
          <p:cNvPr id="21" name="Shape 18"/>
          <p:cNvSpPr/>
          <p:nvPr/>
        </p:nvSpPr>
        <p:spPr>
          <a:xfrm>
            <a:off x="457200" y="2926080"/>
            <a:ext cx="2651760" cy="1645920"/>
          </a:xfrm>
          <a:prstGeom prst="roundRect">
            <a:avLst>
              <a:gd name="adj" fmla="val 4444"/>
            </a:avLst>
          </a:prstGeom>
          <a:solidFill>
            <a:srgbClr val="EEF3F0"/>
          </a:solidFill>
          <a:ln w="12700">
            <a:solidFill>
              <a:srgbClr val="EEF3F0"/>
            </a:solidFill>
            <a:prstDash val="solid"/>
          </a:ln>
        </p:spPr>
      </p:sp>
      <p:sp>
        <p:nvSpPr>
          <p:cNvPr id="22" name="Shape 19"/>
          <p:cNvSpPr/>
          <p:nvPr/>
        </p:nvSpPr>
        <p:spPr>
          <a:xfrm>
            <a:off x="594360" y="3063240"/>
            <a:ext cx="347472" cy="347472"/>
          </a:xfrm>
          <a:prstGeom prst="ellipse">
            <a:avLst/>
          </a:prstGeom>
          <a:solidFill>
            <a:srgbClr val="1B6B4F"/>
          </a:solidFill>
          <a:ln w="12700">
            <a:solidFill>
              <a:srgbClr val="1B6B4F"/>
            </a:solidFill>
            <a:prstDash val="solid"/>
          </a:ln>
        </p:spPr>
      </p:sp>
      <p:sp>
        <p:nvSpPr>
          <p:cNvPr id="23" name="Text 20"/>
          <p:cNvSpPr txBox="1"/>
          <p:nvPr/>
        </p:nvSpPr>
        <p:spPr>
          <a:xfrm>
            <a:off x="594360" y="30632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txBox="1"/>
          <p:nvPr/>
        </p:nvSpPr>
        <p:spPr>
          <a:xfrm>
            <a:off x="1051560" y="3035808"/>
            <a:ext cx="1965960" cy="41148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Syntax looser than French</a:t>
            </a:r>
            <a:endParaRPr lang="en-US" sz="1250" dirty="0"/>
          </a:p>
        </p:txBody>
      </p:sp>
      <p:sp>
        <p:nvSpPr>
          <p:cNvPr id="25" name="Text 22"/>
          <p:cNvSpPr txBox="1"/>
          <p:nvPr/>
        </p:nvSpPr>
        <p:spPr>
          <a:xfrm>
            <a:off x="640080" y="3547872"/>
            <a:ext cx="2331720" cy="960120"/>
          </a:xfrm>
          <a:prstGeom prst="rect">
            <a:avLst/>
          </a:prstGeom>
          <a:noFill/>
          <a:ln/>
        </p:spPr>
        <p:txBody>
          <a:bodyPr wrap="square" lIns="0" tIns="0" rIns="0" bIns="0" rtlCol="0" anchor="t"/>
          <a:lstStyle/>
          <a:p>
            <a:pPr indent="0" marL="0">
              <a:buNone/>
            </a:pPr>
            <a:r>
              <a:rPr lang="en-US" sz="1100" dirty="0">
                <a:solidFill>
                  <a:srgbClr val="1F2A26"/>
                </a:solidFill>
                <a:latin typeface="Calibri" pitchFamily="34" charset="0"/>
                <a:ea typeface="Calibri" pitchFamily="34" charset="-122"/>
                <a:cs typeface="Calibri" pitchFamily="34" charset="-120"/>
              </a:rPr>
              <a:t>Juxtaposition, serial verbs, subject drop, left dislocation: a textbook French grammar rejects all four.</a:t>
            </a:r>
            <a:endParaRPr lang="en-US" sz="1100" dirty="0"/>
          </a:p>
        </p:txBody>
      </p:sp>
      <p:sp>
        <p:nvSpPr>
          <p:cNvPr id="26" name="Shape 23"/>
          <p:cNvSpPr/>
          <p:nvPr/>
        </p:nvSpPr>
        <p:spPr>
          <a:xfrm>
            <a:off x="3246120" y="2926080"/>
            <a:ext cx="2651760" cy="1645920"/>
          </a:xfrm>
          <a:prstGeom prst="roundRect">
            <a:avLst>
              <a:gd name="adj" fmla="val 4444"/>
            </a:avLst>
          </a:prstGeom>
          <a:solidFill>
            <a:srgbClr val="EEF3F0"/>
          </a:solidFill>
          <a:ln w="12700">
            <a:solidFill>
              <a:srgbClr val="EEF3F0"/>
            </a:solidFill>
            <a:prstDash val="solid"/>
          </a:ln>
        </p:spPr>
      </p:sp>
      <p:sp>
        <p:nvSpPr>
          <p:cNvPr id="27" name="Shape 24"/>
          <p:cNvSpPr/>
          <p:nvPr/>
        </p:nvSpPr>
        <p:spPr>
          <a:xfrm>
            <a:off x="3383280" y="3063240"/>
            <a:ext cx="347472" cy="347472"/>
          </a:xfrm>
          <a:prstGeom prst="ellipse">
            <a:avLst/>
          </a:prstGeom>
          <a:solidFill>
            <a:srgbClr val="1B6B4F"/>
          </a:solidFill>
          <a:ln w="12700">
            <a:solidFill>
              <a:srgbClr val="1B6B4F"/>
            </a:solidFill>
            <a:prstDash val="solid"/>
          </a:ln>
        </p:spPr>
      </p:sp>
      <p:sp>
        <p:nvSpPr>
          <p:cNvPr id="28" name="Text 25"/>
          <p:cNvSpPr txBox="1"/>
          <p:nvPr/>
        </p:nvSpPr>
        <p:spPr>
          <a:xfrm>
            <a:off x="3383280" y="30632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6"/>
          <p:cNvSpPr txBox="1"/>
          <p:nvPr/>
        </p:nvSpPr>
        <p:spPr>
          <a:xfrm>
            <a:off x="3840480" y="3035808"/>
            <a:ext cx="1965960" cy="411480"/>
          </a:xfrm>
          <a:prstGeom prst="rect">
            <a:avLst/>
          </a:prstGeom>
          <a:noFill/>
          <a:ln/>
        </p:spPr>
        <p:txBody>
          <a:bodyPr wrap="square" lIns="0" tIns="0" rIns="0" bIns="0" rtlCol="0" anchor="ctr"/>
          <a:lstStyle/>
          <a:p>
            <a:pPr indent="0" marL="0">
              <a:buNone/>
            </a:pPr>
            <a:r>
              <a:rPr lang="en-US" sz="1250" b="1" dirty="0">
                <a:solidFill>
                  <a:srgbClr val="0F3D2E"/>
                </a:solidFill>
                <a:latin typeface="Calibri" pitchFamily="34" charset="0"/>
                <a:ea typeface="Calibri" pitchFamily="34" charset="-122"/>
                <a:cs typeface="Calibri" pitchFamily="34" charset="-120"/>
              </a:rPr>
              <a:t>Frozen expressions &amp; particles</a:t>
            </a:r>
            <a:endParaRPr lang="en-US" sz="1250" dirty="0"/>
          </a:p>
        </p:txBody>
      </p:sp>
      <p:sp>
        <p:nvSpPr>
          <p:cNvPr id="30" name="Text 27"/>
          <p:cNvSpPr txBox="1"/>
          <p:nvPr/>
        </p:nvSpPr>
        <p:spPr>
          <a:xfrm>
            <a:off x="3429000" y="3547872"/>
            <a:ext cx="2331720" cy="960120"/>
          </a:xfrm>
          <a:prstGeom prst="rect">
            <a:avLst/>
          </a:prstGeom>
          <a:noFill/>
          <a:ln/>
        </p:spPr>
        <p:txBody>
          <a:bodyPr wrap="square" lIns="0" tIns="0" rIns="0" bIns="0" rtlCol="0" anchor="t"/>
          <a:lstStyle/>
          <a:p>
            <a:pPr indent="0" marL="0">
              <a:buNone/>
            </a:pPr>
            <a:r>
              <a:rPr lang="en-US" sz="1100" dirty="0">
                <a:solidFill>
                  <a:srgbClr val="1F2A26"/>
                </a:solidFill>
                <a:latin typeface="Calibri" pitchFamily="34" charset="0"/>
                <a:ea typeface="Calibri" pitchFamily="34" charset="-122"/>
                <a:cs typeface="Calibri" pitchFamily="34" charset="-120"/>
              </a:rPr>
              <a:t>18 formulas need longest-match lexing; interjections are a terminal, not noise.</a:t>
            </a:r>
            <a:endParaRPr lang="en-US" sz="1100" dirty="0"/>
          </a:p>
        </p:txBody>
      </p:sp>
      <p:sp>
        <p:nvSpPr>
          <p:cNvPr id="31" name="Shape 28"/>
          <p:cNvSpPr/>
          <p:nvPr/>
        </p:nvSpPr>
        <p:spPr>
          <a:xfrm>
            <a:off x="6035040" y="2926080"/>
            <a:ext cx="2651760" cy="1645920"/>
          </a:xfrm>
          <a:prstGeom prst="roundRect">
            <a:avLst>
              <a:gd name="adj" fmla="val 4444"/>
            </a:avLst>
          </a:prstGeom>
          <a:solidFill>
            <a:srgbClr val="0F3D2E"/>
          </a:solidFill>
          <a:ln w="12700">
            <a:solidFill>
              <a:srgbClr val="0F3D2E"/>
            </a:solidFill>
            <a:prstDash val="solid"/>
          </a:ln>
        </p:spPr>
      </p:sp>
      <p:sp>
        <p:nvSpPr>
          <p:cNvPr id="32" name="Text 29"/>
          <p:cNvSpPr txBox="1"/>
          <p:nvPr/>
        </p:nvSpPr>
        <p:spPr>
          <a:xfrm>
            <a:off x="6217920" y="3035808"/>
            <a:ext cx="2286000" cy="274320"/>
          </a:xfrm>
          <a:prstGeom prst="rect">
            <a:avLst/>
          </a:prstGeom>
          <a:noFill/>
          <a:ln/>
        </p:spPr>
        <p:txBody>
          <a:bodyPr wrap="square" lIns="0" tIns="0" rIns="0" bIns="0" rtlCol="0" anchor="t"/>
          <a:lstStyle/>
          <a:p>
            <a:pPr indent="0" marL="0">
              <a:buNone/>
            </a:pPr>
            <a:r>
              <a:rPr lang="en-US" sz="1250" b="1" dirty="0">
                <a:solidFill>
                  <a:srgbClr val="D9B44A"/>
                </a:solidFill>
                <a:latin typeface="Calibri" pitchFamily="34" charset="0"/>
                <a:ea typeface="Calibri" pitchFamily="34" charset="-122"/>
                <a:cs typeface="Calibri" pitchFamily="34" charset="-120"/>
              </a:rPr>
              <a:t>The engineering answer</a:t>
            </a:r>
            <a:endParaRPr lang="en-US" sz="1250" dirty="0"/>
          </a:p>
        </p:txBody>
      </p:sp>
      <p:sp>
        <p:nvSpPr>
          <p:cNvPr id="33" name="Text 30"/>
          <p:cNvSpPr txBox="1"/>
          <p:nvPr/>
        </p:nvSpPr>
        <p:spPr>
          <a:xfrm>
            <a:off x="6217920" y="3383280"/>
            <a:ext cx="2286000" cy="11430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Don’t force data into a cleaner model. Record provenance at every level so each claim traces to its evidence.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3D2E"/>
        </a:solidFill>
      </p:bgPr>
    </p:bg>
    <p:spTree>
      <p:nvGrpSpPr>
        <p:cNvPr id="1" name=""/>
        <p:cNvGrpSpPr/>
        <p:nvPr/>
      </p:nvGrpSpPr>
      <p:grpSpPr>
        <a:xfrm>
          <a:off x="0" y="0"/>
          <a:ext cx="0" cy="0"/>
          <a:chOff x="0" y="0"/>
          <a:chExt cx="0" cy="0"/>
        </a:xfrm>
      </p:grpSpPr>
      <p:sp>
        <p:nvSpPr>
          <p:cNvPr id="3"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4" name="Shape 1"/>
          <p:cNvSpPr/>
          <p:nvPr/>
        </p:nvSpPr>
        <p:spPr>
          <a:xfrm>
            <a:off x="457200" y="1097280"/>
            <a:ext cx="2651760" cy="3108960"/>
          </a:xfrm>
          <a:prstGeom prst="roundRect">
            <a:avLst>
              <a:gd name="adj" fmla="val 2759"/>
            </a:avLst>
          </a:prstGeom>
          <a:solidFill>
            <a:srgbClr val="17503C"/>
          </a:solidFill>
          <a:ln w="12700">
            <a:solidFill>
              <a:srgbClr val="17503C"/>
            </a:solidFill>
            <a:prstDash val="solid"/>
          </a:ln>
        </p:spPr>
      </p:sp>
      <p:sp>
        <p:nvSpPr>
          <p:cNvPr id="5" name="Text 2"/>
          <p:cNvSpPr txBox="1"/>
          <p:nvPr/>
        </p:nvSpPr>
        <p:spPr>
          <a:xfrm>
            <a:off x="640080" y="1234440"/>
            <a:ext cx="2286000" cy="320040"/>
          </a:xfrm>
          <a:prstGeom prst="rect">
            <a:avLst/>
          </a:prstGeom>
          <a:noFill/>
          <a:ln/>
        </p:spPr>
        <p:txBody>
          <a:bodyPr wrap="square" lIns="0" tIns="0" rIns="0" bIns="0" rtlCol="0" anchor="t"/>
          <a:lstStyle/>
          <a:p>
            <a:pPr indent="0" marL="0">
              <a:buNone/>
            </a:pPr>
            <a:r>
              <a:rPr lang="en-US" sz="1600" b="1" dirty="0">
                <a:solidFill>
                  <a:srgbClr val="D9B44A"/>
                </a:solidFill>
                <a:latin typeface="Cambria" pitchFamily="34" charset="0"/>
                <a:ea typeface="Cambria" pitchFamily="34" charset="-122"/>
                <a:cs typeface="Cambria" pitchFamily="34" charset="-120"/>
              </a:rPr>
              <a:t>What we achieved</a:t>
            </a:r>
            <a:endParaRPr lang="en-US" sz="1600" dirty="0"/>
          </a:p>
        </p:txBody>
      </p:sp>
      <p:sp>
        <p:nvSpPr>
          <p:cNvPr id="6" name="Text 3"/>
          <p:cNvSpPr txBox="1"/>
          <p:nvPr/>
        </p:nvSpPr>
        <p:spPr>
          <a:xfrm>
            <a:off x="640080" y="1691640"/>
            <a:ext cx="233172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22 hand-transcribed, attested statements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Hand-written scanner + lexer over 688 entries and 15 donor languages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37 → 41 production LL(1) grammar, conflict-free</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Parser accepts 20/22 with derivations</a:t>
            </a:r>
            <a:endParaRPr lang="en-US" sz="1250" dirty="0"/>
          </a:p>
        </p:txBody>
      </p:sp>
      <p:sp>
        <p:nvSpPr>
          <p:cNvPr id="7" name="Shape 4"/>
          <p:cNvSpPr/>
          <p:nvPr/>
        </p:nvSpPr>
        <p:spPr>
          <a:xfrm>
            <a:off x="3246120" y="1097280"/>
            <a:ext cx="2651760" cy="3108960"/>
          </a:xfrm>
          <a:prstGeom prst="roundRect">
            <a:avLst>
              <a:gd name="adj" fmla="val 2759"/>
            </a:avLst>
          </a:prstGeom>
          <a:solidFill>
            <a:srgbClr val="17503C"/>
          </a:solidFill>
          <a:ln w="12700">
            <a:solidFill>
              <a:srgbClr val="17503C"/>
            </a:solidFill>
            <a:prstDash val="solid"/>
          </a:ln>
        </p:spPr>
      </p:sp>
      <p:sp>
        <p:nvSpPr>
          <p:cNvPr id="8" name="Text 5"/>
          <p:cNvSpPr txBox="1"/>
          <p:nvPr/>
        </p:nvSpPr>
        <p:spPr>
          <a:xfrm>
            <a:off x="3429000" y="1234440"/>
            <a:ext cx="2286000" cy="320040"/>
          </a:xfrm>
          <a:prstGeom prst="rect">
            <a:avLst/>
          </a:prstGeom>
          <a:noFill/>
          <a:ln/>
        </p:spPr>
        <p:txBody>
          <a:bodyPr wrap="square" lIns="0" tIns="0" rIns="0" bIns="0" rtlCol="0" anchor="t"/>
          <a:lstStyle/>
          <a:p>
            <a:pPr indent="0" marL="0">
              <a:buNone/>
            </a:pPr>
            <a:r>
              <a:rPr lang="en-US" sz="1600" b="1" dirty="0">
                <a:solidFill>
                  <a:srgbClr val="D9B44A"/>
                </a:solidFill>
                <a:latin typeface="Cambria" pitchFamily="34" charset="0"/>
                <a:ea typeface="Cambria" pitchFamily="34" charset="-122"/>
                <a:cs typeface="Cambria" pitchFamily="34" charset="-120"/>
              </a:rPr>
              <a:t>What we learned</a:t>
            </a:r>
            <a:endParaRPr lang="en-US" sz="1600" dirty="0"/>
          </a:p>
        </p:txBody>
      </p:sp>
      <p:sp>
        <p:nvSpPr>
          <p:cNvPr id="9" name="Text 6"/>
          <p:cNvSpPr txBox="1"/>
          <p:nvPr/>
        </p:nvSpPr>
        <p:spPr>
          <a:xfrm>
            <a:off x="3429000" y="1691640"/>
            <a:ext cx="233172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Left-recursion elimination and factoring interact; order decides LL(1)</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Honesty in tooling: don’t add productions until it passes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Generating tables from the live system prevents drift</a:t>
            </a:r>
            <a:endParaRPr lang="en-US" sz="1250" dirty="0"/>
          </a:p>
        </p:txBody>
      </p:sp>
      <p:sp>
        <p:nvSpPr>
          <p:cNvPr id="10" name="Shape 7"/>
          <p:cNvSpPr/>
          <p:nvPr/>
        </p:nvSpPr>
        <p:spPr>
          <a:xfrm>
            <a:off x="6035040" y="1097280"/>
            <a:ext cx="2651760" cy="3108960"/>
          </a:xfrm>
          <a:prstGeom prst="roundRect">
            <a:avLst>
              <a:gd name="adj" fmla="val 2759"/>
            </a:avLst>
          </a:prstGeom>
          <a:solidFill>
            <a:srgbClr val="17503C"/>
          </a:solidFill>
          <a:ln w="12700">
            <a:solidFill>
              <a:srgbClr val="17503C"/>
            </a:solidFill>
            <a:prstDash val="solid"/>
          </a:ln>
        </p:spPr>
      </p:sp>
      <p:sp>
        <p:nvSpPr>
          <p:cNvPr id="11" name="Text 8"/>
          <p:cNvSpPr txBox="1"/>
          <p:nvPr/>
        </p:nvSpPr>
        <p:spPr>
          <a:xfrm>
            <a:off x="6217920" y="1234440"/>
            <a:ext cx="2286000" cy="320040"/>
          </a:xfrm>
          <a:prstGeom prst="rect">
            <a:avLst/>
          </a:prstGeom>
          <a:noFill/>
          <a:ln/>
        </p:spPr>
        <p:txBody>
          <a:bodyPr wrap="square" lIns="0" tIns="0" rIns="0" bIns="0" rtlCol="0" anchor="t"/>
          <a:lstStyle/>
          <a:p>
            <a:pPr indent="0" marL="0">
              <a:buNone/>
            </a:pPr>
            <a:r>
              <a:rPr lang="en-US" sz="1600" b="1" dirty="0">
                <a:solidFill>
                  <a:srgbClr val="D9B44A"/>
                </a:solidFill>
                <a:latin typeface="Cambria" pitchFamily="34" charset="0"/>
                <a:ea typeface="Cambria" pitchFamily="34" charset="-122"/>
                <a:cs typeface="Cambria" pitchFamily="34" charset="-120"/>
              </a:rPr>
              <a:t>Limitations &amp; next</a:t>
            </a:r>
            <a:endParaRPr lang="en-US" sz="1600" dirty="0"/>
          </a:p>
        </p:txBody>
      </p:sp>
      <p:sp>
        <p:nvSpPr>
          <p:cNvPr id="12" name="Text 9"/>
          <p:cNvSpPr txBox="1"/>
          <p:nvPr/>
        </p:nvSpPr>
        <p:spPr>
          <a:xfrm>
            <a:off x="6217920" y="1691640"/>
            <a:ext cx="233172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Post-object adverbs and post-verbal clitics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Split PRON into PRON and CLITIC</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Add a semantic gloss-composition layer</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Larger corpus to evaluate topic precision and recall</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3D2E"/>
        </a:solidFill>
      </p:bgPr>
    </p:bg>
    <p:spTree>
      <p:nvGrpSpPr>
        <p:cNvPr id="1" name=""/>
        <p:cNvGrpSpPr/>
        <p:nvPr/>
      </p:nvGrpSpPr>
      <p:grpSpPr>
        <a:xfrm>
          <a:off x="0" y="0"/>
          <a:ext cx="0" cy="0"/>
          <a:chOff x="0" y="0"/>
          <a:chExt cx="0" cy="0"/>
        </a:xfrm>
      </p:grpSpPr>
      <p:sp>
        <p:nvSpPr>
          <p:cNvPr id="3" name="Text 0"/>
          <p:cNvSpPr txBox="1"/>
          <p:nvPr/>
        </p:nvSpPr>
        <p:spPr>
          <a:xfrm>
            <a:off x="457200" y="1371600"/>
            <a:ext cx="8229600" cy="914400"/>
          </a:xfrm>
          <a:prstGeom prst="rect">
            <a:avLst/>
          </a:prstGeom>
          <a:noFill/>
          <a:ln/>
        </p:spPr>
        <p:txBody>
          <a:bodyPr wrap="square" lIns="0" tIns="0" rIns="0" bIns="0" rtlCol="0" anchor="t"/>
          <a:lstStyle/>
          <a:p>
            <a:pPr algn="ct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4" name="Text 1"/>
          <p:cNvSpPr txBox="1"/>
          <p:nvPr/>
        </p:nvSpPr>
        <p:spPr>
          <a:xfrm>
            <a:off x="457200" y="2331720"/>
            <a:ext cx="8229600" cy="457200"/>
          </a:xfrm>
          <a:prstGeom prst="rect">
            <a:avLst/>
          </a:prstGeom>
          <a:noFill/>
          <a:ln/>
        </p:spPr>
        <p:txBody>
          <a:bodyPr wrap="square" lIns="0" tIns="0" rIns="0" bIns="0" rtlCol="0" anchor="t"/>
          <a:lstStyle/>
          <a:p>
            <a:pPr algn="ctr" indent="0" marL="0">
              <a:buNone/>
            </a:pPr>
            <a:r>
              <a:rPr lang="en-US" sz="2400" dirty="0">
                <a:solidFill>
                  <a:srgbClr val="D9B44A"/>
                </a:solidFill>
                <a:latin typeface="Calibri" pitchFamily="34" charset="0"/>
                <a:ea typeface="Calibri" pitchFamily="34" charset="-122"/>
                <a:cs typeface="Calibri" pitchFamily="34" charset="-120"/>
              </a:rPr>
              <a:t>Questions?</a:t>
            </a:r>
            <a:endParaRPr lang="en-US" sz="2400" dirty="0"/>
          </a:p>
        </p:txBody>
      </p:sp>
      <p:sp>
        <p:nvSpPr>
          <p:cNvPr id="5" name="Text 2"/>
          <p:cNvSpPr txBox="1"/>
          <p:nvPr/>
        </p:nvSpPr>
        <p:spPr>
          <a:xfrm>
            <a:off x="457200" y="3291840"/>
            <a:ext cx="8229600" cy="320040"/>
          </a:xfrm>
          <a:prstGeom prst="rect">
            <a:avLst/>
          </a:prstGeom>
          <a:noFill/>
          <a:ln/>
        </p:spPr>
        <p:txBody>
          <a:bodyPr wrap="square" lIns="0" tIns="0" rIns="0" bIns="0" rtlCol="0" anchor="t"/>
          <a:lstStyle/>
          <a:p>
            <a:pPr algn="ctr" indent="0" marL="0">
              <a:buNone/>
            </a:pPr>
            <a:r>
              <a:rPr lang="en-US" sz="1300" dirty="0">
                <a:solidFill>
                  <a:srgbClr val="CFE3D9"/>
                </a:solidFill>
                <a:latin typeface="Calibri" pitchFamily="34" charset="0"/>
                <a:ea typeface="Calibri" pitchFamily="34" charset="-122"/>
                <a:cs typeface="Calibri" pitchFamily="34" charset="-120"/>
              </a:rPr>
              <a:t>Francanglais Studio  ·  CS4110 Compiler Construction  ·  The ICT University</a:t>
            </a:r>
            <a:endParaRPr lang="en-US" sz="1300" dirty="0"/>
          </a:p>
        </p:txBody>
      </p:sp>
      <p:sp>
        <p:nvSpPr>
          <p:cNvPr id="6" name="Text 3"/>
          <p:cNvSpPr txBox="1"/>
          <p:nvPr/>
        </p:nvSpPr>
        <p:spPr>
          <a:xfrm>
            <a:off x="457200" y="3657600"/>
            <a:ext cx="8229600" cy="320040"/>
          </a:xfrm>
          <a:prstGeom prst="rect">
            <a:avLst/>
          </a:prstGeom>
          <a:noFill/>
          <a:ln/>
        </p:spPr>
        <p:txBody>
          <a:bodyPr wrap="square" lIns="0" tIns="0" rIns="0" bIns="0" rtlCol="0" anchor="t"/>
          <a:lstStyle/>
          <a:p>
            <a:pPr algn="ctr" indent="0" marL="0">
              <a:buNone/>
            </a:pPr>
            <a:r>
              <a:rPr lang="en-US" sz="1100" dirty="0">
                <a:solidFill>
                  <a:srgbClr val="9DB8AB"/>
                </a:solidFill>
                <a:latin typeface="Calibri" pitchFamily="34" charset="0"/>
                <a:ea typeface="Calibri" pitchFamily="34" charset="-122"/>
                <a:cs typeface="Calibri" pitchFamily="34" charset="-120"/>
              </a:rPr>
              <a:t>Kamdeu Yamdjeuson Neil Marshall  ·  Eyong Seanna Tabe  ·  Tuheu Tchoubi Pempeme Moussa Fahdil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Francanglais Studio - CS4110 Compiler Construction</dc:title>
  <dc:subject>PptxGenJS Presentation</dc:subject>
  <dc:creator>PptxGenJS</dc:creator>
  <cp:lastModifiedBy>PptxGenJS</cp:lastModifiedBy>
  <cp:revision>1</cp:revision>
  <dcterms:created xsi:type="dcterms:W3CDTF">2026-09-28T10:07:05Z</dcterms:created>
  <dcterms:modified xsi:type="dcterms:W3CDTF">2026-09-28T10:07:05Z</dcterms:modified>
</cp:coreProperties>
</file>